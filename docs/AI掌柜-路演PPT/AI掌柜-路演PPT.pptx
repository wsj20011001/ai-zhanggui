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4.xml" ContentType="application/vnd.openxmlformats-officedocument.presentationml.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5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4" Type="http://schemas.openxmlformats.org/officeDocument/2006/relationships/slide" Target="slides/slide14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5" Type="http://schemas.openxmlformats.org/officeDocument/2006/relationships/notesMaster" Target="notesMasters/notesMaster1.xml" /><Relationship Id="rId10" Type="http://schemas.openxmlformats.org/officeDocument/2006/relationships/slide" Target="slides/slide10.xml" /><Relationship Id="rId6" Type="http://schemas.openxmlformats.org/officeDocument/2006/relationships/slide" Target="slides/slide6.xml" /><Relationship Id="rId11" Type="http://schemas.openxmlformats.org/officeDocument/2006/relationships/slide" Target="slides/slide11.xml" 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81025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10420350" y="533400"/>
            <a:ext cx="10858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105346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10648950" y="581025"/>
            <a:ext cx="7429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2343150"/>
            <a:ext cx="70104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6900" b="1" spc="-225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701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>
                <a:solidFill>
                  <a:srgbClr val="3A4360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100">
                <a:solidFill>
                  <a:srgbClr val="3A4360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9" name=""/>
          <p:cNvSpPr/>
          <p:nvPr/>
        </p:nvSpPr>
        <p:spPr>
          <a:xfrm rot="0" flipH="0" flipV="0">
            <a:off x="685800" y="39719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4200525"/>
            <a:ext cx="5905500" cy="400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00">
                <a:solidFill>
                  <a:srgbClr val="5C6780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8077200" y="2305050"/>
            <a:ext cx="3429000" cy="2324100"/>
          </a:xfrm>
          <a:prstGeom prst="roundRect">
            <a:avLst>
              <a:gd name="adj" fmla="val 7377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8324850" y="2552700"/>
            <a:ext cx="29337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DAILY LOOP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8324850" y="28384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8410575" y="28956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686800" y="28765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发现异常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3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8324850" y="323850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8410575" y="329565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8686800" y="3276600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8324850" y="3638550"/>
            <a:ext cx="247650" cy="247650"/>
          </a:xfrm>
          <a:prstGeom prst="roundRect">
            <a:avLst>
              <a:gd name="adj" fmla="val 30769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410575" y="3695700"/>
            <a:ext cx="762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686800" y="3676650"/>
            <a:ext cx="11239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动手执行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8324850" y="4076700"/>
            <a:ext cx="2933700" cy="9525"/>
          </a:xfrm>
          <a:prstGeom prst="rect">
            <a:avLst/>
          </a:prstGeom>
          <a:solidFill>
            <a:srgbClr val="D8DEF2"/>
          </a:solidFill>
          <a:ln/>
        </p:spPr>
        <p:txBody>
          <a:bodyPr/>
          <a:p>
            <a:pPr/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8324850" y="4238625"/>
            <a:ext cx="29337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断网可跑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38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老板每天问的三个问题，现有工具一个都没回答&lt;/Text&gt;&#13;&#10;      &lt;Text style={{ fontSize: 15, color: '#5C6780' }}&gt;不是缺报表，是缺结论和动作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20, height: 300 }}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1&lt;/Text&gt;&#13;&#10;        &lt;Text style={{ fontSize: 22, fontWeight: 'bold', color: '#0C1222' }}&gt;今天到底赚没赚&lt;/Text&gt;&#13;&#10;        &lt;Text style={{ fontSize: 15, color: '#5C6780', lineHeight: 1.8 }}&gt;六张报表翻半小时，只知道跌了，&lt;br /&gt;不知道是人少了还是点便宜了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2&lt;/Text&gt;&#13;&#10;        &lt;Text style={{ fontSize: 22, fontWeight: 'bold', color: '#0C1222' }}&gt;明天该买多少&lt;/Text&gt;&#13;&#10;        &lt;Text style={{ fontSize: 15, color: '#5C6780', lineHeight: 1.8 }}&gt;采购靠经验：缺货和压货同时发生，&lt;br /&gt;这套数据里最紧的食材只够 1.5 天。&lt;/Text&gt;&#13;&#10;      &lt;/Box&gt;&#13;&#10;      &lt;Box style={{ flex: 1, background: '#FFFFFF', border: '1px solid #E3E8F5', borderRadius: 14, padding: 26, flexDirection: 'column', justifyContent: 'space-between' }}&gt;&#13;&#10;        &lt;Text style={{ fontSize: 56, fontWeight: 'bold', color: '#4C4DDC' }}&gt;03&lt;/Text&gt;&#13;&#10;        &lt;Text style={{ fontSize: 22, fontWeight: 'bold', color: '#0C1222' }}&gt;哪道菜在赔钱&lt;/Text&gt;&#13;&#10;        &lt;Text style={{ fontSize: 15, color: '#5C6780', lineHeight: 1.8 }}&gt;207 道菜只有 107 道算得清成本，&lt;br /&gt;卖得越多，可能亏得越多。&lt;/Text&gt;&#13;&#10;      &lt;/Box&gt;&#13;&#10;    &lt;/Box&gt;&#13;&#10;    &lt;Box style={{ marginTop: 34, paddingTop: 24, borderTop: '1px solid #E3E8F5', flexDirection: 'row', alignItems: 'center', gap: 16 }}&gt;&#13;&#10;      &lt;Box style={{ width: 6, height: 28, background: '#4C4DDC', borderRadius: 3 }} /&gt;&#13;&#10;      &lt;Text style={{ fontSize: 24, color: '#0C1222' }}&gt;中小餐饮不缺数据，缺一个&lt;Text style={{ fontSize: 24, fontWeight: 'bold', color: '#4C4DDC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4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685800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33450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33450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4352925" y="1685925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600575" y="1933575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4600575" y="3000375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4600575" y="3676650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这套数据里最紧的食材只够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8029575" y="1685925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277225" y="1933575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277225" y="3000375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277225" y="3676650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58" name=""/>
          <p:cNvSpPr/>
          <p:nvPr/>
        </p:nvSpPr>
        <p:spPr>
          <a:xfrm rot="0" flipH="0" flipV="0">
            <a:off x="685800" y="4867275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159" name=""/>
          <p:cNvSpPr/>
          <p:nvPr/>
        </p:nvSpPr>
        <p:spPr>
          <a:xfrm rot="0" flipH="0" flipV="0">
            <a:off x="685800" y="5114925"/>
            <a:ext cx="57150" cy="2667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895350" y="5105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0C1222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6858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9334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8A93A8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8A93A8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9334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5C6780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334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9334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9334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210300" y="1685925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457950" y="1933575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457950" y="2181225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0C1222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6457950" y="26955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6457950" y="30194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457950" y="334327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457950" y="3667125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533525" y="5114925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4C4DDC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四块能力，缺一块都落不了地&lt;/Text&gt;&#13;&#10;      &lt;Text style={{ fontSize: 15, color: '#5C6780' }}&gt;看得懂、算得准、动得了、说得清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  &lt;Box style={{ flex: 1, paddingTop: 8 }}&gt;&#13;&#10;    &lt;Box style={{ flexDirection: 'row', gap: 18, height: 250 }}&gt;&#13;&#10;      &lt;Box style={{ flex: 1, background: '#FFFFFF', border: '1px solid #E3E8F5', borderRadius: 14, padding: 24 }}&gt;&#13;&#10;        &lt;Text style={{ fontSize: 20, fontWeight: 'bold', color: '#4C4DDC' }}&gt;看得懂&lt;/Text&gt;&#13;&#10;        &lt;Text style={{ fontSize: 15, color: '#0C1222', marginTop: 12, lineHeight: 1.75 }}&gt;营收 · 客流 · 毛利&lt;br /&gt;时段 · 翻台 · 会员结构&lt;/Text&gt;&#13;&#10;        &lt;Text style={{ fontSize: 13, color: '#5C6780', marginTop: 16 }}&gt;180 天 / 6,803 单&lt;/Text&gt;&#13;&#10;      &lt;/Box&gt;&#13;&#10;      &lt;Box style={{ flex: 1, background: '#FFFFFF', border: '1px solid #E3E8F5', borderRadius: 14, padding: 24 }}&gt;&#13;&#10;        &lt;Text style={{ fontSize: 20, fontWeight: 'bold', color: '#4C4DDC' }}&gt;算得准&lt;/Text&gt;&#13;&#10;        &lt;Text style={{ fontSize: 15, color: '#0C1222', marginTop: 12, lineHeight: 1.75 }}&gt;指标唯一口径&lt;br /&gt;BOM 成本 · 三层预测 · 经营推演&lt;/Text&gt;&#13;&#10;        &lt;Text style={{ fontSize: 13, color: '#5C6780', marginTop: 16 }}&gt;回测误差约 30%（含异常周）&lt;/Text&gt;&#13;&#10;      &lt;/Box&gt;&#13;&#10;      &lt;Box style={{ flex: 1, background: '#FFFFFF', border: '1px solid #E3E8F5', borderRadius: 14, padding: 24 }}&gt;&#13;&#10;        &lt;Text style={{ fontSize: 20, fontWeight: 'bold', color: '#4C4DDC' }}&gt;动得了&lt;/Text&gt;&#13;&#10;        &lt;Text style={{ fontSize: 15, color: '#0C1222', marginTop: 12, lineHeight: 1.75 }}&gt;生成采购单 · 按毛利调价&lt;br /&gt;滞销菜设为主推&lt;/Text&gt;&#13;&#10;        &lt;Text style={{ fontSize: 13, color: '#5C6780', marginTop: 16 }}&gt;3 类动作 · 全部可撤销&lt;/Text&gt;&#13;&#10;      &lt;/Box&gt;&#13;&#10;      &lt;Box style={{ flex: 1, background: '#FFFFFF', border: '1px solid #E3E8F5', borderRadius: 14, padding: 24 }}&gt;&#13;&#10;        &lt;Text style={{ fontSize: 20, fontWeight: 'bold', color: '#4C4DDC' }}&gt;说得清&lt;/Text&gt;&#13;&#10;        &lt;Text style={{ fontSize: 15, color: '#0C1222', marginTop: 12, lineHeight: 1.75 }}&gt;每条结论附证据 SQL&lt;br /&gt;操作留痕 · 一键回滚&lt;/Text&gt;&#13;&#10;        &lt;Text style={{ fontSize: 13, color: '#5C6780', marginTop: 16 }}&gt;8 条越界语句 100% 拦截&lt;/Text&gt;&#13;&#10;      &lt;/Box&gt;&#13;&#10;    &lt;/Box&gt;&#13;&#10;    &lt;Box style={{ marginTop: 28, background: '#FBFCFE', border: '1px solid #E3E8F5', borderRadius: 12, padding: '20px 24px', flexDirection: 'row', alignItems: 'center', gap: 18 }}&gt;&#13;&#10;      &lt;Text style={{ fontSize: 15, color: '#5C6780', width: 110 }}&gt;串联起来&lt;/Text&gt;&#13;&#10;      &lt;Text style={{ fontSize: 17, color: '#0C1222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8A93A8' }}&gt;2026 武汉 1024 · 产业应用赛道&lt;/Text&gt;&#13;&#10;    &lt;Text style={{ fontSize: 12, color: '#8A93A8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97" name=""/>
          <p:cNvSpPr/>
          <p:nvPr/>
        </p:nvSpPr>
        <p:spPr>
          <a:xfrm rot="0" flipH="0" flipV="0">
            <a:off x="685800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914400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914400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3438525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3667125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3667125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667125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回测误差约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30%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6181725" y="1685925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6410325" y="1914525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410325" y="2257425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410325" y="3009900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8934450" y="1685925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9163050" y="1914525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C4DDC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9163050" y="2257425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163050" y="3009900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85800" y="4333875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14400" y="454342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2133600" y="4524375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0C1222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2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222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6858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9144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9144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43434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5720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5720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001000" y="1685925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29600" y="2209800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C1222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8229600" y="2543175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238" name=""/>
          <p:cNvSpPr/>
          <p:nvPr/>
        </p:nvSpPr>
        <p:spPr>
          <a:xfrm rot="0" flipH="0" flipV="0">
            <a:off x="685800" y="3829050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914400" y="4162425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4C4DDC"/>
                </a:solidFill>
                <a:latin typeface="Microsoft YaHei"/>
                <a:ea typeface="Microsoft YaHei"/>
              </a:rPr>
              <a:t>宴席排菜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2400300" y="4019550"/>
            <a:ext cx="4114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人均</a:t>
            </a:r>
            <a:r>
              <a:rPr lang="en-US" sz="1425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0C1222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2400300" y="4295775"/>
            <a:ext cx="41148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按中餐宴席结构自动配一桌菜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685800" y="4829175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685800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685800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采购单，人工确认后才入库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3257550" y="4991100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257550" y="5295900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838825" y="4991100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0C1222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5838825" y="5295900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操作留痕，调价与主推可回滚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8410575" y="4991100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4C4DDC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410575" y="5295900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685800" y="16859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1866900" y="1895475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85800" y="24288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914400" y="26574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1866900" y="2638425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85800" y="317182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914400" y="340042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866900" y="3381375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685800" y="3914775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14400" y="4143375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3A8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866900" y="4124325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5C6780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85800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685800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4352925" y="4752975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4352925" y="4895850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4C4DDC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4352925" y="5276850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8010525" y="4752975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010525" y="4895850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4C4DDC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010525" y="5276850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685800" y="5772150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685800" y="5934075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C4DDC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1543050" y="5934075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685800" y="64103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11115675" y="64103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162050" y="1685925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1162050" y="1943100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685800" y="22764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1162050" y="2276475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162050" y="2533650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85800" y="28670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62050" y="2867025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1162050" y="3124200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5800" y="345757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1162050" y="3457575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1162050" y="3714750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5800" y="4048125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4C4DDC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1162050" y="4048125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0C1222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1162050" y="4305300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6905625" y="1685925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7153275" y="1933575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7153275" y="2143125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7153275" y="2895600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7153275" y="31051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153275" y="33051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153275" y="35052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153275" y="3705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318" name="" descr="{&quot;isTemplate&quot;:true,&quot;type&quot;:&quot;text&quot;}"/>
          <p:cNvSpPr txBox="1"/>
          <p:nvPr/>
        </p:nvSpPr>
        <p:spPr>
          <a:xfrm rot="0" flipH="0" flipV="0">
            <a:off x="7153275" y="3905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153275" y="40767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4C4DDC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4C4DDC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685800" y="4676775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685800" y="4857750"/>
            <a:ext cx="47625" cy="438150"/>
          </a:xfrm>
          <a:prstGeom prst="roundRect">
            <a:avLst>
              <a:gd name="adj" fmla="val 6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885825" y="4857750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5C6780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329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2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334" name="" descr="{&quot;isTemplate&quot;:true,&quot;type&quot;:&quot;text&quot;}"/>
          <p:cNvSpPr txBox="1"/>
          <p:nvPr/>
        </p:nvSpPr>
        <p:spPr>
          <a:xfrm rot="0" flipH="0" flipV="0">
            <a:off x="685800" y="1838325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0C1222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335" name="" descr="{&quot;isTemplate&quot;:true,&quot;type&quot;:&quot;text&quot;}"/>
          <p:cNvSpPr txBox="1"/>
          <p:nvPr/>
        </p:nvSpPr>
        <p:spPr>
          <a:xfrm rot="0" flipH="0" flipV="0">
            <a:off x="685800" y="2676525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4572000" y="1800225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572000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4724400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4724400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6924675" y="2047875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7077075" y="2200275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342" name="" descr="{&quot;isTemplate&quot;:true,&quot;type&quot;:&quot;text&quot;}"/>
          <p:cNvSpPr txBox="1"/>
          <p:nvPr/>
        </p:nvSpPr>
        <p:spPr>
          <a:xfrm rot="0" flipH="0" flipV="0">
            <a:off x="7077075" y="2428875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343" name=""/>
          <p:cNvSpPr/>
          <p:nvPr/>
        </p:nvSpPr>
        <p:spPr>
          <a:xfrm rot="0" flipH="0" flipV="0">
            <a:off x="9267825" y="2047875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9420225" y="2200275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0C1222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9420225" y="2428875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685800" y="3076575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95350" y="3286125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8A93A8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895350" y="3524250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4C4DDC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4C4DDC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685800" y="4800600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352" name="" descr="&lt;Slide style={{ width: 1280, height: 720, background: '#F6F8FD', padding: '56px 72px', flexDirection: 'column' }}&gt;&#10;  &lt;Box style={{ height: 96, flexDirection: 'row', justifyContent: 'space-between', alignItems: 'flex-start' }}&gt;&#10;    &lt;Box style={{ flexDirection: 'column', gap: 8 }}&gt;&#10;      &lt;Text style={{ fontSize: 34, fontWeight: 'bold', color: '#0C1222' }}&gt;先算清代价，再谈智能&lt;/Text&gt;&#10;      &lt;Text style={{ fontSize: 15, color: '#5C6780' }}&gt;左边是它在这套 180 天数据里真找出来的，右边是按建议执行后的测算&lt;/Text&gt;&#10;    &lt;/Box&gt;&#10;    &lt;Box style={{ flexDirection: 'row', alignItems: 'center', gap: 6, padding: '5px 12px', background: '#EEF1FE', border: '1px solid #DDE2F5', borderRadius: 999 }}&gt;&#10;      &lt;Box style={{ width: 6, height: 6, borderRadius: 3, background: '#4C4DDC' }} /&gt;&#10;      &lt;Text style={{ fontSize: 12, color: '#4C4DDC', fontWeight: 'bold', letterSpacing: 1 }}&gt;AI 掌柜&lt;/Text&gt;&#10;    &lt;/Box&gt;&#10;  &lt;/Box&gt;&#10;  &lt;Box style={{ width: 72, height: 3, background: '#4C4DDC', borderRadius: 2, marginTop: 2, marginBottom: 12 }} /&gt;&#10;  &lt;Box style={{ flex: 1, paddingTop: 8 }}&gt;&#10;    &lt;Box style={{ flexDirection: 'row', gap: 24 }}&gt;&#10;      &lt;Box style={{ flex: 1.15, flexDirection: 'column' }}&gt;&#10;        &lt;Text style={{ fontSize: 13, color: '#5C6780', letterSpacing: 1 }}&gt;实测 · 系统自己发现的五件事&lt;/Text&gt;&#10;        &lt;Box style={{ marginTop: 14, flexDirection: 'column', gap: 0 }}&gt;&#10;          &lt;Box style={{ paddingTop: 12, paddingBottom: 12, borderTop: '1px solid #E3E8F5', flexDirection: 'row', alignItems: 'baseline' }}&gt;&#10;            &lt;Text style={{ fontSize: 26, fontWeight: 'bold', color: '#4C4DDC', width: 96 }}&gt;10.6%&lt;/Text&gt;&#10;            &lt;Text style={{ fontSize: 14, color: '#0C1222' }}&gt;近 7 天折扣率，比前 30 天的 8.4% 高 2.2 个点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,476&lt;/Text&gt;&#10;            &lt;Text style={{ fontSize: 14, color: '#0C1222' }}&gt;元 · 按原折扣水平本可少让的金额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20 道&lt;/Text&gt;&#10;            &lt;Text style={{ fontSize: 14, color: '#0C1222' }}&gt;菜连续 3 天 0 销量，占在售 9.7%&lt;/Text&gt;&#10;          &lt;/Box&gt;&#10;          &lt;Box style={{ paddingTop: 12, paddingBottom: 12, borderTop: '1px solid #E3E8F5', flexDirection: 'row', alignItems: 'baseline' }}&gt;&#10;            &lt;Text style={{ fontSize: 26, fontWeight: 'bold', color: '#4C4DDC', width: 96 }}&gt;1 种&lt;/Text&gt;&#10;            &lt;Text style={{ fontSize: 14, color: '#0C1222' }}&gt;食材可支撑不足 2 天（基围虾只剩 1.5 天）&lt;/Text&gt;&#10;          &lt;/Box&gt;&#10;          &lt;Box style={{ paddingTop: 12, paddingBottom: 12, borderTop: '1px solid #E3E8F5', borderBottom: '1px solid #E3E8F5', flexDirection: 'row', alignItems: 'baseline' }}&gt;&#10;            &lt;Text style={{ fontSize: 26, fontWeight: 'bold', color: '#4C4DDC', width: 96 }}&gt;57.8%&lt;/Text&gt;&#10;            &lt;Text style={{ fontSize: 14, color: '#0C1222' }}&gt;近 30 天毛利率，比目标低 2.2 个点&lt;/Text&gt;&#10;          &lt;/Box&gt;&#10;        &lt;/Box&gt;&#10;      &lt;/Box&gt;&#10;      &lt;Box style={{ flex: 1, background: '#EEF1FE', border: '1px solid #C9CDF6', borderRadius: 14, padding: 30, flexDirection: 'column', gap: 18, justifyContent: 'flex-start' }}&gt;&#10;        &lt;Box style={{ flexDirection: 'column', gap: 6 }}&gt;&#10;          &lt;Text style={{ fontSize: 13, color: '#4C4DDC', letterSpacing: 1 }}&gt;测算 · 补齐这 2.2 个点&lt;/Text&gt;&#10;          &lt;Text style={{ fontSize: 56, fontWeight: 'bold', color: '#0C1222', letterSpacing: -1 }}&gt;+9.0&lt;span style={{ fontSize: 22 }}&gt; 万/年&lt;/span&gt;&lt;/Text&gt;&#10;          &lt;Text style={{ fontSize: 13, color: '#5C6780' }}&gt;近 30 天营收 33.1 万 × 2.2pt × 12 个月&lt;/Text&gt;&#10;        &lt;/Box&gt;&#10;        &lt;Box style={{ flexDirection: 'column', gap: 8, marginTop: 6, paddingTop: 16, borderTop: '1px solid #3A3F63' }}&gt;&#10;          &lt;Text style={{ fontSize: 13, color: '#0C1222' }}&gt;怎么补：&lt;/Text&gt;&#10;          &lt;Text style={{ fontSize: 13, color: '#5C6780', lineHeight: 1.8 }}&gt;① 3 道瘦狗菜调价 5%~15%&lt;br /&gt;② 20 道滞销菜组套餐或下架&lt;br /&gt;③ 折扣收回 2 个点&lt;/Text&gt;&#10;        &lt;/Box&gt;&#10;        &lt;Text style={{ fontSize: 11, color: '#6B7490', lineHeight: 1.6, marginTop: 4 }}&gt;&#10;          左列全部由 SQL 从 180 天数据算出，脚本可复现；右侧为按当前规模的线性测算，不是承诺值。&#10;        &lt;/Text&gt;&#10;      &lt;/Box&gt;&#10;    &lt;/Box&gt;&#10;  &lt;/Box&gt;&#10;  &lt;Box style={{ height: 36, flexDirection: 'row', justifyContent: 'space-between', alignItems: 'flex-end' }}&gt;&#10;    &lt;Text style={{ fontSize: 12, color: '#8A93A8' }}&gt;2026 武汉 1024 · 产业应用赛道&lt;/Text&gt;&#10;    &lt;Text style={{ fontSize: 12, color: '#8A93A8' }}&gt;09 / 12&lt;/Text&gt;&#10;  &lt;/Box&gt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3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3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361" name=""/>
          <p:cNvSpPr/>
          <p:nvPr/>
        </p:nvSpPr>
        <p:spPr>
          <a:xfrm rot="0" flipH="0" flipV="0">
            <a:off x="685800" y="1971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685800" y="2095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10.6%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1600200" y="2095500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8.4%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64" name=""/>
          <p:cNvSpPr/>
          <p:nvPr/>
        </p:nvSpPr>
        <p:spPr>
          <a:xfrm rot="0" flipH="0" flipV="0">
            <a:off x="685800" y="2514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685800" y="2638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1,476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600200" y="26384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685800" y="3057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685800" y="3181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1600200" y="3181350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9.7%</a:t>
            </a:r>
            <a:endParaRPr/>
          </a:p>
        </p:txBody>
      </p:sp>
      <p:sp>
        <p:nvSpPr>
          <p:cNvPr id="370" name=""/>
          <p:cNvSpPr/>
          <p:nvPr/>
        </p:nvSpPr>
        <p:spPr>
          <a:xfrm rot="0" flipH="0" flipV="0">
            <a:off x="685800" y="36004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685800" y="3724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950" b="1">
                <a:solidFill>
                  <a:srgbClr val="4C4DDC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1600200" y="3724275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74" name=""/>
          <p:cNvSpPr/>
          <p:nvPr/>
        </p:nvSpPr>
        <p:spPr>
          <a:xfrm rot="0" flipH="0" flipV="0">
            <a:off x="685800" y="4143375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/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85800" y="42672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4C4DDC"/>
                </a:solidFill>
                <a:latin typeface="Microsoft YaHei"/>
                <a:ea typeface="Microsoft YaHei"/>
              </a:rPr>
              <a:t>57.8%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600200" y="4267200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6581775" y="1685925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867525" y="19716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 2.2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867525" y="2181225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0C1222"/>
                </a:solidFill>
                <a:latin typeface="Microsoft YaHei"/>
                <a:ea typeface="Microsoft YaHei"/>
              </a:rPr>
              <a:t>+9.0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0C1222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867525" y="2886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33.1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2.2pt × 12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81" name=""/>
          <p:cNvSpPr/>
          <p:nvPr/>
        </p:nvSpPr>
        <p:spPr>
          <a:xfrm rot="0" flipH="0" flipV="0">
            <a:off x="6867525" y="3267075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82" name="" descr="{&quot;isTemplate&quot;:true,&quot;type&quot;:&quot;text&quot;}"/>
          <p:cNvSpPr txBox="1"/>
          <p:nvPr/>
        </p:nvSpPr>
        <p:spPr>
          <a:xfrm rot="0" flipH="0" flipV="0">
            <a:off x="6867525" y="342900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0C1222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867525" y="3657600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② 20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5C678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6867525" y="4676775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749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7490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30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6858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144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4C4D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4C4DDC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144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9144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43434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5720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45720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45720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8001000" y="1685925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229600" y="1914525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5C6780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8229600" y="2152650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C1222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8229600" y="2505075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3933825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FBFCFE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933450" y="4162425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5C6780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2019300" y="4143375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0C1222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0C1222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85800" y="4695825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3A8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16859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123950" y="1685925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3950" y="1933575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22288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23717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123950" y="2371725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123950" y="2619375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85800" y="29146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685800" y="30575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123950" y="3057525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123950" y="3305175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85800" y="3600450"/>
            <a:ext cx="10820400" cy="9525"/>
          </a:xfrm>
          <a:prstGeom prst="rect">
            <a:avLst/>
          </a:pr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3743325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23950" y="3743325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0C1222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0C1222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23950" y="3990975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685800" y="4381500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E3E8F5"/>
          </a:solidFill>
          <a:ln/>
        </p:spPr>
        <p:txBody>
          <a:bodyPr/>
          <a:p>
            <a:pPr/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85800" y="4581525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0C1222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7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5C6780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5C6780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4C4DDC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0C1222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5C6780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4C4DDC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3A8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>
            <a:pPr/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5C6780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98" name=""/>
          <p:cNvPicPr>
            <a:picLocks noChangeAspect="1"/>
          </p:cNvPicPr>
          <p:nvPr/>
        </p:nvPicPr>
        <p:blipFill>
          <a:blip r:embed="rId1"/>
          <a:srcRect l="0" t="2979" r="0" b="2979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5C6780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4C4DDC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5C6780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09" name="" descr="&lt;Slide style={{ width: 1280, height: 720, background: '#F6F8FD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0C1222' }}&gt;附录 B · 我们怎么证明它可靠&lt;/Text&gt;&#13;&#10;      &lt;Text style={{ fontSize: 15, color: '#5C6780' }}&gt;不是「能跑一遍」，而是固定题库、可重复测量的评测&lt;/Text&gt;&#13;&#10;    &lt;/Box&gt;&#13;&#10;    &lt;Box style={{ flexDirection: 'row', alignItems: 'center', gap: 6, padding: '5px 12px', background: '#EEF1FE', border: '1px solid #DDE2F5', borderRadius: 999 }}&gt;&#13;&#10;      &lt;Box style={{ width: 6, height: 6, borderRadius: 3, background: '#4C4DDC' }} /&gt;&#13;&#10;      &lt;Text style={{ fontSize: 12, color: '#4C4DDC', fontWeight: 'bold', letterSpacing: 1 }}&gt;AI 掌柜&lt;/Text&gt;&#13;&#10;    &lt;/Box&gt;&#13;&#10;  &lt;/Box&gt;&#13;&#10;  &lt;Box style={{ width: 72, height: 3, background: '#4C4DDC', borderRadius: 2, marginTop: 2, marginBottom: 12 }} /&gt;&#13;&#10;&#13;&#10;  &lt;Box style={{ flex: 1, flexDirection: 'column', gap: 14 }}&gt;&#13;&#10;    &lt;Box style={{ flexDirection: 'row', gap: 14, flex: 1 }}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8 / 8&lt;/Text&gt;&#13;&#10;        &lt;Text style={{ fontSize: 16, fontWeight: 'bold', color: '#0C1222' }}&gt;越界 SQL 全部拦截&lt;/Text&gt;&#13;&#10;        &lt;Text style={{ fontSize: 12, color: '#5C6780', lineHeight: 1.7 }}&gt;DROP · 多语句 · UNION 跨表&lt;br /&gt;系统表 · ATTACH · PRAGMA&lt;/Text&gt;&#13;&#10;      &lt;/Box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12 / 12&lt;/Text&gt;&#13;&#10;        &lt;Text style={{ fontSize: 16, fontWeight: 'bold', color: '#0C1222' }}&gt;问答评测集全通过&lt;/Text&gt;&#13;&#10;        &lt;Text style={{ fontSize: 12, color: '#5C6780', lineHeight: 1.7 }}&gt;SQL 可执行 12/12 · 结论一致 12/12&lt;br /&gt;平均 1.2 秒&lt;/Text&gt;&#13;&#10;      &lt;/Box&gt;&#13;&#10;    &lt;/Box&gt;&#13;&#10;    &lt;Box style={{ flexDirection: 'row', gap: 14, flex: 1 }}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5 处&lt;/Text&gt;&#13;&#10;        &lt;Text style={{ fontSize: 16, fontWeight: 'bold', color: '#0C1222' }}&gt;同一指标必须同值&lt;/Text&gt;&#13;&#10;        &lt;Text style={{ fontSize: 12, color: '#5C6780', lineHeight: 1.7 }}&gt;原始表 · 视图 · 事实表&lt;br /&gt;驾驶舱 · 报表 · AI 问答&lt;/Text&gt;&#13;&#10;      &lt;/Box&gt;&#13;&#10;      &lt;Box style={{ flex: 1, background: '#FFFFFF', border: '1px solid #E3E8F5', borderRadius: 14, padding: 22, flexDirection: 'column', justifyContent: 'space-between' }}&gt;&#13;&#10;        &lt;Text style={{ fontSize: 40, fontWeight: 'bold', color: '#4C4DDC', letterSpacing: -1 }}&gt;6 套件&lt;/Text&gt;&#13;&#10;        &lt;Text style={{ fontSize: 16, fontWeight: 'bold', color: '#0C1222' }}&gt;一键回归，12 秒跑完&lt;/Text&gt;&#13;&#10;        &lt;Text style={{ fontSize: 12, color: '#5C6780', lineHeight: 1.7 }}&gt;22 个页面 · 50 项单元测试&lt;br /&gt;CSV 导入 · Mock 模型链路&lt;/Text&gt;&#13;&#10;      &lt;/Box&gt;&#13;&#10;    &lt;/Box&gt;&#13;&#10;    &lt;Box style={{ background: '#EEF1FE', border: '1px solid #C9CDF6', borderRadius: 12, padding: '16px 22px', flexDirection: 'row', alignItems: 'center', gap: 18 }}&gt;&#13;&#10;      &lt;Text style={{ fontSize: 11, color: '#4C4DDC', fontWeight: 'bold', letterSpacing: 2, width: 96 }}&gt;真实案例&lt;/Text&gt;&#13;&#10;      &lt;Text style={{ fontSize: 14, color: '#0C1222', lineHeight: 1.7, flex: 1 }}&gt;&#13;&#10;        模型的结论写「共 &lt;span style={{ fontWeight: 'bold' }}&gt;6&lt;/span&gt; 种食材低于预警」，查询结果实际是 &lt;span style={{ fontWeight: 'bold' }}&gt;9&lt;/span&gt; 种；&#13;&#10;        「2.8 &lt;span style={{ fontWeight: 'bold' }}&gt;斤&lt;/span&gt;」被写成「3.2 kg」。服务端校验发现数字对不上，&#13;&#10;        &lt;span style={{ fontWeight: 'bold', color: '#4C4DDC' }}&gt;判定为编造 → 换成确定性摘要 → 让它看着真实结果重写&lt;/span&gt;。&#13;&#10;      &lt;/Text&gt;&#13;&#10;    &lt;/Box&gt;&#13;&#10;  &lt;/Box&gt;&#13;&#10;&#13;&#10;  &lt;Box style={{ height: 36, flexDirection: 'row', justifyContent: 'space-between', alignItems: 'flex-end' }}&gt;&#13;&#10;    &lt;Text style={{ fontSize: 12, color: '#8A93A8' }}&gt;命令：python run_tests.py · python tests/eval_nl2sql.py&lt;/Text&gt;&#13;&#10;    &lt;Text style={{ fontSize: 12, color: '#8A93A8' }}&gt;附录 B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6F8FD"/>
          </a:solidFill>
          <a:ln/>
        </p:spPr>
        <p:txBody>
          <a:bodyPr/>
          <a:p/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9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B · </a:t>
            </a:r>
            <a:r>
              <a:rPr lang="zh-CN" sz="2550" b="1">
                <a:solidFill>
                  <a:srgbClr val="0C1222"/>
                </a:solidFill>
                <a:latin typeface="Microsoft YaHei"/>
                <a:ea typeface="Microsoft YaHei"/>
              </a:rPr>
              <a:t>我们怎么证明它可靠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9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5C6780"/>
                </a:solidFill>
                <a:latin typeface="Microsoft YaHei"/>
                <a:ea typeface="Microsoft YaHei"/>
              </a:rPr>
              <a:t>不是「能跑一遍」，而是固定题库、可重复测量的评测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10725150" y="533400"/>
            <a:ext cx="781050" cy="238125"/>
          </a:xfrm>
          <a:prstGeom prst="roundRect">
            <a:avLst>
              <a:gd name="adj" fmla="val 3996000"/>
            </a:avLst>
          </a:prstGeom>
          <a:solidFill>
            <a:srgbClr val="EEF1FE"/>
          </a:solidFill>
          <a:ln w="12700">
            <a:solidFill>
              <a:srgbClr val="DDE2F5"/>
            </a:solidFill>
            <a:prstDash val="solid"/>
          </a:ln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10839450" y="628650"/>
            <a:ext cx="57150" cy="57150"/>
          </a:xfrm>
          <a:prstGeom prst="roundRect">
            <a:avLst>
              <a:gd name="adj" fmla="val 50000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10953750" y="581025"/>
            <a:ext cx="4381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b="1" spc="75">
                <a:solidFill>
                  <a:srgbClr val="4C4DDC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00" b="1" spc="75">
                <a:solidFill>
                  <a:srgbClr val="4C4DDC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6" name=""/>
          <p:cNvSpPr/>
          <p:nvPr/>
        </p:nvSpPr>
        <p:spPr>
          <a:xfrm rot="0" flipH="0" flipV="0">
            <a:off x="685800" y="1466850"/>
            <a:ext cx="685800" cy="28575"/>
          </a:xfrm>
          <a:prstGeom prst="roundRect">
            <a:avLst>
              <a:gd name="adj" fmla="val 66667"/>
            </a:avLst>
          </a:prstGeom>
          <a:solidFill>
            <a:srgbClr val="4C4DDC"/>
          </a:solidFill>
          <a:ln/>
        </p:spPr>
        <p:txBody>
          <a:bodyPr/>
          <a:p/>
        </p:txBody>
      </p:sp>
      <p:sp>
        <p:nvSpPr>
          <p:cNvPr id="117" name=""/>
          <p:cNvSpPr/>
          <p:nvPr/>
        </p:nvSpPr>
        <p:spPr>
          <a:xfrm rot="0" flipH="0" flipV="0">
            <a:off x="685800" y="1609725"/>
            <a:ext cx="5343525" cy="1628775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95350" y="1819275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895350" y="2324100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越界</a:t>
            </a:r>
            <a:r>
              <a:rPr lang="en-US" sz="12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全部拦截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95350" y="25622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DROP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多语句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UNION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跨表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系统表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ATTACH · PRAGMA</a:t>
            </a:r>
            <a:endParaRPr/>
          </a:p>
        </p:txBody>
      </p:sp>
      <p:sp>
        <p:nvSpPr>
          <p:cNvPr id="121" name=""/>
          <p:cNvSpPr/>
          <p:nvPr/>
        </p:nvSpPr>
        <p:spPr>
          <a:xfrm rot="0" flipH="0" flipV="0">
            <a:off x="6162675" y="1609725"/>
            <a:ext cx="5343525" cy="1628775"/>
          </a:xfrm>
          <a:prstGeom prst="roundRect">
            <a:avLst>
              <a:gd name="adj" fmla="val 8187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72225" y="1819275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72225" y="2324100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问答评测集全通过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372225" y="25622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可执行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12/12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结论一致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12/12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平均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1.2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685800" y="3371850"/>
            <a:ext cx="5343525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95350" y="3581400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处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895350" y="4086225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同一指标必须同值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95350" y="43148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原始表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视图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事实表</a:t>
            </a:r>
            <a:endParaRPr/>
          </a:p>
          <a:p>
            <a:pPr>
              <a:lnSpc>
                <a:spcPct val="170000"/>
              </a:lnSpc>
            </a:pP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驾驶舱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报表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AI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162675" y="3371850"/>
            <a:ext cx="5343525" cy="161925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E3E8F5"/>
            </a:solidFill>
            <a:prstDash val="solid"/>
          </a:ln>
        </p:spPr>
        <p:txBody>
          <a:bodyPr/>
          <a:p/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372225" y="3581400"/>
            <a:ext cx="49244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3000" b="1" spc="-75">
                <a:solidFill>
                  <a:srgbClr val="4C4DDC"/>
                </a:solidFill>
                <a:latin typeface="Microsoft YaHei"/>
                <a:ea typeface="Microsoft YaHei"/>
              </a:rPr>
              <a:t>套件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372225" y="4086225"/>
            <a:ext cx="49244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一键回归，</a:t>
            </a:r>
            <a:r>
              <a:rPr lang="en-US" sz="1200" b="1">
                <a:solidFill>
                  <a:srgbClr val="0C1222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200" b="1">
                <a:solidFill>
                  <a:srgbClr val="0C1222"/>
                </a:solidFill>
                <a:latin typeface="Microsoft YaHei"/>
                <a:ea typeface="Microsoft YaHei"/>
              </a:rPr>
              <a:t>秒跑完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372225" y="4314825"/>
            <a:ext cx="4924425" cy="466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22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个页面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50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项单元测试</a:t>
            </a:r>
            <a:endParaRPr/>
          </a:p>
          <a:p>
            <a:pPr>
              <a:lnSpc>
                <a:spcPct val="170000"/>
              </a:lnSpc>
            </a:pP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CSV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导入</a:t>
            </a:r>
            <a:r>
              <a:rPr lang="en-US" sz="900">
                <a:solidFill>
                  <a:srgbClr val="5C6780"/>
                </a:solidFill>
                <a:latin typeface="Microsoft YaHei"/>
                <a:ea typeface="Microsoft YaHei"/>
              </a:rPr>
              <a:t xml:space="preserve"> · Mock </a:t>
            </a:r>
            <a:r>
              <a:rPr lang="zh-CN" sz="900">
                <a:solidFill>
                  <a:srgbClr val="5C6780"/>
                </a:solidFill>
                <a:latin typeface="Microsoft YaHei"/>
                <a:ea typeface="Microsoft YaHei"/>
              </a:rPr>
              <a:t>模型链路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685800" y="5124450"/>
            <a:ext cx="10820400" cy="857250"/>
          </a:xfrm>
          <a:prstGeom prst="roundRect">
            <a:avLst>
              <a:gd name="adj" fmla="val 13333"/>
            </a:avLst>
          </a:prstGeom>
          <a:solidFill>
            <a:srgbClr val="EEF1FE"/>
          </a:solidFill>
          <a:ln w="12700">
            <a:solidFill>
              <a:srgbClr val="C9CDF6"/>
            </a:solidFill>
            <a:prstDash val="solid"/>
          </a:ln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895350" y="5486400"/>
            <a:ext cx="914400" cy="1333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825" b="1" spc="150">
                <a:solidFill>
                  <a:srgbClr val="4C4DDC"/>
                </a:solidFill>
                <a:latin typeface="Microsoft YaHei"/>
                <a:ea typeface="Microsoft YaHei"/>
              </a:rPr>
              <a:t>真实案例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981200" y="5276850"/>
            <a:ext cx="93154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模型的结论写「共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 b="1">
                <a:solidFill>
                  <a:srgbClr val="0C1222"/>
                </a:solidFill>
                <a:latin typeface="Microsoft YaHei"/>
                <a:ea typeface="Microsoft YaHei"/>
              </a:rPr>
              <a:t>6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种食材低于预警」，查询结果实际是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50" b="1">
                <a:solidFill>
                  <a:srgbClr val="0C1222"/>
                </a:solidFill>
                <a:latin typeface="Microsoft YaHei"/>
                <a:ea typeface="Microsoft YaHei"/>
              </a:rPr>
              <a:t>9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种；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「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 xml:space="preserve">2.8 </a:t>
            </a:r>
            <a:r>
              <a:rPr lang="zh-CN" sz="1050" b="1">
                <a:solidFill>
                  <a:srgbClr val="0C1222"/>
                </a:solidFill>
                <a:latin typeface="Microsoft YaHei"/>
                <a:ea typeface="Microsoft YaHei"/>
              </a:rPr>
              <a:t>斤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」被写成「</a:t>
            </a:r>
            <a:r>
              <a:rPr lang="en-US" sz="1050">
                <a:solidFill>
                  <a:srgbClr val="0C1222"/>
                </a:solidFill>
                <a:latin typeface="Microsoft YaHei"/>
                <a:ea typeface="Microsoft YaHei"/>
              </a:rPr>
              <a:t>3.2 kg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」。服务端校验发现数字对不上，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判定为编造</a:t>
            </a: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换成确定性摘要</a:t>
            </a:r>
            <a:r>
              <a:rPr lang="en-US" sz="1050" b="1">
                <a:solidFill>
                  <a:srgbClr val="4C4DDC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 b="1">
                <a:solidFill>
                  <a:srgbClr val="4C4DDC"/>
                </a:solidFill>
                <a:latin typeface="Microsoft YaHei"/>
                <a:ea typeface="Microsoft YaHei"/>
              </a:rPr>
              <a:t>让它看着真实结果重写</a:t>
            </a:r>
            <a:r>
              <a:rPr lang="zh-CN" sz="1050">
                <a:solidFill>
                  <a:srgbClr val="0C1222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30003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命令：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>python run_tests.py · python tests/eval_nl2sql.py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3A8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8A93A8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2026-10-22T13:58:13Z</dcterms:created>
  <dcterms:modified xsi:type="dcterms:W3CDTF">2026-10-22T13:58:13Z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