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2" Type="http://schemas.openxmlformats.org/officeDocument/2006/relationships/slide" Target="slides/slide12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3" Type="http://schemas.openxmlformats.org/officeDocument/2006/relationships/slide" Target="slides/slide13.xml" /><Relationship Id="rId14" Type="http://schemas.openxmlformats.org/officeDocument/2006/relationships/notesMaster" Target="notesMasters/notesMaster1.xml" 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96, fontWeight: 'bold', color: '#F2F4FF', letterSpacing: -3 }}&gt;AI 掌柜&lt;/Text&gt;&#13;&#10;    &lt;Text style={{ fontSize: 30, color: '#F2F4FF', opacity: 0.82, marginTop: 6 }}&gt;中小餐饮经营 Agent&lt;/Text&gt;&#13;&#10;    &lt;Box style={{ width: 88, height: 4, background: '#6C6CF5', borderRadius: 2, marginTop: 20, marginBottom: 20 }} /&gt;&#13;&#10;    &lt;Text style={{ fontSize: 21, color: '#8A90A6', width: 820, lineHeight: 1.75 }}&gt;&#13;&#10;      不只告诉你哪里亏，还替你把账算平、把货备好、把菜单改对。&#13;&#10;    &lt;/Text&gt;&#13;&#10;  &lt;/Box&gt;&#13;&#10;  &lt;Box style={{ flexDirection: 'row', justifyContent: 'space-between', alignItems: 'flex-end' }}&gt;&#13;&#10;    &lt;Text style={{ fontSize: 14, color: '#8A90A6' }}&gt;演示门店 · 春归燕茶餐厅&lt;/Text&gt;&#13;&#10;    &lt;Text style={{ fontSize: 13, color: '#4A5064' }}&gt;0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85800" y="2247900"/>
            <a:ext cx="108204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685800" y="3943350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4171950"/>
            <a:ext cx="78105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8A90A6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3409950"/>
            <a:ext cx="1082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85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老板每天问的三个问题，现有工具一个都没回答&lt;/Text&gt;&#13;&#10;      &lt;Text style={{ fontSize: 15, color: '#8A90A6' }}&gt;不是缺报表，是缺结论和动作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0, height: 300 }}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1&lt;/Text&gt;&#13;&#10;        &lt;Text style={{ fontSize: 22, fontWeight: 'bold', color: '#F2F4FF' }}&gt;今天到底赚没赚&lt;/Text&gt;&#13;&#10;        &lt;Text style={{ fontSize: 15, color: '#8A90A6', lineHeight: 1.8 }}&gt;六张报表翻半小时，只知道跌了，&lt;br /&gt;不知道是人少了还是点便宜了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2&lt;/Text&gt;&#13;&#10;        &lt;Text style={{ fontSize: 22, fontWeight: 'bold', color: '#F2F4FF' }}&gt;明天该买多少&lt;/Text&gt;&#13;&#10;        &lt;Text style={{ fontSize: 15, color: '#8A90A6', lineHeight: 1.8 }}&gt;采购靠经验：缺货和压货同时发生，&lt;br /&gt;这套数据里 5 种食材只够 2 天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3&lt;/Text&gt;&#13;&#10;        &lt;Text style={{ fontSize: 22, fontWeight: 'bold', color: '#F2F4FF' }}&gt;哪道菜在赔钱&lt;/Text&gt;&#13;&#10;        &lt;Text style={{ fontSize: 15, color: '#8A90A6', lineHeight: 1.8 }}&gt;207 道菜只有 107 道算得清成本，&lt;br /&gt;卖得越多，可能亏得越多。&lt;/Text&gt;&#13;&#10;      &lt;/Box&gt;&#13;&#10;    &lt;/Box&gt;&#13;&#10;    &lt;Box style={{ marginTop: 34, paddingTop: 24, borderTop: '1px solid #242A3D', flexDirection: 'row', alignItems: 'center', gap: 16 }}&gt;&#13;&#10;      &lt;Box style={{ width: 6, height: 28, background: '#6C6CF5', borderRadius: 3 }} /&gt;&#13;&#10;      &lt;Text style={{ fontSize: 24, color: '#F2F4FF' }}&gt;中小餐饮不缺数据，缺一个&lt;Text style={{ fontSize: 24, fontWeight: 'bold', color: '#6C6CF5' }}&gt;能替他做决定&lt;/Text&gt;的角色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685800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933450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933450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4352925" y="1524000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4600575" y="1771650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600575" y="2838450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600575" y="3514725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这套数据里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种食材只够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8029575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8277225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8277225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8277225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685800" y="4705350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685800" y="4953000"/>
            <a:ext cx="57150" cy="2667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895350" y="494347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07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分水岭不在图表，在「能不能动手」&lt;/Text&gt;&#13;&#10;      &lt;Text style={{ fontSize: 15, color: '#8A90A6' }}&gt;同样一份营收下滑，两条完全不同的处理路径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4, height: 330 }}&gt;&#13;&#10;      &lt;Box style={{ flex: 1, background: '#12141F', border: '1px solid #242A3D', borderRadius: 14, padding: 26 }}&gt;&#13;&#10;        &lt;Text style={{ fontSize: 13, color: '#4A5064', letterSpacing: 2 }}&gt;传统 BI / 经营看板&lt;/Text&gt;&#13;&#10;        &lt;Text style={{ fontSize: 26, fontWeight: 'bold', color: '#8A90A6', marginTop: 10 }}&gt;价值停在「知道」&lt;/Text&gt;&#13;&#10;        &lt;Box style={{ marginTop: 22, flexDirection: 'column', gap: 14 }}&gt;&#13;&#10;          &lt;Text style={{ fontSize: 16, color: '#8A90A6' }}&gt;看板 → 发现跌了&lt;/Text&gt;&#13;&#10;          &lt;Text style={{ fontSize: 16, color: '#8A90A6' }}&gt;→ 自己判断原因&lt;/Text&gt;&#13;&#10;          &lt;Text style={{ fontSize: 16, color: '#8A90A6' }}&gt;→ 自己打电话订货&lt;/Text&gt;&#13;&#10;          &lt;Text style={{ fontSize: 16, color: '#8A90A6' }}&gt;→ 一周后忘了复盘&lt;/Text&gt;&#13;&#10;        &lt;/Box&gt;&#13;&#10;      &lt;/Box&gt;&#13;&#10;      &lt;Box style={{ flex: 1, background: '#171A2E', border: '1px solid #6C6CF5', borderRadius: 14, padding: 26 }}&gt;&#13;&#10;        &lt;Text style={{ fontSize: 13, color: '#6C6CF5', letterSpacing: 2 }}&gt;AI 掌柜&lt;/Text&gt;&#13;&#10;        &lt;Text style={{ fontSize: 26, fontWeight: 'bold', color: '#F2F4FF', marginTop: 10 }}&gt;价值走到「改变」&lt;/Text&gt;&#13;&#10;        &lt;Box style={{ marginTop: 22, flexDirection: 'column', gap: 14 }}&gt;&#13;&#10;          &lt;Text style={{ fontSize: 16, color: '#F2F4FF' }}&gt;驾驶舱 → 3 件事 + 证据&lt;/Text&gt;&#13;&#10;          &lt;Text style={{ fontSize: 16, color: '#F2F4FF' }}&gt;→ 拆解成客流 / 客单价&lt;/Text&gt;&#13;&#10;          &lt;Text style={{ fontSize: 16, color: '#F2F4FF' }}&gt;→ 一键生成采购单并入库&lt;/Text&gt;&#13;&#10;          &lt;Text style={{ fontSize: 16, color: '#F2F4FF' }}&gt;→ 7 天后自动回填效果&lt;/Text&gt;&#13;&#10;        &lt;/Box&gt;&#13;&#10;      &lt;/Box&gt;&#13;&#10;    &lt;/Box&gt;&#13;&#10;    &lt;Box style={{ marginTop: 30, flexDirection: 'row', gap: 14 }}&gt;&#13;&#10;      &lt;Text style={{ fontSize: 15, color: '#8A90A6' }}&gt;三个关键词&lt;/Text&gt;&#13;&#10;      &lt;Text style={{ fontSize: 15, color: '#6C6CF5', fontWeight: 'bold' }}&gt;可执行 · 可追溯 · 可撤销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3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6858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9334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8A90A6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9334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9334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9334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334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62103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64579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64579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2F4FF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4579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4579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4579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4579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85800" y="49530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533525" y="495300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30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块能力，缺一块都落不了地&lt;/Text&gt;&#13;&#10;      &lt;Text style={{ fontSize: 15, color: '#8A90A6' }}&gt;看得懂、算得准、动得了、说得清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8, height: 250 }}&gt;&#13;&#10;      &lt;Box style={{ flex: 1, background: '#141826', border: '1px solid #242A3D', borderRadius: 14, padding: 24 }}&gt;&#13;&#10;        &lt;Text style={{ fontSize: 20, fontWeight: 'bold', color: '#6C6CF5' }}&gt;看得懂&lt;/Text&gt;&#13;&#10;        &lt;Text style={{ fontSize: 15, color: '#F2F4FF', marginTop: 12, lineHeight: 1.75 }}&gt;营收 · 客流 · 毛利&lt;br /&gt;时段 · 翻台 · 会员结构&lt;/Text&gt;&#13;&#10;        &lt;Text style={{ fontSize: 13, color: '#8A90A6', marginTop: 16 }}&gt;180 天 / 6,803 单&lt;/Text&gt;&#13;&#10;      &lt;/Box&gt;&#13;&#10;      &lt;Box style={{ flex: 1, background: '#141826', border: '1px solid #242A3D', borderRadius: 14, padding: 24 }}&gt;&#13;&#10;        &lt;Text style={{ fontSize: 20, fontWeight: 'bold', color: '#6C6CF5' }}&gt;算得准&lt;/Text&gt;&#13;&#10;        &lt;Text style={{ fontSize: 15, color: '#F2F4FF', marginTop: 12, lineHeight: 1.75 }}&gt;指标唯一口径&lt;br /&gt;BOM 成本 · 三层分解预测&lt;/Text&gt;&#13;&#10;        &lt;Text style={{ fontSize: 13, color: '#8A90A6', marginTop: 16 }}&gt;回测误差 22%（含异常周）&lt;/Text&gt;&#13;&#10;      &lt;/Box&gt;&#13;&#10;      &lt;Box style={{ flex: 1, background: '#141826', border: '1px solid #242A3D', borderRadius: 14, padding: 24 }}&gt;&#13;&#10;        &lt;Text style={{ fontSize: 20, fontWeight: 'bold', color: '#6C6CF5' }}&gt;动得了&lt;/Text&gt;&#13;&#10;        &lt;Text style={{ fontSize: 15, color: '#F2F4FF', marginTop: 12, lineHeight: 1.75 }}&gt;生成采购单 · 按毛利调价&lt;br /&gt;滞销菜设为主推&lt;/Text&gt;&#13;&#10;        &lt;Text style={{ fontSize: 13, color: '#8A90A6', marginTop: 16 }}&gt;3 类动作 · 全部可撤销&lt;/Text&gt;&#13;&#10;      &lt;/Box&gt;&#13;&#10;      &lt;Box style={{ flex: 1, background: '#141826', border: '1px solid #242A3D', borderRadius: 14, padding: 24 }}&gt;&#13;&#10;        &lt;Text style={{ fontSize: 20, fontWeight: 'bold', color: '#6C6CF5' }}&gt;说得清&lt;/Text&gt;&#13;&#10;        &lt;Text style={{ fontSize: 15, color: '#F2F4FF', marginTop: 12, lineHeight: 1.75 }}&gt;每条结论附证据 SQL&lt;br /&gt;操作留痕 · 一键回滚&lt;/Text&gt;&#13;&#10;        &lt;Text style={{ fontSize: 13, color: '#8A90A6', marginTop: 16 }}&gt;8 条越界语句 100% 拦截&lt;/Text&gt;&#13;&#10;      &lt;/Box&gt;&#13;&#10;    &lt;/Box&gt;&#13;&#10;    &lt;Box style={{ marginTop: 28, background: '#12141F', border: '1px solid #242A3D', borderRadius: 12, padding: '20px 24px', flexDirection: 'row', alignItems: 'center', gap: 18 }}&gt;&#13;&#10;      &lt;Text style={{ fontSize: 15, color: '#8A90A6', width: 110 }}&gt;串联起来&lt;/Text&gt;&#13;&#10;      &lt;Text style={{ fontSize: 17, color: '#F2F4FF' }}&gt;看到异常 → 算清原因 → 直接处理 → 留下证据，四步在同一屏里完成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4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685800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914400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914400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3438525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3667125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667125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三层分解预测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3667125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回测误差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22%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6181725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410325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6410325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410325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8934450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163050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9163050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9163050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685800" y="4171950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914400" y="4381500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2133600" y="4362450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56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现场三分钟，只走一条路径&lt;/Text&gt;&#13;&#10;      &lt;Text style={{ fontSize: 15, color: '#8A90A6' }}&gt;上午 09:00，老板打开电脑后的真实操作顺序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05 }}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1 步 · 30 秒&lt;/Text&gt;&#13;&#10;        &lt;Text style={{ fontSize: 21, fontWeight: 'bold', color: '#F2F4FF', marginTop: 6 }}&gt;打开驾驶舱&lt;/Text&gt;&#13;&#10;        &lt;Text style={{ fontSize: 14, color: '#8A90A6', lineHeight: 1.8 }}&gt;只有 3 件事：&lt;br /&gt;营收跌 20%、3 道菜滞销、&lt;br /&gt;牛腩只够 1.5 天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2 步 · 60 秒&lt;/Text&gt;&#13;&#10;        &lt;Text style={{ fontSize: 21, fontWeight: 'bold', color: '#F2F4FF', marginTop: 6 }}&gt;点「营收下滑」&lt;/Text&gt;&#13;&#10;        &lt;Text style={{ fontSize: 14, color: '#8A90A6', lineHeight: 1.8 }}&gt;拆成客流 −18%、客单价 −3%，&lt;br /&gt;结论：人少了，&lt;br /&gt;不是点便宜了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3 步 · 60 秒&lt;/Text&gt;&#13;&#10;        &lt;Text style={{ fontSize: 21, fontWeight: 'bold', color: '#F2F4FF', marginTop: 6 }}&gt;点「缺货」&lt;/Text&gt;&#13;&#10;        &lt;Text style={{ fontSize: 14, color: '#8A90A6', lineHeight: 1.8 }}&gt;按 7 天用量生成采购单&lt;br /&gt;→ 确认入库&lt;br /&gt;→ 库存与流水同步。&lt;/Text&gt;&#13;&#10;      &lt;/Box&gt;&#13;&#10;    &lt;/Box&gt;&#13;&#10;    &lt;Box style={{ marginTop: 20, background: '#171A2E', border: '1px solid #6C6CF5', borderRadius: 14, padding: '20px 24px', flexDirection: 'row', alignItems: 'center', gap: 24 }}&gt;&#13;&#10;      &lt;Text style={{ fontSize: 13, color: '#6C6CF5', letterSpacing: 2, width: 132 }}&gt;加演 · 一句话&lt;/Text&gt;&#13;&#10;      &lt;Box style={{ flexDirection: 'column', gap: 6 }}&gt;&#13;&#10;        &lt;Text style={{ fontSize: 19, fontWeight: 'bold', color: '#F2F4FF' }}&gt;「明天 8 人宴席，人均 150」&lt;/Text&gt;&#13;&#10;        &lt;Text style={{ fontSize: 13, color: '#8A90A6' }}&gt;按中餐宴席结构排 10 道菜 → 一键成单 → 后厨立刻看到，可人工增减。&lt;/Text&gt;&#13;&#10;      &lt;/Box&gt;&#13;&#10;    &lt;/Box&gt;&#13;&#10;    &lt;Box style={{ marginTop: 20, paddingTop: 16, borderTop: '1px solid #242A3D', flexDirection: 'row', gap: 0 }}&gt;&#13;&#10;      &lt;Box style={{ flex: 1, flexDirection: 'column', gap: 3 }}&gt;&#13;&#10;        &lt;Text style={{ fontSize: 24, fontWeight: 'bold', color: '#F2F4FF' }}&gt;1 张&lt;/Text&gt;&#13;&#10;        &lt;Text style={{ fontSize: 12, color: '#8A90A6' }}&gt;采购单（7 项 / 2,757 元）&lt;/Text&gt;&#13;&#10;      &lt;/Box&gt;&#13;&#10;      &lt;Box style={{ flex: 1, flexDirection: 'column', gap: 3 }}&gt;&#13;&#10;        &lt;Text style={{ fontSize: 24, fontWeight: 'bold', color: '#F2F4FF' }}&gt;7 种&lt;/Text&gt;&#13;&#10;        &lt;Text style={{ fontSize: 12, color: '#8A90A6' }}&gt;食材库存与流水同步更新&lt;/Text&gt;&#13;&#10;      &lt;/Box&gt;&#13;&#10;      &lt;Box style={{ flex: 1, flexDirection: 'column', gap: 3 }}&gt;&#13;&#10;        &lt;Text style={{ fontSize: 24, fontWeight: 'bold', color: '#F2F4FF' }}&gt;3 条&lt;/Text&gt;&#13;&#10;        &lt;Text style={{ fontSize: 12, color: '#8A90A6' }}&gt;操作留痕，任何一条可回滚&lt;/Text&gt;&#13;&#10;      &lt;/Box&gt;&#13;&#10;      &lt;Box style={{ flex: 1.2, flexDirection: 'column', gap: 3 }}&gt;&#13;&#10;        &lt;Text style={{ fontSize: 24, fontWeight: 'bold', color: '#6C6CF5' }}&gt;0 次&lt;/Text&gt;&#13;&#10;        &lt;Text style={{ fontSize: 12, color: '#8A90A6' }}&gt;页面跳转 —— 决策与执行同屏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5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6858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9144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9144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43434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5720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5720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80010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2296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2296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685800" y="3667125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914400" y="4000500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一句话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2400300" y="3857625"/>
            <a:ext cx="396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「明天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人宴席，人均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2400300" y="4133850"/>
            <a:ext cx="396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按中餐宴席结构排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685800" y="4667250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85800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85800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采购单（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项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/ 2,757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元）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257550" y="4829175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3257550" y="5133975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5838825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5838825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操作留痕，任何一条可回滚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8410575" y="4829175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6C6CF5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410575" y="5133975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88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层架构：交易底座不动，决策层新建&lt;/Text&gt;&#13;&#10;      &lt;Text style={{ fontSize: 15, color: '#8A90A6' }}&gt;原有 4,294 行代码、42 个模板、190 项测试，全部作为底座继续跑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background: '#171A2E', border: '1px solid #6C6CF5', borderRadius: 10, padding: '22px 24px', flexDirection: 'row', alignItems: 'center' }}&gt;&#13;&#10;        &lt;Text style={{ fontSize: 13, color: '#6C6CF5', width: 100, letterSpacing: 1 }}&gt;决策界面&lt;/Text&gt;&#13;&#10;        &lt;Text style={{ fontSize: 16, color: '#F2F4FF' }}&gt;AI 驾驶舱 · 经营问答 · 洞察中心 · 采购单 · 四象限 · 预测备货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AI 引擎&lt;/Text&gt;&#13;&#10;        &lt;Text style={{ fontSize: 16, color: '#F2F4FF' }}&gt;受控 NL2SQL · 6 类规则检测 · 三层分解预测 · 可执行工具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指标层&lt;/Text&gt;&#13;&#10;        &lt;Text style={{ fontSize: 16, color: '#F2F4FF' }}&gt;唯一口径 metrics.py · 日粒度预聚合 ETL · 8 个只读语义视图&lt;/Text&gt;&#13;&#10;      &lt;/Box&gt;&#13;&#10;      &lt;Box style={{ background: '#12141F', border: '1px solid #242A3D', borderRadius: 10, padding: '22px 24px', flexDirection: 'row', alignItems: 'center' }}&gt;&#13;&#10;        &lt;Text style={{ fontSize: 13, color: '#4A5064', width: 100, letterSpacing: 1 }}&gt;交易底座&lt;/Text&gt;&#13;&#10;        &lt;Text style={{ fontSize: 16, color: '#8A90A6' }}&gt;点单 · 收银 · 会员 · BOM 配方 · 库存流水 · 预订（Flask + SQLite）&lt;/Text&gt;&#13;&#10;      &lt;/Box&gt;&#13;&#10;    &lt;/Box&gt;&#13;&#10;    &lt;Box style={{ marginTop: 24, flexDirection: 'row', gap: 18 }}&gt;&#13;&#10;      &lt;Box style={{ flex: 1, paddingTop: 14, borderTop: '1px solid #242A3D' }}&gt;&#13;&#10;        &lt;Text style={{ fontSize: 30, fontWeight: 'bold', color: '#6C6CF5' }}&gt;0&lt;/Text&gt;&#13;&#10;        &lt;Text style={{ fontSize: 13, color: '#8A90A6', marginTop: 4 }}&gt;新增第三方运行时依赖&lt;br /&gt;仅 Flask + waitress&lt;/Text&gt;&#13;&#10;      &lt;/Box&gt;&#13;&#10;      &lt;Box style={{ flex: 1, paddingTop: 14, borderTop: '1px solid #242A3D' }}&gt;&#13;&#10;        &lt;Text style={{ fontSize: 30, fontWeight: 'bold', color: '#6C6CF5' }}&gt;1.0s&lt;/Text&gt;&#13;&#10;        &lt;Text style={{ fontSize: 13, color: '#8A90A6', marginTop: 4 }}&gt;看板首屏&lt;br /&gt;180 天预聚合&lt;/Text&gt;&#13;&#10;      &lt;/Box&gt;&#13;&#10;      &lt;Box style={{ flex: 1, paddingTop: 14, borderTop: '1px solid #242A3D' }}&gt;&#13;&#10;        &lt;Text style={{ fontSize: 30, fontWeight: 'bold', color: '#6C6CF5' }}&gt;离线&lt;/Text&gt;&#13;&#10;        &lt;Text style={{ fontSize: 13, color: '#8A90A6', marginTop: 4 }}&gt;可跑：本地模型 / 规则降级&lt;br /&gt;不依赖 CDN 与外网&lt;/Text&gt;&#13;&#10;      &lt;/Box&gt;&#13;&#10;    &lt;/Box&gt;&#13;&#10;    &lt;Box style={{ marginTop: 20, paddingTop: 16, borderTop: '1px solid #242A3D', flexDirection: 'row', gap: 14 }}&gt;&#13;&#10;      &lt;Text style={{ fontSize: 13, color: '#6C6CF5', width: 76 }}&gt;选型取舍&lt;/Text&gt;&#13;&#10;      &lt;Text style={{ fontSize: 14, color: '#8A90A6', lineHeight: 1.7, flex: 1 }}&gt;&#13;&#10;        不引入 numpy / pandas / torch：门店电脑不是服务器，打包体积与启动速度比模型炫技重要；&#13;&#10;        SQLite 开启 WAL 后足以支撑店内 20 路并发点餐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6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685800" y="15240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1866900" y="1733550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685800" y="22669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914400" y="24955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1866900" y="2476500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685800" y="30099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914400" y="32385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866900" y="3219450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685800" y="37528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914400" y="39814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A5064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1866900" y="3962400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685800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685800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85800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4352925" y="4591050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4352925" y="4733925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352925" y="5114925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8010525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8010525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6C6CF5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8010525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685800" y="5610225"/>
            <a:ext cx="10820400" cy="447675"/>
          </a:xfrm>
          <a:custGeom>
            <a:pathLst>
              <a:path w="1136" h="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723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C6CF5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543050" y="5772150"/>
            <a:ext cx="99631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：门店电脑不是服务器，打包体积与启动速度比模型炫技重要；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开启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后足以支撑店内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路并发点餐。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85800" y="6248400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1115675" y="624840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1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敢让它查数，是因为它改不了数&lt;/Text&gt;&#13;&#10;      &lt;Text style={{ fontSize: 15, color: '#8A90A6' }}&gt;自然语言查数的五道闸 —— 对应评审的「稳定性与合规性」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6 }}&gt;&#13;&#10;      &lt;Box style={{ flex: 1.3, flexDirection: 'column', gap: 18 }}&gt;&#13;&#10;        &lt;Box style={{ flexDirection: 'row', gap: 16, alignItems: 'flex-start' }}&gt;&#13;&#10;          &lt;Text style={{ fontSize: 16, fontWeight: 'bold', color: '#6C6CF5', width: 34 }}&gt;01&lt;/Text&gt;&#13;&#10;          &lt;Box style={{ flexDirection: 'column', gap: 4 }}&gt;&#13;&#10;            &lt;Text style={{ fontSize: 19, color: '#F2F4FF' }}&gt;只读连接&lt;/Text&gt;&#13;&#10;            &lt;Text style={{ fontSize: 14, color: '#8A90A6' }}&gt;query_only=ON，数据库层面拒绝一切写操作&lt;/Text&gt;&#13;&#10;          &lt;/Box&gt;&#13;&#10;        &lt;/Box&gt;&#13;&#10;        &lt;Box style={{ flexDirection: 'row', gap: 16, alignItems: 'flex-start' }}&gt;&#13;&#10;          &lt;Text style={{ fontSize: 16, fontWeight: 'bold', color: '#6C6CF5', width: 34 }}&gt;02&lt;/Text&gt;&#13;&#10;          &lt;Box style={{ flexDirection: 'column', gap: 4 }}&gt;&#13;&#10;            &lt;Text style={{ fontSize: 19, color: '#F2F4FF' }}&gt;视图白名单&lt;/Text&gt;&#13;&#10;            &lt;Text style={{ fontSize: 14, color: '#8A90A6' }}&gt;只认 8 个 v_* 语义视图，读不到会员手机号与设置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3&lt;/Text&gt;&#13;&#10;          &lt;Box style={{ flexDirection: 'column', gap: 4 }}&gt;&#13;&#10;            &lt;Text style={{ fontSize: 19, color: '#F2F4FF' }}&gt;语法校验&lt;/Text&gt;&#13;&#10;            &lt;Text style={{ fontSize: 14, color: '#8A90A6' }}&gt;单条 SELECT；禁 DDL / DML / ATTACH / UNION / 系统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4&lt;/Text&gt;&#13;&#10;          &lt;Box style={{ flexDirection: 'column', gap: 4 }}&gt;&#13;&#10;            &lt;Text style={{ fontSize: 19, color: '#F2F4FF' }}&gt;强制约束&lt;/Text&gt;&#13;&#10;            &lt;Text style={{ fontSize: 14, color: '#8A90A6' }}&gt;自动补 LIMIT 500，6 秒超时中断，慢查询拖不死库&lt;/Text&gt;&#13;&#10;          &lt;/Box&gt;&#13;&#10;        &lt;/Box&gt;&#13;&#10;        &lt;Box style={{ flexDirection: 'row', gap: 16, alignItems: 'flex-start' }}&gt;&#13;&#10;          &lt;Text style={{ fontSize: 16, fontWeight: 'bold', color: '#6C6CF5', width: 34 }}&gt;05&lt;/Text&gt;&#13;&#10;          &lt;Box style={{ flexDirection: 'column', gap: 4 }}&gt;&#13;&#10;            &lt;Text style={{ fontSize: 19, color: '#F2F4FF' }}&gt;结果上限&lt;/Text&gt;&#13;&#10;            &lt;Text style={{ fontSize: 14, color: '#8A90A6' }}&gt;最多 500 行，不会把大结果集塞进模型上下文&lt;/Text&gt;&#13;&#10;          &lt;/Box&gt;&#13;&#10;        &lt;/Box&gt;&#13;&#10;      &lt;/Box&gt;&#13;&#10;      &lt;Box style={{ flex: 1, background: '#141826', border: '1px solid #242A3D', borderRadius: 14, padding: 26, flexDirection: 'column', justifyContent: 'space-between' }}&gt;&#13;&#10;        &lt;Box&gt;&#13;&#10;          &lt;Text style={{ fontSize: 13, color: '#8A90A6', letterSpacing: 1 }}&gt;自动化验证&lt;/Text&gt;&#13;&#10;          &lt;Text style={{ fontSize: 62, fontWeight: 'bold', color: '#6C6CF5', marginTop: 6 }}&gt;8 / 8&lt;/Text&gt;&#13;&#10;          &lt;Text style={{ fontSize: 15, color: '#F2F4FF', marginTop: 4 }}&gt;越界语句全部拦截&lt;/Text&gt;&#13;&#10;        &lt;/Box&gt;&#13;&#10;        &lt;Box style={{ flexDirection: 'column', gap: 6 }}&gt;&#13;&#10;          &lt;Text style={{ fontSize: 12, color: '#8A90A6' }}&gt;SELECT * FROM members&lt;/Text&gt;&#13;&#10;          &lt;Text style={{ fontSize: 12, color: '#8A90A6' }}&gt;DROP TABLE orders&lt;/Text&gt;&#13;&#10;          &lt;Text style={{ fontSize: 12, color: '#8A90A6' }}&gt;SELECT 1; DELETE FROM orders&lt;/Text&gt;&#13;&#10;          &lt;Text style={{ fontSize: 12, color: '#8A90A6' }}&gt;... UNION SELECT * FROM settings&lt;/Text&gt;&#13;&#10;          &lt;Text style={{ fontSize: 12, color: '#8A90A6' }}&gt;ATTACH / PRAGMA / sqlite_master&lt;/Text&gt;&#13;&#10;        &lt;/Box&gt;&#13;&#10;        &lt;Text style={{ fontSize: 12, color: '#6C6CF5' }}&gt;越界时先自动修复一轮 SQL，再失败才降级&lt;/Text&gt;&#13;&#10;      &lt;/Box&gt;&#13;&#10;    &lt;/Box&gt;&#13;&#10;    &lt;Box style={{ marginTop: 22, paddingTop: 18, borderTop: '1px solid #242A3D', flexDirection: 'row', gap: 16 }}&gt;&#13;&#10;      &lt;Box style={{ width: 5, height: 46, background: '#6C6CF5', borderRadius: 3 }} /&gt;&#13;&#10;      &lt;Text style={{ fontSize: 16, color: '#8A90A6', lineHeight: 1.75, flex: 1 }}&gt;&#13;&#10;        黑名单永远会被绕过。真正的安全来自两层：数据库层面拒绝写、语义视图看不到敏感表；&lt;br /&gt;&#13;&#10;        其余三道闸只是把越界请求挡在更早的地方，顺便给出人能看懂的拒绝理由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7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1162050" y="1524000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62050" y="1781175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85800" y="21145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1162050" y="2114550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62050" y="2371725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162050" y="2705100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162050" y="2962275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685800" y="32956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162050" y="3295650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1162050" y="3552825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85800" y="38862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162050" y="3886200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162050" y="4143375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6905625" y="1524000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7153275" y="1771650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7153275" y="1981200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6C6CF5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153275" y="2733675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153275" y="2943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7153275" y="3143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153275" y="33432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153275" y="35433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7153275" y="37433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7153275" y="39147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6C6CF5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685800" y="4514850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50" name=""/>
          <p:cNvSpPr/>
          <p:nvPr/>
        </p:nvSpPr>
        <p:spPr>
          <a:xfrm rot="0" flipH="0" flipV="0">
            <a:off x="685800" y="46958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885825" y="4695825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54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AI 不会算错账，因为它不算账&lt;/Text&gt;&#13;&#10;      &lt;Text style={{ fontSize: 15, color: '#8A90A6' }}&gt;所有数字只有一个实现，模型只负责理解问题与组织语言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8, alignItems: 'center' }}&gt;&#13;&#10;      &lt;Box style={{ flexDirection: 'column', width: 380 }}&gt;&#13;&#10;        &lt;Text style={{ fontSize: 13, color: '#8A90A6', letterSpacing: 1 }}&gt;昨日营收（元）&lt;/Text&gt;&#13;&#10;        &lt;Text style={{ fontSize: 68, fontWeight: 'bold', color: '#F2F4FF', letterSpacing: -2 }}&gt;6,029.65&lt;/Text&gt;&#13;&#10;        &lt;Text style={{ fontSize: 13, color: '#8A90A6', marginTop: 6 }}&gt;同星期基线 8,024.45 · 低 24.8%&lt;/Text&gt;&#13;&#10;      &lt;/Box&gt;&#13;&#10;      &lt;Box style={{ flex: 1, flexDirection: 'column', gap: 10 }}&gt;&#13;&#10;        &lt;Text style={{ fontSize: 13, color: '#8A90A6' }}&gt;这个数字出现在三个地方，必须完全相等&lt;/Text&gt;&#13;&#10;        &lt;Box style={{ flexDirection: 'row', gap: 12 }}&gt;&#13;&#10;          &lt;Box style={{ flex: 1, background: '#141826', border: '1px solid #242A3D', borderRadius: 10, padding: 16 }}&gt;&#13;&#10;            &lt;Text style={{ fontSize: 15, color: '#F2F4FF' }}&gt;AI 驾驶舱&lt;/Text&gt;&#13;&#10;            &lt;Text style={{ fontSize: 12, color: '#8A90A6', marginTop: 6 }}&gt;KPI 卡片&lt;/Text&gt;&#13;&#10;          &lt;/Box&gt;&#13;&#10;          &lt;Box style={{ flex: 1, background: '#141826', border: '1px solid #242A3D', borderRadius: 10, padding: 16 }}&gt;&#13;&#10;            &lt;Text style={{ fontSize: 15, color: '#F2F4FF' }}&gt;营收报表&lt;/Text&gt;&#13;&#10;            &lt;Text style={{ fontSize: 12, color: '#8A90A6', marginTop: 6 }}&gt;按日汇总&lt;/Text&gt;&#13;&#10;          &lt;/Box&gt;&#13;&#10;          &lt;Box style={{ flex: 1, background: '#141826', border: '1px solid #242A3D', borderRadius: 10, padding: 16 }}&gt;&#13;&#10;            &lt;Text style={{ fontSize: 15, color: '#F2F4FF' }}&gt;AI 问答&lt;/Text&gt;&#13;&#10;            &lt;Text style={{ fontSize: 12, color: '#8A90A6', marginTop: 6 }}&gt;SQL 结果&lt;/Text&gt;&#13;&#10;          &lt;/Box&gt;&#13;&#10;        &lt;/Box&gt;&#13;&#10;      &lt;/Box&gt;&#13;&#10;    &lt;/Box&gt;&#13;&#10;    &lt;Box style={{ marginTop: 26, background: '#12141F', border: '1px solid #242A3D', borderRadius: 12, padding: 22 }}&gt;&#13;&#10;      &lt;Text style={{ fontSize: 12, color: '#4A5064', letterSpacing: 1 }}&gt;analytics / metrics.py&lt;/Text&gt;&#13;&#10;      &lt;Text style={{ fontSize: 14, color: '#8A90A6', marginTop: 10, lineHeight: 1.9 }}&gt;&#13;&#10;        def q_kpi(conn, d1, d2):&amp;nbsp;&amp;nbsp;&lt;span style={{ color: '#6C6CF5' }}&gt;# 全系统唯一的营收口径&lt;/span&gt;&lt;br /&gt;&#13;&#10;        &amp;nbsp;&amp;nbsp;revenue = SUM(final_amount) WHERE status='settled'&lt;br /&gt;&#13;&#10;        &amp;nbsp;&amp;nbsp;return dict(revenue=money(revenue), margin_rate=...)&#13;&#10;      &lt;/Text&gt;&#13;&#10;    &lt;/Box&gt;&#13;&#10;    &lt;Text style={{ fontSize: 14, color: '#8A90A6', marginTop: 16 }}&gt;数字由 SQL 算出，模型只写解读；结论必须引用 evidence，点开能看到原始 SQL。&lt;/Text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8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85800" y="1676400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F2F4FF"/>
                </a:solidFill>
                <a:latin typeface="Microsoft YaHei"/>
                <a:ea typeface="Microsoft YaHei"/>
              </a:rPr>
              <a:t>6,029.65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85800" y="25146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8,024.45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24.8%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4572000" y="1638300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4572000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4724400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4724400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6924675" y="1885950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7077075" y="2038350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7077075" y="2266950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9267825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9420225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9420225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685800" y="2914650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895350" y="3124200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4A5064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95350" y="3362325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6C6CF5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6C6CF5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685800" y="4638675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78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先算清代价，再谈智能&lt;/Text&gt;&#13;&#10;      &lt;Text style={{ fontSize: 15, color: '#8A90A6' }}&gt;左边是它在这套 180 天数据里真找出来的，右边是按建议执行后的测算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4 }}&gt;&#13;&#10;      &lt;Box style={{ flex: 1.15, flexDirection: 'column' }}&gt;&#13;&#10;        &lt;Text style={{ fontSize: 13, color: '#8A90A6', letterSpacing: 1 }}&gt;实测 · 系统自己发现的五件事&lt;/Text&gt;&#13;&#10;        &lt;Box style={{ marginTop: 14, flexDirection: 'column', gap: 0 }}&gt;&#13;&#10;          &lt;Box style={{ paddingTop: 12, paddingBottom: 12, borderTop: '1px solid #242A3D', flexDirection: 'row', alignItems: 'baseline' }}&gt;&#13;&#10;            &lt;Text style={{ fontSize: 26, fontWeight: 'bold', color: '#6C6CF5', width: 96 }}&gt;11.1%&lt;/Text&gt;&#13;&#10;            &lt;Text style={{ fontSize: 14, color: '#F2F4FF' }}&gt;近 7 天折扣率，比前 30 天的 8.8% 高 2.3 个点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1,899&lt;/Text&gt;&#13;&#10;            &lt;Text style={{ fontSize: 14, color: '#F2F4FF' }}&gt;元 · 按原折扣水平本可少让的金额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19 道&lt;/Text&gt;&#13;&#10;            &lt;Text style={{ fontSize: 14, color: '#F2F4FF' }}&gt;菜连续 3 天 0 销量，占在售 9.2%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5 种&lt;/Text&gt;&#13;&#10;            &lt;Text style={{ fontSize: 14, color: '#F2F4FF' }}&gt;食材可支撑不足 2 天（基围虾只剩 1.5 天）&lt;/Text&gt;&#13;&#10;          &lt;/Box&gt;&#13;&#10;          &lt;Box style={{ paddingTop: 12, paddingBottom: 12, borderTop: '1px solid #242A3D', borderBottom: '1px solid #242A3D', flexDirection: 'row', alignItems: 'baseline' }}&gt;&#13;&#10;            &lt;Text style={{ fontSize: 26, fontWeight: 'bold', color: '#6C6CF5', width: 96 }}&gt;57.6%&lt;/Text&gt;&#13;&#10;            &lt;Text style={{ fontSize: 14, color: '#F2F4FF' }}&gt;近 30 天毛利率，比目标低 2.4 个点&lt;/Text&gt;&#13;&#10;          &lt;/Box&gt;&#13;&#10;        &lt;/Box&gt;&#13;&#10;      &lt;/Box&gt;&#13;&#10;      &lt;Box style={{ flex: 1, background: '#171A2E', border: '1px solid #6C6CF5', borderRadius: 14, padding: 30, flexDirection: 'column', gap: 18, justifyContent: 'flex-start' }}&gt;&#13;&#10;        &lt;Box style={{ flexDirection: 'column', gap: 6 }}&gt;&#13;&#10;          &lt;Text style={{ fontSize: 13, color: '#6C6CF5', letterSpacing: 1 }}&gt;测算 · 补齐这 2.4 个点&lt;/Text&gt;&#13;&#10;          &lt;Text style={{ fontSize: 56, fontWeight: 'bold', color: '#F2F4FF', letterSpacing: -1 }}&gt;+9.4&lt;span style={{ fontSize: 22 }}&gt; 万/年&lt;/span&gt;&lt;/Text&gt;&#13;&#10;          &lt;Text style={{ fontSize: 13, color: '#8A90A6' }}&gt;近 30 天营收 32.5 万 × 2.4pt × 12 个月&lt;/Text&gt;&#13;&#10;        &lt;/Box&gt;&#13;&#10;        &lt;Box style={{ flexDirection: 'column', gap: 8, marginTop: 6, paddingTop: 16, borderTop: '1px solid #3A3F63' }}&gt;&#13;&#10;          &lt;Text style={{ fontSize: 13, color: '#F2F4FF' }}&gt;怎么补：&lt;/Text&gt;&#13;&#10;          &lt;Text style={{ fontSize: 13, color: '#8A90A6', lineHeight: 1.8 }}&gt;① 3 道瘦狗菜调价 5%~15%&lt;br /&gt;② 19 道滞销菜组套餐或下架&lt;br /&gt;③ 折扣收回 2 个点&lt;/Text&gt;&#13;&#10;        &lt;/Box&gt;&#13;&#10;        &lt;Text style={{ fontSize: 11, color: '#6B6F8A', lineHeight: 1.6, marginTop: 4 }}&gt;&#13;&#10;          左列全部由 SQL 从 180 天数据算出，脚本可复现；右侧为按当前规模的线性测算，不是承诺值。&#13;&#10;        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9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685800" y="18097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685800" y="19335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11.1%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1600200" y="1933575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8.8%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2.3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685800" y="2352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85800" y="2476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1,899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1600200" y="2476500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685800" y="2895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85800" y="3019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19 </a:t>
            </a:r>
            <a:r>
              <a:rPr lang="zh-CN" sz="1950" b="1">
                <a:solidFill>
                  <a:srgbClr val="6C6CF5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1600200" y="3019425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9.2%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685800" y="3438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685800" y="3562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950" b="1">
                <a:solidFill>
                  <a:srgbClr val="6C6CF5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1600200" y="3562350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685800" y="3981450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7" name=""/>
          <p:cNvSpPr/>
          <p:nvPr/>
        </p:nvSpPr>
        <p:spPr>
          <a:xfrm rot="0" flipH="0" flipV="0">
            <a:off x="685800" y="3981450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57.6%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1600200" y="4105275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6581775" y="1524000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867525" y="180975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867525" y="2019300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F2F4FF"/>
                </a:solidFill>
                <a:latin typeface="Microsoft YaHei"/>
                <a:ea typeface="Microsoft YaHei"/>
              </a:rPr>
              <a:t>+9.4</a:t>
            </a:r>
            <a:r>
              <a:rPr lang="en-US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867525" y="272415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32.5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2.4pt × 12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6867525" y="3105150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867525" y="3267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2F4FF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867525" y="3495675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② 19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867525" y="4514850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6F8A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6F8A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一家店跑通，才敢谈复制&lt;/Text&gt;&#13;&#10;      &lt;Text style={{ fontSize: 15, color: '#8A90A6' }}&gt;单店 → 连锁 → 产业带，每一步都靠同一套指标与工具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10 }}&gt;&#13;&#10;      &lt;Box style={{ flex: 1, background: '#171A2E', border: '1px solid #6C6CF5', borderRadius: 14, padding: 24 }}&gt;&#13;&#10;        &lt;Text style={{ fontSize: 12, color: '#6C6CF5', letterSpacing: 2 }}&gt;现在 · 单店&lt;/Text&gt;&#13;&#10;        &lt;Text style={{ fontSize: 22, fontWeight: 'bold', color: '#F2F4FF', marginTop: 10 }}&gt;跑通闭环&lt;/Text&gt;&#13;&#10;        &lt;Text style={{ fontSize: 14, color: '#8A90A6', marginTop: 10, lineHeight: 1.75 }}&gt;180 天数据 · 6,803 单&lt;br /&gt;AI 建议 → 执行 → 效果回流&lt;/Text&gt;&#13;&#10;      &lt;/Box&gt;&#13;&#10;      &lt;Box style={{ flex: 1, background: '#141826', border: '1px solid #242A3D', borderRadius: 14, padding: 24 }}&gt;&#13;&#10;        &lt;Text style={{ fontSize: 12, color: '#8A90A6', letterSpacing: 2 }}&gt;下一步 · 连锁&lt;/Text&gt;&#13;&#10;        &lt;Text style={{ fontSize: 22, fontWeight: 'bold', color: '#F2F4FF', marginTop: 10 }}&gt;门店对比&lt;/Text&gt;&#13;&#10;        &lt;Text style={{ fontSize: 14, color: '#8A90A6', marginTop: 10, lineHeight: 1.75 }}&gt;同一指标跨店比较&lt;br /&gt;找出「哪家店哪道菜不对」&lt;/Text&gt;&#13;&#10;      &lt;/Box&gt;&#13;&#10;      &lt;Box style={{ flex: 1, background: '#141826', border: '1px solid #242A3D', borderRadius: 14, padding: 24 }}&gt;&#13;&#10;        &lt;Text style={{ fontSize: 12, color: '#8A90A6', letterSpacing: 2 }}&gt;更远 · 产业带&lt;/Text&gt;&#13;&#10;        &lt;Text style={{ fontSize: 22, fontWeight: 'bold', color: '#F2F4FF', marginTop: 10 }}&gt;供应链协同&lt;/Text&gt;&#13;&#10;        &lt;Text style={{ fontSize: 14, color: '#8A90A6', marginTop: 10, lineHeight: 1.75 }}&gt;聚合采购需求&lt;br /&gt;用数据换议价权&lt;/Text&gt;&#13;&#10;      &lt;/Box&gt;&#13;&#10;    &lt;/Box&gt;&#13;&#10;    &lt;Box style={{ marginTop: 26, background: '#12141F', border: '1px solid #242A3D', borderRadius: 12, padding: '22px 26px', flexDirection: 'row', alignItems: 'center', gap: 18 }}&gt;&#13;&#10;      &lt;Text style={{ fontSize: 13, color: '#8A90A6', width: 96 }}&gt;数据飞轮&lt;/Text&gt;&#13;&#10;      &lt;Text style={{ fontSize: 16, color: '#F2F4FF' }}&gt;更多门店 → 更多真实经营样本 → 预测与阈值更准 → 建议更敢执行 → 更多门店愿意接入&lt;/Text&gt;&#13;&#10;    &lt;/Box&gt;&#13;&#10;    &lt;Box style={{ marginTop: 16, flexDirection: 'row', gap: 24 }}&gt;&#13;&#10;      &lt;Text style={{ fontSize: 13, color: '#4A5064' }}&gt;可复制性：换一套菜单与配方即可用于茶餐厅 / 快餐 / 火锅 / 烘焙，指标层与工具层不用改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0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6858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9144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9144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43434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5720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45720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80010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82296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296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685800" y="3771900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933450" y="40005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2019300" y="3981450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85800" y="4533900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4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主动说清楚：它现在还不能做什么&lt;/Text&gt;&#13;&#10;      &lt;Text style={{ fontSize: 15, color: '#8A90A6' }}&gt;边界写得越清楚，越敢把店交给它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flexDirection: 'row', gap: 16, alignItems: 'flex-start' }}&gt;&#13;&#10;        &lt;Text style={{ fontSize: 14, fontWeight: 'bold', color: '#6C6CF5', width: 30 }}&gt;01&lt;/Text&gt;&#13;&#10;        &lt;Box style={{ flexDirection: 'column', gap: 4 }}&gt;&#13;&#10;          &lt;Text style={{ fontSize: 18, color: '#F2F4FF' }}&gt;预测不是深度学习&lt;/Text&gt;&#13;&#10;          &lt;Text style={{ fontSize: 14, color: '#8A90A6' }}&gt;单店 180 天数据撑不起模型，用「水平 × 星期因子 × 趋势」三层分解，给区间比给点值更诚实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2&lt;/Text&gt;&#13;&#10;        &lt;Box style={{ flexDirection: 'column', gap: 4 }}&gt;&#13;&#10;          &lt;Text style={{ fontSize: 18, color: '#F2F4FF' }}&gt;调价单次不超过 15%&lt;/Text&gt;&#13;&#10;          &lt;Text style={{ fontSize: 14, color: '#8A90A6' }}&gt;成本加成算出来的价格往往卖不动；差额建议靠改配方或换供应商补，而不是一次涨到位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3&lt;/Text&gt;&#13;&#10;        &lt;Box style={{ flexDirection: 'column', gap: 4 }}&gt;&#13;&#10;          &lt;Text style={{ fontSize: 18, color: '#F2F4FF' }}&gt;采购建议未考虑起订量与在途&lt;/Text&gt;&#13;&#10;          &lt;Text style={{ fontSize: 14, color: '#8A90A6' }}&gt;当前按近 14 天日均消耗外推，接入供应商报价单后再补这一层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4&lt;/Text&gt;&#13;&#10;        &lt;Box style={{ flexDirection: 'column', gap: 4 }}&gt;&#13;&#10;          &lt;Text style={{ fontSize: 18, color: '#F2F4FF' }}&gt;局域网 HTTP，不直连公网&lt;/Text&gt;&#13;&#10;          &lt;Text style={{ fontSize: 14, color: '#8A90A6' }}&gt;面向店内使用；需要外网时前面加一层 HTTPS 反向代理，会员数据默认不出店。&lt;/Text&gt;&#13;&#10;        &lt;/Box&gt;&#13;&#10;      &lt;/Box&gt;&#13;&#10;    &lt;/Box&gt;&#13;&#10;    &lt;Box style={{ marginTop: 24, paddingTop: 20, borderTop: '1px solid #242A3D' }}&gt;&#13;&#10;      &lt;Text style={{ fontSize: 20, color: '#F2F4FF' }}&gt;知道自己不能做什么，才敢让你把&lt;Text style={{ fontSize: 20, fontWeight: 'bold', color: '#6C6CF5' }}&gt;钱&lt;/Text&gt;交给它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123950" y="1524000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23950" y="1771650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85800" y="20669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85800" y="22098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23950" y="2209800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123950" y="245745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27527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85800" y="28956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23950" y="2895600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123950" y="3143250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685800" y="34385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35814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123950" y="3581400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123950" y="3829050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685800" y="4219575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4419600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8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52, fontWeight: 'bold', color: '#F2F4FF', lineHeight: 1.35, width: 960 }}&gt;&#13;&#10;      让每个小店，&lt;br /&gt;都有一个不用发工资的掌柜。&#13;&#10;    &lt;/Text&gt;&#13;&#10;    &lt;Box style={{ width: 88, height: 4, background: '#6C6CF5', borderRadius: 2, marginTop: 26, marginBottom: 22 }} /&gt;&#13;&#10;    &lt;Text style={{ fontSize: 17, color: '#8A90A6', lineHeight: 1.8 }}&gt;&#13;&#10;      可执行 · 可追溯 · 可撤销 · 断网可用&#13;&#10;    &lt;/Text&gt;&#13;&#10;  &lt;/Box&gt;&#13;&#10;  &lt;Box style={{ flexDirection: 'row', justifyContent: 'space-between', alignItems: 'flex-end' }}&gt;&#13;&#10;    &lt;Box style={{ flexDirection: 'column', gap: 5 }}&gt;&#13;&#10;      &lt;Text style={{ fontSize: 14, color: '#F2F4FF' }}&gt;AI 掌柜 · 中小餐饮经营 Agent&lt;/Text&gt;&#13;&#10;      &lt;Text style={{ fontSize: 13, color: '#8A90A6' }}&gt;代码仓库与演示入口见提交材料 · 演示账号 admin / admin123&lt;/Text&gt;&#13;&#10;    &lt;/Box&gt;&#13;&#10;    &lt;Text style={{ fontSize: 13, color: '#4A5064' }}&gt;1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685800" y="209550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395287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420052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85800" y="5962650"/>
            <a:ext cx="3467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85800" y="6172200"/>
            <a:ext cx="3467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代码仓库与演示入口见提交材料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演示账号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admin / admin123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8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附录 A · 界面实拍（无美化）&lt;/Text&gt;&#13;&#10;      &lt;Text style={{ fontSize: 15, color: '#8A90A6' }}&gt;这是 1920 宽屏下直接截的图，不是设计稿&lt;/Text&gt;&#13;&#10;    &lt;/Box&gt;&#13;&#10;    &lt;Text style={{ fontSize: 13, color: '#4A5064', letterSpacing: 2 }}&gt;AI 掌柜&lt;/Text&gt;&#13;&#10;  &lt;/Box&gt;&#13;&#10;  &lt;Box style={{ flex: 1, paddingTop: 8, flexDirection: 'row', gap: 26 }}&gt;&#13;&#10;    &lt;Box style={{ flex: 1.75, background: '#141826', border: '1px solid #242A3D', borderRadius: 12, padding: 10, overflow: 'hidden' }}&gt;&#13;&#10;      &lt;Image src=&quot;assets/ui_dashboard.png&quot; style={{ width: '100%', height: '100%', objectFit: 'cover', objectPosition: 'left top', borderRadius: 8 }} /&gt;&#13;&#10;    &lt;/Box&gt;&#13;&#10;    &lt;Box style={{ flex: 1, flexDirection: 'column', gap: 18, paddingTop: 4 }}&gt;&#13;&#10;      &lt;Box style={{ flexDirection: 'column', gap: 6 }}&gt;&#13;&#10;        &lt;Text style={{ fontSize: 13, color: '#6C6CF5', letterSpacing: 1 }}&gt;01 首屏只有三件事&lt;/Text&gt;&#13;&#10;        &lt;Text style={{ fontSize: 14, color: '#8A90A6', lineHeight: 1.7 }}&gt;按影响金额排序，不是按模块罗列。老板看完就知道先干哪件。&lt;/Text&gt;&#13;&#10;      &lt;/Box&gt;&#13;&#10;      &lt;Box style={{ flexDirection: 'column', gap: 6 }}&gt;&#13;&#10;        &lt;Text style={{ fontSize: 13, color: '#6C6CF5', letterSpacing: 1 }}&gt;02 每条都带证据&lt;/Text&gt;&#13;&#10;        &lt;Text style={{ fontSize: 14, color: '#8A90A6', lineHeight: 1.7 }}&gt;灰底那行是指标、当前值、基线、阈值，机器可读，人也看得懂。&lt;/Text&gt;&#13;&#10;      &lt;/Box&gt;&#13;&#10;      &lt;Box style={{ flexDirection: 'column', gap: 6 }}&gt;&#13;&#10;        &lt;Text style={{ fontSize: 13, color: '#6C6CF5', letterSpacing: 1 }}&gt;03 右边是实时状态&lt;/Text&gt;&#13;&#10;        &lt;Text style={{ fontSize: 14, color: '#8A90A6', lineHeight: 1.7 }}&gt;模型通道（本地/云端/规则）、7 天预测与回测误差、待处理动作。&lt;/Text&gt;&#13;&#10;      &lt;/Box&gt;&#13;&#10;      &lt;Box style={{ flexDirection: 'column', gap: 6 }}&gt;&#13;&#10;        &lt;Text style={{ fontSize: 13, color: '#6C6CF5', letterSpacing: 1 }}&gt;04 按钮就是动作&lt;/Text&gt;&#13;&#10;        &lt;Text style={{ fontSize: 14, color: '#8A90A6', lineHeight: 1.7 }}&gt;「生成采购单」「执行调价」都不是跳转，点完当场改数据，可撤销。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演示数据：180 天 / 6,803 单（seed_demo.py 生成）&lt;/Text&gt;&#13;&#10;    &lt;Text style={{ fontSize: 12, color: '#4A5064' }}&gt;附录 A&lt;/Text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A · </a:t>
            </a: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界面实拍（无美化）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3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这是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1920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宽屏下直接截的图，不是设计稿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685800" y="1524000"/>
            <a:ext cx="6724650" cy="4457700"/>
          </a:xfrm>
          <a:prstGeom prst="roundRect">
            <a:avLst>
              <a:gd name="adj" fmla="val 2564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pic>
        <p:nvPicPr>
          <p:cNvPr id="74" name=""/>
          <p:cNvPicPr>
            <a:picLocks noChangeAspect="1"/>
          </p:cNvPicPr>
          <p:nvPr/>
        </p:nvPicPr>
        <p:blipFill>
          <a:blip r:embed="rId1"/>
          <a:srcRect l="0" t="11904" r="0" b="11904"/>
          <a:stretch>
            <a:fillRect/>
          </a:stretch>
        </p:blipFill>
        <p:spPr>
          <a:xfrm rot="0" flipH="0" flipV="0">
            <a:off x="781050" y="1619250"/>
            <a:ext cx="6534150" cy="4267200"/>
          </a:xfrm>
          <a:prstGeom prst="roundRect">
            <a:avLst>
              <a:gd name="adj" fmla="val 1786"/>
            </a:avLst>
          </a:prstGeom>
          <a:ln/>
        </p:spPr>
      </p:pic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7658100" y="1562100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首屏只有三件事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658100" y="1771650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按影响金额排序，不是按模块罗列。老板看完就知道先干哪件。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658100" y="22193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每条都带证据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658100" y="24288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灰底那行是指标、当前值、基线、阈值，机器可读，人也看得懂。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7658100" y="315277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右边是实时状态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7658100" y="336232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模型通道（本地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规则）、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天预测与回测误差、待处理动作。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7658100" y="40862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04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按钮就是动作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7658100" y="42957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「生成采购单」「执行调价」都不是跳转，点完当场改数据，可撤销。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762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演示数据：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单（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seed_demo.py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生成）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2026-10-20T14:41:38Z</dcterms:created>
  <dcterms:modified xsi:type="dcterms:W3CDTF">2026-10-20T14:41:38Z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