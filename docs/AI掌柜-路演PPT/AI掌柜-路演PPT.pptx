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notesMaster" Target="notesMasters/notesMaster1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B0D14', padding: '56px 72px', flexDirection: 'column', justifyContent: 'space-between' }}&gt;&#13;&#10;  &lt;Box style={{ flexDirection: 'row', justifyContent: 'space-between', alignItems: 'center' }}&gt;&#13;&#10;    &lt;Text style={{ fontSize: 13, color: '#8A90A6', letterSpacing: 1 }}&gt;2026 武汉 1024 · 人工智能创新应用黑客松&lt;/Text&gt;&#13;&#10;    &lt;Text style={{ fontSize: 13, color: '#6C6CF5', fontWeight: 'bold', letterSpacing: 2 }}&gt;产业应用赛道&lt;/Text&gt;&#13;&#10;  &lt;/Box&gt;&#13;&#10;  &lt;Box style={{ flexDirection: 'column' }}&gt;&#13;&#10;    &lt;Text style={{ fontSize: 96, fontWeight: 'bold', color: '#F2F4FF', letterSpacing: -3 }}&gt;AI 掌柜&lt;/Text&gt;&#13;&#10;    &lt;Text style={{ fontSize: 30, color: '#F2F4FF', opacity: 0.82, marginTop: 6 }}&gt;中小餐饮经营 Agent&lt;/Text&gt;&#13;&#10;    &lt;Box style={{ width: 88, height: 4, background: '#6C6CF5', borderRadius: 2, marginTop: 20, marginBottom: 20 }} /&gt;&#13;&#10;    &lt;Text style={{ fontSize: 21, color: '#8A90A6', width: 820, lineHeight: 1.75 }}&gt;&#13;&#10;      不只告诉你哪里亏，还替你把账算平、把货备好、把菜单改对。&#13;&#10;    &lt;/Text&gt;&#13;&#10;  &lt;/Box&gt;&#13;&#10;  &lt;Box style={{ flexDirection: 'row', justifyContent: 'space-between', alignItems: 'flex-end' }}&gt;&#13;&#10;    &lt;Text style={{ fontSize: 14, color: '#8A90A6' }}&gt;演示门店 · 春归燕茶餐厅&lt;/Text&gt;&#13;&#10;    &lt;Text style={{ fontSize: 13, color: '#4A5064' }}&gt;01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武汉</a:t>
            </a: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人工智能创新应用黑客松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0648950" y="5334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C6CF5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2247900"/>
            <a:ext cx="108204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7200" b="1" spc="-225">
                <a:solidFill>
                  <a:srgbClr val="F2F4FF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85800" y="3943350"/>
            <a:ext cx="838200" cy="38100"/>
          </a:xfrm>
          <a:prstGeom prst="roundRect">
            <a:avLst>
              <a:gd name="adj" fmla="val 50000"/>
            </a:avLst>
          </a:prstGeom>
          <a:solidFill>
            <a:srgbClr val="6C6CF5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4171950"/>
            <a:ext cx="7810500" cy="4286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8A90A6"/>
                </a:solidFill>
                <a:latin typeface="Microsoft YaHei"/>
                <a:ea typeface="Microsoft YaHei"/>
              </a:rPr>
              <a:t>不只告诉你哪里亏，还替你把账算平、把货备好、把菜单改对。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616267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演示门店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春归燕茶餐厅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087100" y="61722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064"/>
                </a:solidFill>
                <a:latin typeface="Microsoft YaHei"/>
                <a:ea typeface="Microsoft YaHei"/>
              </a:rPr>
              <a:t>01 / 12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3409950"/>
            <a:ext cx="10820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>
                <a:solidFill>
                  <a:srgbClr val="F2F4FF">
                    <a:alpha val="82000"/>
                  </a:srgbClr>
                </a:solidFill>
                <a:latin typeface="Microsoft YaHei"/>
                <a:ea typeface="Microsoft YaHei"/>
              </a:rPr>
              <a:t>中小餐饮经营</a:t>
            </a:r>
            <a:r>
              <a:rPr lang="en-US" sz="2250">
                <a:solidFill>
                  <a:srgbClr val="F2F4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老板每天问的三个问题，现有工具一个都没回答&lt;/Text&gt;&#13;&#10;      &lt;Text style={{ fontSize: 15, color: '#8A90A6' }}&gt;不是缺报表，是缺结论和动作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20, height: 300 }}&gt;&#13;&#10;      &lt;Box style={{ flex: 1, background: '#141826', border: '1px solid #242A3D', borderRadius: 14, padding: 26, flexDirection: 'column', justifyContent: 'space-between' }}&gt;&#13;&#10;        &lt;Text style={{ fontSize: 56, fontWeight: 'bold', color: '#6C6CF5' }}&gt;01&lt;/Text&gt;&#13;&#10;        &lt;Text style={{ fontSize: 22, fontWeight: 'bold', color: '#F2F4FF' }}&gt;今天到底赚没赚&lt;/Text&gt;&#13;&#10;        &lt;Text style={{ fontSize: 15, color: '#8A90A6', lineHeight: 1.8 }}&gt;六张报表翻半小时，只知道跌了，&lt;br /&gt;不知道是人少了还是点便宜了。&lt;/Text&gt;&#13;&#10;      &lt;/Box&gt;&#13;&#10;      &lt;Box style={{ flex: 1, background: '#141826', border: '1px solid #242A3D', borderRadius: 14, padding: 26, flexDirection: 'column', justifyContent: 'space-between' }}&gt;&#13;&#10;        &lt;Text style={{ fontSize: 56, fontWeight: 'bold', color: '#6C6CF5' }}&gt;02&lt;/Text&gt;&#13;&#10;        &lt;Text style={{ fontSize: 22, fontWeight: 'bold', color: '#F2F4FF' }}&gt;明天该买多少&lt;/Text&gt;&#13;&#10;        &lt;Text style={{ fontSize: 15, color: '#8A90A6', lineHeight: 1.8 }}&gt;采购靠经验：缺货和压货同时发生，&lt;br /&gt;这套数据里 5 种食材只够 2 天。&lt;/Text&gt;&#13;&#10;      &lt;/Box&gt;&#13;&#10;      &lt;Box style={{ flex: 1, background: '#141826', border: '1px solid #242A3D', borderRadius: 14, padding: 26, flexDirection: 'column', justifyContent: 'space-between' }}&gt;&#13;&#10;        &lt;Text style={{ fontSize: 56, fontWeight: 'bold', color: '#6C6CF5' }}&gt;03&lt;/Text&gt;&#13;&#10;        &lt;Text style={{ fontSize: 22, fontWeight: 'bold', color: '#F2F4FF' }}&gt;哪道菜在赔钱&lt;/Text&gt;&#13;&#10;        &lt;Text style={{ fontSize: 15, color: '#8A90A6', lineHeight: 1.8 }}&gt;207 道菜只有 107 道算得清成本，&lt;br /&gt;卖得越多，可能亏得越多。&lt;/Text&gt;&#13;&#10;      &lt;/Box&gt;&#13;&#10;    &lt;/Box&gt;&#13;&#10;    &lt;Box style={{ marginTop: 34, paddingTop: 24, borderTop: '1px solid #242A3D', flexDirection: 'row', alignItems: 'center', gap: 16 }}&gt;&#13;&#10;      &lt;Box style={{ width: 6, height: 28, background: '#6C6CF5', borderRadius: 3 }} /&gt;&#13;&#10;      &lt;Text style={{ fontSize: 24, color: '#F2F4FF' }}&gt;中小餐饮不缺数据，缺一个&lt;Text style={{ fontSize: 24, fontWeight: 'bold', color: '#6C6CF5' }}&gt;能替他做决定&lt;/Text&gt;的角色。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2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6800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老板每天问的三个问题，现有工具一个都没回答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680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不是缺报表，是缺结论和动作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85800" y="1524000"/>
            <a:ext cx="3476625" cy="2857500"/>
          </a:xfrm>
          <a:prstGeom prst="roundRect">
            <a:avLst>
              <a:gd name="adj" fmla="val 4667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33450" y="1771650"/>
            <a:ext cx="2981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6C6CF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33450" y="2838450"/>
            <a:ext cx="2981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今天到底赚没赚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33450" y="3514725"/>
            <a:ext cx="2981325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六张报表翻半小时，只知道跌了，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不知道是人少了还是点便宜了。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352925" y="1524000"/>
            <a:ext cx="3486150" cy="2857500"/>
          </a:xfrm>
          <a:prstGeom prst="roundRect">
            <a:avLst>
              <a:gd name="adj" fmla="val 4667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600575" y="1771650"/>
            <a:ext cx="29908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6C6CF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600575" y="2838450"/>
            <a:ext cx="2990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明天该买多少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600575" y="3514725"/>
            <a:ext cx="299085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采购靠经验：缺货和压货同时发生，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这套数据里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种食材只够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天。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029575" y="1524000"/>
            <a:ext cx="3476625" cy="2857500"/>
          </a:xfrm>
          <a:prstGeom prst="roundRect">
            <a:avLst>
              <a:gd name="adj" fmla="val 4667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277225" y="1771650"/>
            <a:ext cx="29813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6C6CF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277225" y="2838450"/>
            <a:ext cx="2981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哪道菜在赔钱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277225" y="3514725"/>
            <a:ext cx="2981325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207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道菜只有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107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道算得清成本，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卖得越多，可能亏得越多。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4705350"/>
            <a:ext cx="10820400" cy="523875"/>
          </a:xfrm>
          <a:custGeom>
            <a:pathLst>
              <a:path w="1136" h="55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85800" y="49530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C6CF5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95350" y="49434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2F4FF"/>
                </a:solidFill>
                <a:latin typeface="Microsoft YaHei"/>
                <a:ea typeface="Microsoft YaHei"/>
              </a:rPr>
              <a:t>中小餐饮不缺数据，缺一个</a:t>
            </a:r>
            <a:r>
              <a:rPr lang="zh-CN" sz="1800">
                <a:solidFill>
                  <a:srgbClr val="F2F4FF"/>
                </a:solidFill>
                <a:latin typeface="Microsoft YaHei"/>
                <a:ea typeface="Microsoft YaHei"/>
              </a:rPr>
              <a:t>能替他做决定</a:t>
            </a:r>
            <a:r>
              <a:rPr lang="zh-CN" sz="1800">
                <a:solidFill>
                  <a:srgbClr val="F2F4FF"/>
                </a:solidFill>
                <a:latin typeface="Microsoft YaHei"/>
                <a:ea typeface="Microsoft YaHei"/>
              </a:rPr>
              <a:t>的角色。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08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分水岭不在图表，在「能不能动手」&lt;/Text&gt;&#13;&#10;      &lt;Text style={{ fontSize: 15, color: '#8A90A6' }}&gt;同样一份营收下滑，两条完全不同的处理路径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24, height: 330 }}&gt;&#13;&#10;      &lt;Box style={{ flex: 1, background: '#12141F', border: '1px solid #242A3D', borderRadius: 14, padding: 26 }}&gt;&#13;&#10;        &lt;Text style={{ fontSize: 13, color: '#4A5064', letterSpacing: 2 }}&gt;传统 BI / 经营看板&lt;/Text&gt;&#13;&#10;        &lt;Text style={{ fontSize: 26, fontWeight: 'bold', color: '#8A90A6', marginTop: 10 }}&gt;价值停在「知道」&lt;/Text&gt;&#13;&#10;        &lt;Box style={{ marginTop: 22, flexDirection: 'column', gap: 14 }}&gt;&#13;&#10;          &lt;Text style={{ fontSize: 16, color: '#8A90A6' }}&gt;看板 → 发现跌了&lt;/Text&gt;&#13;&#10;          &lt;Text style={{ fontSize: 16, color: '#8A90A6' }}&gt;→ 自己判断原因&lt;/Text&gt;&#13;&#10;          &lt;Text style={{ fontSize: 16, color: '#8A90A6' }}&gt;→ 自己打电话订货&lt;/Text&gt;&#13;&#10;          &lt;Text style={{ fontSize: 16, color: '#8A90A6' }}&gt;→ 一周后忘了复盘&lt;/Text&gt;&#13;&#10;        &lt;/Box&gt;&#13;&#10;      &lt;/Box&gt;&#13;&#10;      &lt;Box style={{ flex: 1, background: '#171A2E', border: '1px solid #6C6CF5', borderRadius: 14, padding: 26 }}&gt;&#13;&#10;        &lt;Text style={{ fontSize: 13, color: '#6C6CF5', letterSpacing: 2 }}&gt;AI 掌柜&lt;/Text&gt;&#13;&#10;        &lt;Text style={{ fontSize: 26, fontWeight: 'bold', color: '#F2F4FF', marginTop: 10 }}&gt;价值走到「改变」&lt;/Text&gt;&#13;&#10;        &lt;Box style={{ marginTop: 22, flexDirection: 'column', gap: 14 }}&gt;&#13;&#10;          &lt;Text style={{ fontSize: 16, color: '#F2F4FF' }}&gt;驾驶舱 → 3 件事 + 证据&lt;/Text&gt;&#13;&#10;          &lt;Text style={{ fontSize: 16, color: '#F2F4FF' }}&gt;→ 拆解成客流 / 客单价&lt;/Text&gt;&#13;&#10;          &lt;Text style={{ fontSize: 16, color: '#F2F4FF' }}&gt;→ 一键生成采购单并入库&lt;/Text&gt;&#13;&#10;          &lt;Text style={{ fontSize: 16, color: '#F2F4FF' }}&gt;→ 7 天后自动回填效果&lt;/Text&gt;&#13;&#10;        &lt;/Box&gt;&#13;&#10;      &lt;/Box&gt;&#13;&#10;    &lt;/Box&gt;&#13;&#10;    &lt;Box style={{ marginTop: 30, flexDirection: 'row', gap: 14 }}&gt;&#13;&#10;      &lt;Text style={{ fontSize: 15, color: '#8A90A6' }}&gt;三个关键词&lt;/Text&gt;&#13;&#10;      &lt;Text style={{ fontSize: 15, color: '#6C6CF5', fontWeight: 'bold' }}&gt;可执行 · 可追溯 · 可撤销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3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分水岭不在图表，在「能不能动手」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518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同样一份营收下滑，两条完全不同的处理路径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85800" y="1524000"/>
            <a:ext cx="5295900" cy="3143250"/>
          </a:xfrm>
          <a:prstGeom prst="roundRect">
            <a:avLst>
              <a:gd name="adj" fmla="val 4242"/>
            </a:avLst>
          </a:prstGeom>
          <a:solidFill>
            <a:srgbClr val="12141F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33450" y="1771650"/>
            <a:ext cx="480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传统</a:t>
            </a: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 BI /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经营看板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33450" y="2019300"/>
            <a:ext cx="480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8A90A6"/>
                </a:solidFill>
                <a:latin typeface="Microsoft YaHei"/>
                <a:ea typeface="Microsoft YaHei"/>
              </a:rPr>
              <a:t>价值停在「知道」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33450" y="253365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看板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发现跌了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33450" y="285750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自己判断原因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33450" y="318135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自己打电话订货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一周后忘了复盘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210300" y="1524000"/>
            <a:ext cx="5295900" cy="3143250"/>
          </a:xfrm>
          <a:prstGeom prst="roundRect">
            <a:avLst>
              <a:gd name="adj" fmla="val 4242"/>
            </a:avLst>
          </a:prstGeom>
          <a:solidFill>
            <a:srgbClr val="171A2E"/>
          </a:solidFill>
          <a:ln w="12700">
            <a:solidFill>
              <a:srgbClr val="6C6CF5"/>
            </a:solidFill>
            <a:prstDash val="solid"/>
          </a:ln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57950" y="1771650"/>
            <a:ext cx="480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6C6CF5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457950" y="2019300"/>
            <a:ext cx="480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2F4FF"/>
                </a:solidFill>
                <a:latin typeface="Microsoft YaHei"/>
                <a:ea typeface="Microsoft YaHei"/>
              </a:rPr>
              <a:t>价值走到「改变」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457950" y="253365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驾驶舱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3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件事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457950" y="285750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拆解成客流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57950" y="318135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一键生成采购单并入库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57950" y="3505200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→ 7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天后自动回填效果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5800" y="49530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三个关键词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533525" y="4953000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C6CF5"/>
                </a:solidFill>
                <a:latin typeface="Microsoft YaHei"/>
                <a:ea typeface="Microsoft YaHei"/>
              </a:rPr>
              <a:t>可执行</a:t>
            </a:r>
            <a:r>
              <a:rPr lang="en-US" sz="1125" b="1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6C6CF5"/>
                </a:solidFill>
                <a:latin typeface="Microsoft YaHei"/>
                <a:ea typeface="Microsoft YaHei"/>
              </a:rPr>
              <a:t>可追溯</a:t>
            </a:r>
            <a:r>
              <a:rPr lang="en-US" sz="1125" b="1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6C6CF5"/>
                </a:solidFill>
                <a:latin typeface="Microsoft YaHei"/>
                <a:ea typeface="Microsoft YaHei"/>
              </a:rPr>
              <a:t>可撤销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四块能力，缺一块都落不了地&lt;/Text&gt;&#13;&#10;      &lt;Text style={{ fontSize: 15, color: '#8A90A6' }}&gt;看得懂、算得准、动得了、说得清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18, height: 250 }}&gt;&#13;&#10;      &lt;Box style={{ flex: 1, background: '#141826', border: '1px solid #242A3D', borderRadius: 14, padding: 24 }}&gt;&#13;&#10;        &lt;Text style={{ fontSize: 20, fontWeight: 'bold', color: '#6C6CF5' }}&gt;看得懂&lt;/Text&gt;&#13;&#10;        &lt;Text style={{ fontSize: 15, color: '#F2F4FF', marginTop: 12, lineHeight: 1.75 }}&gt;营收 · 客流 · 毛利&lt;br /&gt;时段 · 翻台 · 会员结构&lt;/Text&gt;&#13;&#10;        &lt;Text style={{ fontSize: 13, color: '#8A90A6', marginTop: 16 }}&gt;180 天 / 6,803 单&lt;/Text&gt;&#13;&#10;      &lt;/Box&gt;&#13;&#10;      &lt;Box style={{ flex: 1, background: '#141826', border: '1px solid #242A3D', borderRadius: 14, padding: 24 }}&gt;&#13;&#10;        &lt;Text style={{ fontSize: 20, fontWeight: 'bold', color: '#6C6CF5' }}&gt;算得准&lt;/Text&gt;&#13;&#10;        &lt;Text style={{ fontSize: 15, color: '#F2F4FF', marginTop: 12, lineHeight: 1.75 }}&gt;指标唯一口径&lt;br /&gt;BOM 成本 · 三层预测 · 经营推演&lt;/Text&gt;&#13;&#10;        &lt;Text style={{ fontSize: 13, color: '#8A90A6', marginTop: 16 }}&gt;回测误差 22%（含异常周）&lt;/Text&gt;&#13;&#10;      &lt;/Box&gt;&#13;&#10;      &lt;Box style={{ flex: 1, background: '#141826', border: '1px solid #242A3D', borderRadius: 14, padding: 24 }}&gt;&#13;&#10;        &lt;Text style={{ fontSize: 20, fontWeight: 'bold', color: '#6C6CF5' }}&gt;动得了&lt;/Text&gt;&#13;&#10;        &lt;Text style={{ fontSize: 15, color: '#F2F4FF', marginTop: 12, lineHeight: 1.75 }}&gt;生成采购单 · 按毛利调价&lt;br /&gt;滞销菜设为主推&lt;/Text&gt;&#13;&#10;        &lt;Text style={{ fontSize: 13, color: '#8A90A6', marginTop: 16 }}&gt;3 类动作 · 全部可撤销&lt;/Text&gt;&#13;&#10;      &lt;/Box&gt;&#13;&#10;      &lt;Box style={{ flex: 1, background: '#141826', border: '1px solid #242A3D', borderRadius: 14, padding: 24 }}&gt;&#13;&#10;        &lt;Text style={{ fontSize: 20, fontWeight: 'bold', color: '#6C6CF5' }}&gt;说得清&lt;/Text&gt;&#13;&#10;        &lt;Text style={{ fontSize: 15, color: '#F2F4FF', marginTop: 12, lineHeight: 1.75 }}&gt;每条结论附证据 SQL&lt;br /&gt;操作留痕 · 一键回滚&lt;/Text&gt;&#13;&#10;        &lt;Text style={{ fontSize: 13, color: '#8A90A6', marginTop: 16 }}&gt;8 条越界语句 100% 拦截&lt;/Text&gt;&#13;&#10;      &lt;/Box&gt;&#13;&#10;    &lt;/Box&gt;&#13;&#10;    &lt;Box style={{ marginTop: 28, background: '#12141F', border: '1px solid #242A3D', borderRadius: 12, padding: '20px 24px', flexDirection: 'row', alignItems: 'center', gap: 18 }}&gt;&#13;&#10;      &lt;Text style={{ fontSize: 15, color: '#8A90A6', width: 110 }}&gt;串联起来&lt;/Text&gt;&#13;&#10;      &lt;Text style={{ fontSize: 17, color: '#F2F4FF' }}&gt;看到异常 → 算清原因 → 直接处理 → 留下证据，四步在同一屏里完成。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4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四块能力，缺一块都落不了地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看得懂、算得准、动得了、说得清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85800" y="1524000"/>
            <a:ext cx="2581275" cy="2381250"/>
          </a:xfrm>
          <a:prstGeom prst="roundRect">
            <a:avLst>
              <a:gd name="adj" fmla="val 5600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4400" y="1752600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C6CF5"/>
                </a:solidFill>
                <a:latin typeface="Microsoft YaHei"/>
                <a:ea typeface="Microsoft YaHei"/>
              </a:rPr>
              <a:t>看得懂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14400" y="2095500"/>
            <a:ext cx="2124075" cy="600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营收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客流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毛利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时段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翻台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会员结构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14400" y="28479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180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天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/ 6,803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438525" y="1524000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667125" y="1752600"/>
            <a:ext cx="2114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C6CF5"/>
                </a:solidFill>
                <a:latin typeface="Microsoft YaHei"/>
                <a:ea typeface="Microsoft YaHei"/>
              </a:rPr>
              <a:t>算得准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667125" y="2095500"/>
            <a:ext cx="2114550" cy="600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指标唯一口径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BOM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成本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三层预测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经营推演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667125" y="2847975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回测误差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22%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（含异常周）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181725" y="1524000"/>
            <a:ext cx="2581275" cy="2381250"/>
          </a:xfrm>
          <a:prstGeom prst="roundRect">
            <a:avLst>
              <a:gd name="adj" fmla="val 5600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10325" y="1752600"/>
            <a:ext cx="2124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C6CF5"/>
                </a:solidFill>
                <a:latin typeface="Microsoft YaHei"/>
                <a:ea typeface="Microsoft YaHei"/>
              </a:rPr>
              <a:t>动得了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410325" y="2095500"/>
            <a:ext cx="2124075" cy="600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生成采购单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按毛利调价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滞销菜设为主推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410325" y="28479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类动作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全部可撤销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934450" y="1524000"/>
            <a:ext cx="2571750" cy="2381250"/>
          </a:xfrm>
          <a:prstGeom prst="roundRect">
            <a:avLst>
              <a:gd name="adj" fmla="val 5600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163050" y="1752600"/>
            <a:ext cx="2114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C6CF5"/>
                </a:solidFill>
                <a:latin typeface="Microsoft YaHei"/>
                <a:ea typeface="Microsoft YaHei"/>
              </a:rPr>
              <a:t>说得清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163050" y="2095500"/>
            <a:ext cx="2114550" cy="6000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每条结论附证据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SQL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操作留痕</a:t>
            </a: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一键回滚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163050" y="2847975"/>
            <a:ext cx="2114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条越界语句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100%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拦截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85800" y="4171950"/>
            <a:ext cx="10820400" cy="581025"/>
          </a:xfrm>
          <a:prstGeom prst="roundRect">
            <a:avLst>
              <a:gd name="adj" fmla="val 19672"/>
            </a:avLst>
          </a:prstGeom>
          <a:solidFill>
            <a:srgbClr val="12141F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14400" y="43815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串联起来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133600" y="4362450"/>
            <a:ext cx="5153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2F4FF"/>
                </a:solidFill>
                <a:latin typeface="Microsoft YaHei"/>
                <a:ea typeface="Microsoft YaHei"/>
              </a:rPr>
              <a:t>看到异常</a:t>
            </a:r>
            <a:r>
              <a:rPr lang="en-US" sz="1275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2F4FF"/>
                </a:solidFill>
                <a:latin typeface="Microsoft YaHei"/>
                <a:ea typeface="Microsoft YaHei"/>
              </a:rPr>
              <a:t>算清原因</a:t>
            </a:r>
            <a:r>
              <a:rPr lang="en-US" sz="1275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2F4FF"/>
                </a:solidFill>
                <a:latin typeface="Microsoft YaHei"/>
                <a:ea typeface="Microsoft YaHei"/>
              </a:rPr>
              <a:t>直接处理</a:t>
            </a:r>
            <a:r>
              <a:rPr lang="en-US" sz="1275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2F4FF"/>
                </a:solidFill>
                <a:latin typeface="Microsoft YaHei"/>
                <a:ea typeface="Microsoft YaHei"/>
              </a:rPr>
              <a:t>留下证据，四步在同一屏里完成。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现场三分钟，只走一条路径&lt;/Text&gt;&#13;&#10;      &lt;Text style={{ fontSize: 15, color: '#8A90A6' }}&gt;上午 09:00，老板打开电脑后的真实操作顺序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16, height: 205 }}&gt;&#13;&#10;      &lt;Box style={{ flex: 1, background: '#141826', border: '1px solid #242A3D', borderRadius: 14, padding: 24, flexDirection: 'column', justifyContent: 'space-between' }}&gt;&#13;&#10;        &lt;Text style={{ fontSize: 12, color: '#6C6CF5', letterSpacing: 2 }}&gt;第 1 步 · 30 秒&lt;/Text&gt;&#13;&#10;        &lt;Text style={{ fontSize: 21, fontWeight: 'bold', color: '#F2F4FF', marginTop: 6 }}&gt;打开驾驶舱&lt;/Text&gt;&#13;&#10;        &lt;Text style={{ fontSize: 14, color: '#8A90A6', lineHeight: 1.8 }}&gt;只有 3 件事：&lt;br /&gt;营收跌 20%、3 道菜滞销、&lt;br /&gt;牛腩只够 1.5 天。&lt;/Text&gt;&#13;&#10;      &lt;/Box&gt;&#13;&#10;      &lt;Box style={{ flex: 1, background: '#141826', border: '1px solid #242A3D', borderRadius: 14, padding: 24, flexDirection: 'column', justifyContent: 'space-between' }}&gt;&#13;&#10;        &lt;Text style={{ fontSize: 12, color: '#6C6CF5', letterSpacing: 2 }}&gt;第 2 步 · 60 秒&lt;/Text&gt;&#13;&#10;        &lt;Text style={{ fontSize: 21, fontWeight: 'bold', color: '#F2F4FF', marginTop: 6 }}&gt;点「营收下滑」&lt;/Text&gt;&#13;&#10;        &lt;Text style={{ fontSize: 14, color: '#8A90A6', lineHeight: 1.8 }}&gt;拆成客流 −18%、客单价 −3%，&lt;br /&gt;结论：人少了，&lt;br /&gt;不是点便宜了。&lt;/Text&gt;&#13;&#10;      &lt;/Box&gt;&#13;&#10;      &lt;Box style={{ flex: 1, background: '#141826', border: '1px solid #242A3D', borderRadius: 14, padding: 24, flexDirection: 'column', justifyContent: 'space-between' }}&gt;&#13;&#10;        &lt;Text style={{ fontSize: 12, color: '#6C6CF5', letterSpacing: 2 }}&gt;第 3 步 · 60 秒&lt;/Text&gt;&#13;&#10;        &lt;Text style={{ fontSize: 21, fontWeight: 'bold', color: '#F2F4FF', marginTop: 6 }}&gt;点「缺货」&lt;/Text&gt;&#13;&#10;        &lt;Text style={{ fontSize: 14, color: '#8A90A6', lineHeight: 1.8 }}&gt;按 7 天用量生成采购单&lt;br /&gt;→ 确认入库&lt;br /&gt;→ 库存与流水同步。&lt;/Text&gt;&#13;&#10;      &lt;/Box&gt;&#13;&#10;    &lt;/Box&gt;&#13;&#10;    &lt;Box style={{ marginTop: 20, background: '#171A2E', border: '1px solid #6C6CF5', borderRadius: 14, padding: '20px 24px', flexDirection: 'row', alignItems: 'center', gap: 24 }}&gt;&#13;&#10;      &lt;Text style={{ fontSize: 13, color: '#6C6CF5', letterSpacing: 2, width: 132 }}&gt;加演 · 一句话&lt;/Text&gt;&#13;&#10;      &lt;Box style={{ flexDirection: 'column', gap: 6 }}&gt;&#13;&#10;        &lt;Text style={{ fontSize: 19, fontWeight: 'bold', color: '#F2F4FF' }}&gt;「明天 8 人宴席，人均 150」&lt;/Text&gt;&#13;&#10;        &lt;Text style={{ fontSize: 13, color: '#8A90A6' }}&gt;按中餐宴席结构排 10 道菜 → 一键成单 → 后厨立刻看到，可人工增减。&lt;/Text&gt;&#13;&#10;      &lt;/Box&gt;&#13;&#10;    &lt;/Box&gt;&#13;&#10;    &lt;Box style={{ marginTop: 20, paddingTop: 16, borderTop: '1px solid #242A3D', flexDirection: 'row', gap: 0 }}&gt;&#13;&#10;      &lt;Box style={{ flex: 1, flexDirection: 'column', gap: 3 }}&gt;&#13;&#10;        &lt;Text style={{ fontSize: 24, fontWeight: 'bold', color: '#F2F4FF' }}&gt;1 张&lt;/Text&gt;&#13;&#10;        &lt;Text style={{ fontSize: 12, color: '#8A90A6' }}&gt;采购单（7 项 / 2,757 元）&lt;/Text&gt;&#13;&#10;      &lt;/Box&gt;&#13;&#10;      &lt;Box style={{ flex: 1, flexDirection: 'column', gap: 3 }}&gt;&#13;&#10;        &lt;Text style={{ fontSize: 24, fontWeight: 'bold', color: '#F2F4FF' }}&gt;7 种&lt;/Text&gt;&#13;&#10;        &lt;Text style={{ fontSize: 12, color: '#8A90A6' }}&gt;食材库存与流水同步更新&lt;/Text&gt;&#13;&#10;      &lt;/Box&gt;&#13;&#10;      &lt;Box style={{ flex: 1, flexDirection: 'column', gap: 3 }}&gt;&#13;&#10;        &lt;Text style={{ fontSize: 24, fontWeight: 'bold', color: '#F2F4FF' }}&gt;3 条&lt;/Text&gt;&#13;&#10;        &lt;Text style={{ fontSize: 12, color: '#8A90A6' }}&gt;操作留痕，任何一条可回滚&lt;/Text&gt;&#13;&#10;      &lt;/Box&gt;&#13;&#10;      &lt;Box style={{ flex: 1.2, flexDirection: 'column', gap: 3 }}&gt;&#13;&#10;        &lt;Text style={{ fontSize: 24, fontWeight: 'bold', color: '#6C6CF5' }}&gt;0 次&lt;/Text&gt;&#13;&#10;        &lt;Text style={{ fontSize: 12, color: '#8A90A6' }}&gt;页面跳转 —— 决策与执行同屏&lt;/Text&gt;&#13;&#10;      &lt;/Box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5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现场三分钟，只走一条路径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上午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09:00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，老板打开电脑后的真实操作顺序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85800" y="1524000"/>
            <a:ext cx="3505200" cy="1952625"/>
          </a:xfrm>
          <a:prstGeom prst="roundRect">
            <a:avLst>
              <a:gd name="adj" fmla="val 6829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144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第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步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30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914400" y="2047875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4FF"/>
                </a:solidFill>
                <a:latin typeface="Microsoft YaHei"/>
                <a:ea typeface="Microsoft YaHei"/>
              </a:rPr>
              <a:t>打开驾驶舱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4400" y="2381250"/>
            <a:ext cx="304800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只有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件事：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营收跌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20%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道菜滞销、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牛腩只够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4343400" y="1524000"/>
            <a:ext cx="3505200" cy="1952625"/>
          </a:xfrm>
          <a:prstGeom prst="roundRect">
            <a:avLst>
              <a:gd name="adj" fmla="val 6829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720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第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步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60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72000" y="2047875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4FF"/>
                </a:solidFill>
                <a:latin typeface="Microsoft YaHei"/>
                <a:ea typeface="Microsoft YaHei"/>
              </a:rPr>
              <a:t>点「营收下滑」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72000" y="2381250"/>
            <a:ext cx="304800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拆成客流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−18%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、客单价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−3%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结论：人少了，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不是点便宜了。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001000" y="1524000"/>
            <a:ext cx="3505200" cy="1952625"/>
          </a:xfrm>
          <a:prstGeom prst="roundRect">
            <a:avLst>
              <a:gd name="adj" fmla="val 6829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2296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第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步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60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229600" y="2047875"/>
            <a:ext cx="3048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4FF"/>
                </a:solidFill>
                <a:latin typeface="Microsoft YaHei"/>
                <a:ea typeface="Microsoft YaHei"/>
              </a:rPr>
              <a:t>点「缺货」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229600" y="2381250"/>
            <a:ext cx="3048000" cy="8667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天用量生成采购单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确认入库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库存与流水同步。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85800" y="3667125"/>
            <a:ext cx="10820400" cy="809625"/>
          </a:xfrm>
          <a:prstGeom prst="roundRect">
            <a:avLst>
              <a:gd name="adj" fmla="val 16471"/>
            </a:avLst>
          </a:prstGeom>
          <a:solidFill>
            <a:srgbClr val="171A2E"/>
          </a:solidFill>
          <a:ln w="12700">
            <a:solidFill>
              <a:srgbClr val="6C6CF5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14400" y="400050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6C6CF5"/>
                </a:solidFill>
                <a:latin typeface="Microsoft YaHei"/>
                <a:ea typeface="Microsoft YaHei"/>
              </a:rPr>
              <a:t>加演</a:t>
            </a:r>
            <a:r>
              <a:rPr lang="en-US" sz="975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150">
                <a:solidFill>
                  <a:srgbClr val="6C6CF5"/>
                </a:solidFill>
                <a:latin typeface="Microsoft YaHei"/>
                <a:ea typeface="Microsoft YaHei"/>
              </a:rPr>
              <a:t>一句话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400300" y="3857625"/>
            <a:ext cx="3962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4FF"/>
                </a:solidFill>
                <a:latin typeface="Microsoft YaHei"/>
                <a:ea typeface="Microsoft YaHei"/>
              </a:rPr>
              <a:t>「明天</a:t>
            </a:r>
            <a:r>
              <a:rPr lang="en-US" sz="1425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425" b="1">
                <a:solidFill>
                  <a:srgbClr val="F2F4FF"/>
                </a:solidFill>
                <a:latin typeface="Microsoft YaHei"/>
                <a:ea typeface="Microsoft YaHei"/>
              </a:rPr>
              <a:t>人宴席，人均</a:t>
            </a:r>
            <a:r>
              <a:rPr lang="en-US" sz="1425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 150</a:t>
            </a:r>
            <a:r>
              <a:rPr lang="zh-CN" sz="1425" b="1">
                <a:solidFill>
                  <a:srgbClr val="F2F4FF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400300" y="4133850"/>
            <a:ext cx="396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按中餐宴席结构排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道菜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一键成单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后厨立刻看到，可人工增减。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4667250"/>
            <a:ext cx="10820400" cy="619125"/>
          </a:xfrm>
          <a:custGeom>
            <a:pathLst>
              <a:path w="1136" h="65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4829175"/>
            <a:ext cx="2571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800" b="1">
                <a:solidFill>
                  <a:srgbClr val="F2F4FF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85800" y="5133975"/>
            <a:ext cx="2571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采购单（</a:t>
            </a: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项</a:t>
            </a: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 / 2,757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元）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257550" y="4829175"/>
            <a:ext cx="2581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800" b="1">
                <a:solidFill>
                  <a:srgbClr val="F2F4FF"/>
                </a:solidFill>
                <a:latin typeface="Microsoft YaHei"/>
                <a:ea typeface="Microsoft YaHei"/>
              </a:rPr>
              <a:t>种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257550" y="5133975"/>
            <a:ext cx="2581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食材库存与流水同步更新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838825" y="4829175"/>
            <a:ext cx="2571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800" b="1">
                <a:solidFill>
                  <a:srgbClr val="F2F4FF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838825" y="5133975"/>
            <a:ext cx="2571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操作留痕，任何一条可回滚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410575" y="4829175"/>
            <a:ext cx="30956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6C6CF5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800" b="1">
                <a:solidFill>
                  <a:srgbClr val="6C6CF5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410575" y="5133975"/>
            <a:ext cx="3095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页面跳转</a:t>
            </a: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决策与执行同屏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四层架构：交易底座不动，决策层新建&lt;/Text&gt;&#13;&#10;      &lt;Text style={{ fontSize: 15, color: '#8A90A6' }}&gt;原有 4,294 行代码、42 个模板、190 项测试，全部作为底座继续跑&lt;/Text&gt;&#13;&#10;    &lt;/Box&gt;&#13;&#10;    &lt;Text style={{ fontSize: 13, color: '#4A5064', letterSpacing: 2 }}&gt;AI 掌柜&lt;/Text&gt;&#13;&#10;  &lt;/Box&gt;&#13;&#10;  &lt;Box style={{ flex: 1, paddingTop: 8 }}&gt;&#13;&#10;    &lt;Box style={{ flexDirection: 'column', gap: 14 }}&gt;&#13;&#10;      &lt;Box style={{ background: '#171A2E', border: '1px solid #6C6CF5', borderRadius: 10, padding: '22px 24px', flexDirection: 'row', alignItems: 'center' }}&gt;&#13;&#10;        &lt;Text style={{ fontSize: 13, color: '#6C6CF5', width: 100, letterSpacing: 1 }}&gt;决策界面&lt;/Text&gt;&#13;&#10;        &lt;Text style={{ fontSize: 16, color: '#F2F4FF' }}&gt;AI 驾驶舱 · 经营问答 · 洞察中心 · 采购单 · 四象限 · 预测备货&lt;/Text&gt;&#13;&#10;      &lt;/Box&gt;&#13;&#10;      &lt;Box style={{ background: '#141826', border: '1px solid #242A3D', borderRadius: 10, padding: '22px 24px', flexDirection: 'row', alignItems: 'center' }}&gt;&#13;&#10;        &lt;Text style={{ fontSize: 13, color: '#8A90A6', width: 100, letterSpacing: 1 }}&gt;AI 引擎&lt;/Text&gt;&#13;&#10;        &lt;Text style={{ fontSize: 16, color: '#F2F4FF' }}&gt;受控 NL2SQL · 6 类规则检测 · 三层分解预测 · 可执行工具&lt;/Text&gt;&#13;&#10;      &lt;/Box&gt;&#13;&#10;      &lt;Box style={{ background: '#141826', border: '1px solid #242A3D', borderRadius: 10, padding: '22px 24px', flexDirection: 'row', alignItems: 'center' }}&gt;&#13;&#10;        &lt;Text style={{ fontSize: 13, color: '#8A90A6', width: 100, letterSpacing: 1 }}&gt;指标层&lt;/Text&gt;&#13;&#10;        &lt;Text style={{ fontSize: 16, color: '#F2F4FF' }}&gt;唯一口径 metrics.py · 日粒度预聚合 ETL · 8 个只读语义视图&lt;/Text&gt;&#13;&#10;      &lt;/Box&gt;&#13;&#10;      &lt;Box style={{ background: '#12141F', border: '1px solid #242A3D', borderRadius: 10, padding: '22px 24px', flexDirection: 'row', alignItems: 'center' }}&gt;&#13;&#10;        &lt;Text style={{ fontSize: 13, color: '#4A5064', width: 100, letterSpacing: 1 }}&gt;交易底座&lt;/Text&gt;&#13;&#10;        &lt;Text style={{ fontSize: 16, color: '#8A90A6' }}&gt;点单 · 收银 · 会员 · BOM 配方 · 库存流水 · 预订（Flask + SQLite）&lt;/Text&gt;&#13;&#10;      &lt;/Box&gt;&#13;&#10;    &lt;/Box&gt;&#13;&#10;    &lt;Box style={{ marginTop: 24, flexDirection: 'row', gap: 18 }}&gt;&#13;&#10;      &lt;Box style={{ flex: 1, paddingTop: 14, borderTop: '1px solid #242A3D' }}&gt;&#13;&#10;        &lt;Text style={{ fontSize: 30, fontWeight: 'bold', color: '#6C6CF5' }}&gt;0&lt;/Text&gt;&#13;&#10;        &lt;Text style={{ fontSize: 13, color: '#8A90A6', marginTop: 4 }}&gt;新增第三方运行时依赖&lt;br /&gt;仅 Flask + waitress&lt;/Text&gt;&#13;&#10;      &lt;/Box&gt;&#13;&#10;      &lt;Box style={{ flex: 1, paddingTop: 14, borderTop: '1px solid #242A3D' }}&gt;&#13;&#10;        &lt;Text style={{ fontSize: 30, fontWeight: 'bold', color: '#6C6CF5' }}&gt;1.0s&lt;/Text&gt;&#13;&#10;        &lt;Text style={{ fontSize: 13, color: '#8A90A6', marginTop: 4 }}&gt;看板首屏&lt;br /&gt;180 天预聚合&lt;/Text&gt;&#13;&#10;      &lt;/Box&gt;&#13;&#10;      &lt;Box style={{ flex: 1, paddingTop: 14, borderTop: '1px solid #242A3D' }}&gt;&#13;&#10;        &lt;Text style={{ fontSize: 30, fontWeight: 'bold', color: '#6C6CF5' }}&gt;离线&lt;/Text&gt;&#13;&#10;        &lt;Text style={{ fontSize: 13, color: '#8A90A6', marginTop: 4 }}&gt;可跑：本地模型 / 规则降级&lt;br /&gt;不依赖 CDN 与外网&lt;/Text&gt;&#13;&#10;      &lt;/Box&gt;&#13;&#10;    &lt;/Box&gt;&#13;&#10;    &lt;Box style={{ marginTop: 20, paddingTop: 16, borderTop: '1px solid #242A3D', flexDirection: 'row', gap: 14 }}&gt;&#13;&#10;      &lt;Text style={{ fontSize: 13, color: '#6C6CF5', width: 76 }}&gt;选型取舍&lt;/Text&gt;&#13;&#10;      &lt;Text style={{ fontSize: 14, color: '#8A90A6', lineHeight: 1.7, flex: 1 }}&gt;&#13;&#10;        不引入 numpy / pandas / torch：门店电脑不是服务器，打包体积与启动速度比模型炫技重要；&#13;&#10;        SQLite 开启 WAL 后足以支撑店内 20 路并发点餐。&#13;&#10;      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6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四层架构：交易底座不动，决策层新建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550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原有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4,294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行代码、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42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个模板、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190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项测试，全部作为底座继续跑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152400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171A2E"/>
          </a:solidFill>
          <a:ln w="12700">
            <a:solidFill>
              <a:srgbClr val="6C6CF5"/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14400" y="1752600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决策界面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866900" y="173355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驾驶舱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经营问答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洞察中心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采购单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四象限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预测备货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226695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14400" y="2495550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866900" y="247650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受控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NL2SQL · 6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类规则检测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三层分解预测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可执行工具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85800" y="300990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14400" y="3238500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指标层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866900" y="3219450"/>
            <a:ext cx="406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唯一口径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metrics.py ·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日粒度预聚合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ETL · 8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个只读语义视图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85800" y="3752850"/>
            <a:ext cx="10820400" cy="609600"/>
          </a:xfrm>
          <a:prstGeom prst="roundRect">
            <a:avLst>
              <a:gd name="adj" fmla="val 15625"/>
            </a:avLst>
          </a:prstGeom>
          <a:solidFill>
            <a:srgbClr val="12141F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14400" y="3981450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A5064"/>
                </a:solidFill>
                <a:latin typeface="Microsoft YaHei"/>
                <a:ea typeface="Microsoft YaHei"/>
              </a:rPr>
              <a:t>交易底座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866900" y="3962400"/>
            <a:ext cx="4524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点单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收银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会员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BOM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配方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库存流水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预订（</a:t>
            </a:r>
            <a:r>
              <a:rPr lang="en-US" sz="1200">
                <a:solidFill>
                  <a:srgbClr val="8A90A6"/>
                </a:solidFill>
                <a:latin typeface="Microsoft YaHei"/>
                <a:ea typeface="Microsoft YaHei"/>
              </a:rPr>
              <a:t>Flask + SQLite</a:t>
            </a: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4591050"/>
            <a:ext cx="3495675" cy="838200"/>
          </a:xfrm>
          <a:custGeom>
            <a:pathLst>
              <a:path w="367" h="88">
                <a:moveTo>
                  <a:pt x="0" y="0"/>
                </a:moveTo>
                <a:lnTo>
                  <a:pt x="367" y="0"/>
                </a:lnTo>
                <a:lnTo>
                  <a:pt x="367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85800" y="4733925"/>
            <a:ext cx="3495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6C6CF5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5800" y="5114925"/>
            <a:ext cx="3495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新增第三方运行时依赖</a:t>
            </a:r>
            <a:endParaRPr/>
          </a:p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仅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Flask + waitress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352925" y="4591050"/>
            <a:ext cx="3486150" cy="838200"/>
          </a:xfrm>
          <a:custGeom>
            <a:pathLst>
              <a:path w="366" h="88">
                <a:moveTo>
                  <a:pt x="0" y="0"/>
                </a:moveTo>
                <a:lnTo>
                  <a:pt x="366" y="0"/>
                </a:lnTo>
                <a:lnTo>
                  <a:pt x="36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352925" y="4733925"/>
            <a:ext cx="3486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6C6CF5"/>
                </a:solidFill>
                <a:latin typeface="Microsoft YaHei"/>
                <a:ea typeface="Microsoft YaHei"/>
              </a:rPr>
              <a:t>1.0s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352925" y="5114925"/>
            <a:ext cx="3486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看板首屏</a:t>
            </a:r>
            <a:endParaRPr/>
          </a:p>
          <a:p>
            <a:pPr>
              <a:lnSpc>
                <a:spcPct val="10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180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天预聚合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8010525" y="4591050"/>
            <a:ext cx="3495675" cy="838200"/>
          </a:xfrm>
          <a:custGeom>
            <a:pathLst>
              <a:path w="367" h="88">
                <a:moveTo>
                  <a:pt x="0" y="0"/>
                </a:moveTo>
                <a:lnTo>
                  <a:pt x="367" y="0"/>
                </a:lnTo>
                <a:lnTo>
                  <a:pt x="367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10525" y="4733925"/>
            <a:ext cx="34956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6C6CF5"/>
                </a:solidFill>
                <a:latin typeface="Microsoft YaHei"/>
                <a:ea typeface="Microsoft YaHei"/>
              </a:rPr>
              <a:t>离线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010525" y="5114925"/>
            <a:ext cx="3495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可跑：本地模型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规则降级</a:t>
            </a:r>
            <a:endParaRPr/>
          </a:p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不依赖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CDN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与外网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85800" y="5610225"/>
            <a:ext cx="10820400" cy="447675"/>
          </a:xfrm>
          <a:custGeom>
            <a:pathLst>
              <a:path w="1136" h="47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85800" y="5772150"/>
            <a:ext cx="723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C6CF5"/>
                </a:solidFill>
                <a:latin typeface="Microsoft YaHei"/>
                <a:ea typeface="Microsoft YaHei"/>
              </a:rPr>
              <a:t>选型取舍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543050" y="5772150"/>
            <a:ext cx="996315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不引入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numpy / pandas / torch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：门店电脑不是服务器，打包体积与启动速度比模型炫技重要；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SQLite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开启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WAL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后足以支撑店内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路并发点餐。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5800" y="624840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115675" y="62484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20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敢让它查数，是因为它改不了数&lt;/Text&gt;&#13;&#10;      &lt;Text style={{ fontSize: 15, color: '#8A90A6' }}&gt;自然语言查数的五道闸 —— 对应评审的「稳定性与合规性」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26 }}&gt;&#13;&#10;      &lt;Box style={{ flex: 1.3, flexDirection: 'column', gap: 18 }}&gt;&#13;&#10;        &lt;Box style={{ flexDirection: 'row', gap: 16, alignItems: 'flex-start' }}&gt;&#13;&#10;          &lt;Text style={{ fontSize: 16, fontWeight: 'bold', color: '#6C6CF5', width: 34 }}&gt;01&lt;/Text&gt;&#13;&#10;          &lt;Box style={{ flexDirection: 'column', gap: 4 }}&gt;&#13;&#10;            &lt;Text style={{ fontSize: 19, color: '#F2F4FF' }}&gt;只读连接&lt;/Text&gt;&#13;&#10;            &lt;Text style={{ fontSize: 14, color: '#8A90A6' }}&gt;query_only=ON，数据库层面拒绝一切写操作&lt;/Text&gt;&#13;&#10;          &lt;/Box&gt;&#13;&#10;        &lt;/Box&gt;&#13;&#10;        &lt;Box style={{ flexDirection: 'row', gap: 16, alignItems: 'flex-start' }}&gt;&#13;&#10;          &lt;Text style={{ fontSize: 16, fontWeight: 'bold', color: '#6C6CF5', width: 34 }}&gt;02&lt;/Text&gt;&#13;&#10;          &lt;Box style={{ flexDirection: 'column', gap: 4 }}&gt;&#13;&#10;            &lt;Text style={{ fontSize: 19, color: '#F2F4FF' }}&gt;视图白名单&lt;/Text&gt;&#13;&#10;            &lt;Text style={{ fontSize: 14, color: '#8A90A6' }}&gt;只认 8 个 v_* 语义视图，读不到会员手机号与设置表&lt;/Text&gt;&#13;&#10;          &lt;/Box&gt;&#13;&#10;        &lt;/Box&gt;&#13;&#10;        &lt;Box style={{ flexDirection: 'row', gap: 16, alignItems: 'flex-start' }}&gt;&#13;&#10;          &lt;Text style={{ fontSize: 16, fontWeight: 'bold', color: '#6C6CF5', width: 34 }}&gt;03&lt;/Text&gt;&#13;&#10;          &lt;Box style={{ flexDirection: 'column', gap: 4 }}&gt;&#13;&#10;            &lt;Text style={{ fontSize: 19, color: '#F2F4FF' }}&gt;语法校验&lt;/Text&gt;&#13;&#10;            &lt;Text style={{ fontSize: 14, color: '#8A90A6' }}&gt;单条 SELECT；禁 DDL / DML / ATTACH / UNION / 系统表&lt;/Text&gt;&#13;&#10;          &lt;/Box&gt;&#13;&#10;        &lt;/Box&gt;&#13;&#10;        &lt;Box style={{ flexDirection: 'row', gap: 16, alignItems: 'flex-start' }}&gt;&#13;&#10;          &lt;Text style={{ fontSize: 16, fontWeight: 'bold', color: '#6C6CF5', width: 34 }}&gt;04&lt;/Text&gt;&#13;&#10;          &lt;Box style={{ flexDirection: 'column', gap: 4 }}&gt;&#13;&#10;            &lt;Text style={{ fontSize: 19, color: '#F2F4FF' }}&gt;强制约束&lt;/Text&gt;&#13;&#10;            &lt;Text style={{ fontSize: 14, color: '#8A90A6' }}&gt;自动补 LIMIT 500，6 秒超时中断，慢查询拖不死库&lt;/Text&gt;&#13;&#10;          &lt;/Box&gt;&#13;&#10;        &lt;/Box&gt;&#13;&#10;        &lt;Box style={{ flexDirection: 'row', gap: 16, alignItems: 'flex-start' }}&gt;&#13;&#10;          &lt;Text style={{ fontSize: 16, fontWeight: 'bold', color: '#6C6CF5', width: 34 }}&gt;05&lt;/Text&gt;&#13;&#10;          &lt;Box style={{ flexDirection: 'column', gap: 4 }}&gt;&#13;&#10;            &lt;Text style={{ fontSize: 19, color: '#F2F4FF' }}&gt;结果上限&lt;/Text&gt;&#13;&#10;            &lt;Text style={{ fontSize: 14, color: '#8A90A6' }}&gt;最多 500 行，不会把大结果集塞进模型上下文&lt;/Text&gt;&#13;&#10;          &lt;/Box&gt;&#13;&#10;        &lt;/Box&gt;&#13;&#10;      &lt;/Box&gt;&#13;&#10;      &lt;Box style={{ flex: 1, background: '#141826', border: '1px solid #242A3D', borderRadius: 14, padding: 26, flexDirection: 'column', justifyContent: 'space-between' }}&gt;&#13;&#10;        &lt;Box&gt;&#13;&#10;          &lt;Text style={{ fontSize: 13, color: '#8A90A6', letterSpacing: 1 }}&gt;自动化验证&lt;/Text&gt;&#13;&#10;          &lt;Text style={{ fontSize: 62, fontWeight: 'bold', color: '#6C6CF5', marginTop: 6 }}&gt;8 / 8&lt;/Text&gt;&#13;&#10;          &lt;Text style={{ fontSize: 15, color: '#F2F4FF', marginTop: 4 }}&gt;越界语句全部拦截&lt;/Text&gt;&#13;&#10;        &lt;/Box&gt;&#13;&#10;        &lt;Box style={{ flexDirection: 'column', gap: 6 }}&gt;&#13;&#10;          &lt;Text style={{ fontSize: 12, color: '#8A90A6' }}&gt;SELECT * FROM members&lt;/Text&gt;&#13;&#10;          &lt;Text style={{ fontSize: 12, color: '#8A90A6' }}&gt;DROP TABLE orders&lt;/Text&gt;&#13;&#10;          &lt;Text style={{ fontSize: 12, color: '#8A90A6' }}&gt;SELECT 1; DELETE FROM orders&lt;/Text&gt;&#13;&#10;          &lt;Text style={{ fontSize: 12, color: '#8A90A6' }}&gt;... UNION SELECT * FROM settings&lt;/Text&gt;&#13;&#10;          &lt;Text style={{ fontSize: 12, color: '#8A90A6' }}&gt;ATTACH / PRAGMA / sqlite_master&lt;/Text&gt;&#13;&#10;        &lt;/Box&gt;&#13;&#10;        &lt;Text style={{ fontSize: 12, color: '#6C6CF5' }}&gt;越界时先自动修复一轮 SQL，再失败才降级&lt;/Text&gt;&#13;&#10;      &lt;/Box&gt;&#13;&#10;    &lt;/Box&gt;&#13;&#10;    &lt;Box style={{ marginTop: 22, paddingTop: 18, borderTop: '1px solid #242A3D', flexDirection: 'row', gap: 16 }}&gt;&#13;&#10;      &lt;Box style={{ width: 5, height: 46, background: '#6C6CF5', borderRadius: 3 }} /&gt;&#13;&#10;      &lt;Text style={{ fontSize: 16, color: '#8A90A6', lineHeight: 1.75, flex: 1 }}&gt;&#13;&#10;        黑名单永远会被绕过。真正的安全来自两层：数据库层面拒绝写、语义视图看不到敏感表；&lt;br /&gt;&#13;&#10;        其余三道闸只是把越界请求挡在更早的地方，顺便给出人能看懂的拒绝理由。&#13;&#10;      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7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敢让它查数，是因为它改不了数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53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自然语言查数的五道闸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对应评审的「稳定性与合规性」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C6CF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62050" y="1524000"/>
            <a:ext cx="2762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F4FF"/>
                </a:solidFill>
                <a:latin typeface="Microsoft YaHei"/>
                <a:ea typeface="Microsoft YaHei"/>
              </a:rPr>
              <a:t>只读连接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62050" y="17811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query_only=ON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，数据库层面拒绝一切写操作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85800" y="21145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C6CF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62050" y="2114550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F4FF"/>
                </a:solidFill>
                <a:latin typeface="Microsoft YaHei"/>
                <a:ea typeface="Microsoft YaHei"/>
              </a:rPr>
              <a:t>视图白名单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62050" y="237172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只认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v_*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语义视图，读不到会员手机号与设置表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C6CF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62050" y="2705100"/>
            <a:ext cx="3562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F4FF"/>
                </a:solidFill>
                <a:latin typeface="Microsoft YaHei"/>
                <a:ea typeface="Microsoft YaHei"/>
              </a:rPr>
              <a:t>语法校验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62050" y="29622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单条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SELECT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；禁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DDL / DML / ATTACH / UNION /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系统表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85800" y="3295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C6CF5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62050" y="3295650"/>
            <a:ext cx="3057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F4FF"/>
                </a:solidFill>
                <a:latin typeface="Microsoft YaHei"/>
                <a:ea typeface="Microsoft YaHei"/>
              </a:rPr>
              <a:t>强制约束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62050" y="35528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自动补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LIMIT 500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秒超时中断，慢查询拖不死库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38862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6C6CF5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62050" y="3886200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2F4FF"/>
                </a:solidFill>
                <a:latin typeface="Microsoft YaHei"/>
                <a:ea typeface="Microsoft YaHei"/>
              </a:rPr>
              <a:t>结果上限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62050" y="4143375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最多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行，不会把大结果集塞进模型上下文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905625" y="1524000"/>
            <a:ext cx="4600575" cy="2781300"/>
          </a:xfrm>
          <a:prstGeom prst="roundRect">
            <a:avLst>
              <a:gd name="adj" fmla="val 479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153275" y="1771650"/>
            <a:ext cx="410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自动化验证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153275" y="1981200"/>
            <a:ext cx="41052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6C6CF5"/>
                </a:solidFill>
                <a:latin typeface="Microsoft YaHei"/>
                <a:ea typeface="Microsoft YaHei"/>
              </a:rPr>
              <a:t>8 / 8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153275" y="2733675"/>
            <a:ext cx="4105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越界语句全部拦截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153275" y="2943225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>SELECT * FROM members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153275" y="3143250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>DROP TABLE orders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153275" y="3343275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>SELECT 1; DELETE FROM orders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153275" y="3543300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>... UNION SELECT * FROM settings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153275" y="3743325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>ATTACH / PRAGMA / sqlite_master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153275" y="3914775"/>
            <a:ext cx="410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C6CF5"/>
                </a:solidFill>
                <a:latin typeface="Microsoft YaHei"/>
                <a:ea typeface="Microsoft YaHei"/>
              </a:rPr>
              <a:t>越界时先自动修复一轮</a:t>
            </a:r>
            <a:r>
              <a:rPr lang="en-US" sz="900">
                <a:solidFill>
                  <a:srgbClr val="6C6CF5"/>
                </a:solidFill>
                <a:latin typeface="Microsoft YaHei"/>
                <a:ea typeface="Microsoft YaHei"/>
              </a:rPr>
              <a:t xml:space="preserve"> SQL</a:t>
            </a:r>
            <a:r>
              <a:rPr lang="zh-CN" sz="900">
                <a:solidFill>
                  <a:srgbClr val="6C6CF5"/>
                </a:solidFill>
                <a:latin typeface="Microsoft YaHei"/>
                <a:ea typeface="Microsoft YaHei"/>
              </a:rPr>
              <a:t>，再失败才降级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85800" y="4514850"/>
            <a:ext cx="10820400" cy="838200"/>
          </a:xfrm>
          <a:custGeom>
            <a:pathLst>
              <a:path w="1136" h="88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85800" y="4695825"/>
            <a:ext cx="47625" cy="438150"/>
          </a:xfrm>
          <a:prstGeom prst="roundRect">
            <a:avLst>
              <a:gd name="adj" fmla="val 60000"/>
            </a:avLst>
          </a:prstGeom>
          <a:solidFill>
            <a:srgbClr val="6C6CF5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85825" y="4695825"/>
            <a:ext cx="10620375" cy="647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黑名单永远会被绕过。真正的安全来自两层：数据库层面拒绝写、语义视图看不到敏感表；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8A90A6"/>
                </a:solidFill>
                <a:latin typeface="Microsoft YaHei"/>
                <a:ea typeface="Microsoft YaHei"/>
              </a:rPr>
              <a:t>其余三道闸只是把越界请求挡在更早的地方，顺便给出人能看懂的拒绝理由。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5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AI 不会算错账，因为它不算账&lt;/Text&gt;&#13;&#10;      &lt;Text style={{ fontSize: 15, color: '#8A90A6' }}&gt;所有数字只有一个实现，模型只负责理解问题与组织语言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28, alignItems: 'center' }}&gt;&#13;&#10;      &lt;Box style={{ flexDirection: 'column', width: 380 }}&gt;&#13;&#10;        &lt;Text style={{ fontSize: 13, color: '#8A90A6', letterSpacing: 1 }}&gt;昨日营收（元）&lt;/Text&gt;&#13;&#10;        &lt;Text style={{ fontSize: 68, fontWeight: 'bold', color: '#F2F4FF', letterSpacing: -2 }}&gt;6,029.65&lt;/Text&gt;&#13;&#10;        &lt;Text style={{ fontSize: 13, color: '#8A90A6', marginTop: 6 }}&gt;同星期基线 8,024.45 · 低 24.8%&lt;/Text&gt;&#13;&#10;      &lt;/Box&gt;&#13;&#10;      &lt;Box style={{ flex: 1, flexDirection: 'column', gap: 10 }}&gt;&#13;&#10;        &lt;Text style={{ fontSize: 13, color: '#8A90A6' }}&gt;这个数字出现在三个地方，必须完全相等&lt;/Text&gt;&#13;&#10;        &lt;Box style={{ flexDirection: 'row', gap: 12 }}&gt;&#13;&#10;          &lt;Box style={{ flex: 1, background: '#141826', border: '1px solid #242A3D', borderRadius: 10, padding: 16 }}&gt;&#13;&#10;            &lt;Text style={{ fontSize: 15, color: '#F2F4FF' }}&gt;AI 驾驶舱&lt;/Text&gt;&#13;&#10;            &lt;Text style={{ fontSize: 12, color: '#8A90A6', marginTop: 6 }}&gt;KPI 卡片&lt;/Text&gt;&#13;&#10;          &lt;/Box&gt;&#13;&#10;          &lt;Box style={{ flex: 1, background: '#141826', border: '1px solid #242A3D', borderRadius: 10, padding: 16 }}&gt;&#13;&#10;            &lt;Text style={{ fontSize: 15, color: '#F2F4FF' }}&gt;营收报表&lt;/Text&gt;&#13;&#10;            &lt;Text style={{ fontSize: 12, color: '#8A90A6', marginTop: 6 }}&gt;按日汇总&lt;/Text&gt;&#13;&#10;          &lt;/Box&gt;&#13;&#10;          &lt;Box style={{ flex: 1, background: '#141826', border: '1px solid #242A3D', borderRadius: 10, padding: 16 }}&gt;&#13;&#10;            &lt;Text style={{ fontSize: 15, color: '#F2F4FF' }}&gt;AI 问答&lt;/Text&gt;&#13;&#10;            &lt;Text style={{ fontSize: 12, color: '#8A90A6', marginTop: 6 }}&gt;SQL 结果&lt;/Text&gt;&#13;&#10;          &lt;/Box&gt;&#13;&#10;        &lt;/Box&gt;&#13;&#10;      &lt;/Box&gt;&#13;&#10;    &lt;/Box&gt;&#13;&#10;    &lt;Box style={{ marginTop: 26, background: '#12141F', border: '1px solid #242A3D', borderRadius: 12, padding: 22 }}&gt;&#13;&#10;      &lt;Text style={{ fontSize: 12, color: '#4A5064', letterSpacing: 1 }}&gt;analytics / metrics.py&lt;/Text&gt;&#13;&#10;      &lt;Text style={{ fontSize: 14, color: '#8A90A6', marginTop: 10, lineHeight: 1.9 }}&gt;&#13;&#10;        def q_kpi(conn, d1, d2):&amp;nbsp;&amp;nbsp;&lt;span style={{ color: '#6C6CF5' }}&gt;# 全系统唯一的营收口径&lt;/span&gt;&lt;br /&gt;&#13;&#10;        &amp;nbsp;&amp;nbsp;revenue = SUM(final_amount) WHERE status='settled'&lt;br /&gt;&#13;&#10;        &amp;nbsp;&amp;nbsp;return dict(revenue=money(revenue), margin_rate=...)&#13;&#10;      &lt;/Text&gt;&#13;&#10;    &lt;/Box&gt;&#13;&#10;    &lt;Text style={{ fontSize: 14, color: '#8A90A6', marginTop: 16 }}&gt;数字由 SQL 算出，模型只写解读；结论必须引用 evidence，点开能看到原始 SQL。&lt;/Text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8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34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不会算错账，因为它不算账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所有数字只有一个实现，模型只负责理解问题与组织语言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昨日营收（元）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361950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 spc="-150">
                <a:solidFill>
                  <a:srgbClr val="F2F4FF"/>
                </a:solidFill>
                <a:latin typeface="Microsoft YaHei"/>
                <a:ea typeface="Microsoft YaHei"/>
              </a:rPr>
              <a:t>6,029.65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2514600"/>
            <a:ext cx="3619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同星期基线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8,024.45 ·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低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24.8%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572000" y="1638300"/>
            <a:ext cx="693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这个数字出现在三个地方，必须完全相等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572000" y="1885950"/>
            <a:ext cx="2238375" cy="676275"/>
          </a:xfrm>
          <a:prstGeom prst="roundRect">
            <a:avLst>
              <a:gd name="adj" fmla="val 1408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724400" y="203835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驾驶舱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724400" y="2266950"/>
            <a:ext cx="1933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KPI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卡片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924675" y="1885950"/>
            <a:ext cx="2228850" cy="676275"/>
          </a:xfrm>
          <a:prstGeom prst="roundRect">
            <a:avLst>
              <a:gd name="adj" fmla="val 1408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077075" y="2038350"/>
            <a:ext cx="192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营收报表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077075" y="2266950"/>
            <a:ext cx="1924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按日汇总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9267825" y="1885950"/>
            <a:ext cx="2238375" cy="676275"/>
          </a:xfrm>
          <a:prstGeom prst="roundRect">
            <a:avLst>
              <a:gd name="adj" fmla="val 14085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420225" y="2038350"/>
            <a:ext cx="1933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F2F4FF"/>
                </a:solidFill>
                <a:latin typeface="Microsoft YaHei"/>
                <a:ea typeface="Microsoft YaHei"/>
              </a:rPr>
              <a:t>问答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420225" y="2266950"/>
            <a:ext cx="1933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85800" y="2914650"/>
            <a:ext cx="10820400" cy="1571625"/>
          </a:xfrm>
          <a:prstGeom prst="roundRect">
            <a:avLst>
              <a:gd name="adj" fmla="val 7273"/>
            </a:avLst>
          </a:prstGeom>
          <a:solidFill>
            <a:srgbClr val="12141F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95350" y="3124200"/>
            <a:ext cx="10401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4A5064"/>
                </a:solidFill>
                <a:latin typeface="Microsoft YaHei"/>
                <a:ea typeface="Microsoft YaHei"/>
              </a:rPr>
              <a:t>analytics / metrics.py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95350" y="3362325"/>
            <a:ext cx="1040130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def q_kpi(conn, d1, d2):  </a:t>
            </a:r>
            <a:r>
              <a:rPr lang="en-US" sz="1050">
                <a:solidFill>
                  <a:srgbClr val="6C6CF5"/>
                </a:solidFill>
                <a:latin typeface="Microsoft YaHei"/>
                <a:ea typeface="Microsoft YaHei"/>
              </a:rPr>
              <a:t xml:space="preserve"># </a:t>
            </a:r>
            <a:r>
              <a:rPr lang="zh-CN" sz="1050">
                <a:solidFill>
                  <a:srgbClr val="6C6CF5"/>
                </a:solidFill>
                <a:latin typeface="Microsoft YaHei"/>
                <a:ea typeface="Microsoft YaHei"/>
              </a:rPr>
              <a:t>全系统唯一的营收口径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  revenue = SUM(final_amount) WHERE status='settled'</a:t>
            </a:r>
            <a:endParaRPr/>
          </a:p>
          <a:p>
            <a:pPr>
              <a:lnSpc>
                <a:spcPct val="190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  return dict(revenue=money(revenue), margin_rate=...)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1082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数字由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算出，模型只写解读；结论必须引用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evidence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，点开能看到原始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SQL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79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先算清代价，再谈智能&lt;/Text&gt;&#13;&#10;      &lt;Text style={{ fontSize: 15, color: '#8A90A6' }}&gt;左边是它在这套 180 天数据里真找出来的，右边是按建议执行后的测算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24 }}&gt;&#13;&#10;      &lt;Box style={{ flex: 1.15, flexDirection: 'column' }}&gt;&#13;&#10;        &lt;Text style={{ fontSize: 13, color: '#8A90A6', letterSpacing: 1 }}&gt;实测 · 系统自己发现的五件事&lt;/Text&gt;&#13;&#10;        &lt;Box style={{ marginTop: 14, flexDirection: 'column', gap: 0 }}&gt;&#13;&#10;          &lt;Box style={{ paddingTop: 12, paddingBottom: 12, borderTop: '1px solid #242A3D', flexDirection: 'row', alignItems: 'baseline' }}&gt;&#13;&#10;            &lt;Text style={{ fontSize: 26, fontWeight: 'bold', color: '#6C6CF5', width: 96 }}&gt;11.1%&lt;/Text&gt;&#13;&#10;            &lt;Text style={{ fontSize: 14, color: '#F2F4FF' }}&gt;近 7 天折扣率，比前 30 天的 8.8% 高 2.3 个点&lt;/Text&gt;&#13;&#10;          &lt;/Box&gt;&#13;&#10;          &lt;Box style={{ paddingTop: 12, paddingBottom: 12, borderTop: '1px solid #242A3D', flexDirection: 'row', alignItems: 'baseline' }}&gt;&#13;&#10;            &lt;Text style={{ fontSize: 26, fontWeight: 'bold', color: '#6C6CF5', width: 96 }}&gt;1,899&lt;/Text&gt;&#13;&#10;            &lt;Text style={{ fontSize: 14, color: '#F2F4FF' }}&gt;元 · 按原折扣水平本可少让的金额&lt;/Text&gt;&#13;&#10;          &lt;/Box&gt;&#13;&#10;          &lt;Box style={{ paddingTop: 12, paddingBottom: 12, borderTop: '1px solid #242A3D', flexDirection: 'row', alignItems: 'baseline' }}&gt;&#13;&#10;            &lt;Text style={{ fontSize: 26, fontWeight: 'bold', color: '#6C6CF5', width: 96 }}&gt;19 道&lt;/Text&gt;&#13;&#10;            &lt;Text style={{ fontSize: 14, color: '#F2F4FF' }}&gt;菜连续 3 天 0 销量，占在售 9.2%&lt;/Text&gt;&#13;&#10;          &lt;/Box&gt;&#13;&#10;          &lt;Box style={{ paddingTop: 12, paddingBottom: 12, borderTop: '1px solid #242A3D', flexDirection: 'row', alignItems: 'baseline' }}&gt;&#13;&#10;            &lt;Text style={{ fontSize: 26, fontWeight: 'bold', color: '#6C6CF5', width: 96 }}&gt;5 种&lt;/Text&gt;&#13;&#10;            &lt;Text style={{ fontSize: 14, color: '#F2F4FF' }}&gt;食材可支撑不足 2 天（基围虾只剩 1.5 天）&lt;/Text&gt;&#13;&#10;          &lt;/Box&gt;&#13;&#10;          &lt;Box style={{ paddingTop: 12, paddingBottom: 12, borderTop: '1px solid #242A3D', borderBottom: '1px solid #242A3D', flexDirection: 'row', alignItems: 'baseline' }}&gt;&#13;&#10;            &lt;Text style={{ fontSize: 26, fontWeight: 'bold', color: '#6C6CF5', width: 96 }}&gt;57.6%&lt;/Text&gt;&#13;&#10;            &lt;Text style={{ fontSize: 14, color: '#F2F4FF' }}&gt;近 30 天毛利率，比目标低 2.4 个点&lt;/Text&gt;&#13;&#10;          &lt;/Box&gt;&#13;&#10;        &lt;/Box&gt;&#13;&#10;      &lt;/Box&gt;&#13;&#10;      &lt;Box style={{ flex: 1, background: '#171A2E', border: '1px solid #6C6CF5', borderRadius: 14, padding: 30, flexDirection: 'column', gap: 18, justifyContent: 'flex-start' }}&gt;&#13;&#10;        &lt;Box style={{ flexDirection: 'column', gap: 6 }}&gt;&#13;&#10;          &lt;Text style={{ fontSize: 13, color: '#6C6CF5', letterSpacing: 1 }}&gt;测算 · 补齐这 2.4 个点&lt;/Text&gt;&#13;&#10;          &lt;Text style={{ fontSize: 56, fontWeight: 'bold', color: '#F2F4FF', letterSpacing: -1 }}&gt;+9.4&lt;span style={{ fontSize: 22 }}&gt; 万/年&lt;/span&gt;&lt;/Text&gt;&#13;&#10;          &lt;Text style={{ fontSize: 13, color: '#8A90A6' }}&gt;近 30 天营收 32.5 万 × 2.4pt × 12 个月&lt;/Text&gt;&#13;&#10;        &lt;/Box&gt;&#13;&#10;        &lt;Box style={{ flexDirection: 'column', gap: 8, marginTop: 6, paddingTop: 16, borderTop: '1px solid #3A3F63' }}&gt;&#13;&#10;          &lt;Text style={{ fontSize: 13, color: '#F2F4FF' }}&gt;怎么补：&lt;/Text&gt;&#13;&#10;          &lt;Text style={{ fontSize: 13, color: '#8A90A6', lineHeight: 1.8 }}&gt;① 3 道瘦狗菜调价 5%~15%&lt;br /&gt;② 19 道滞销菜组套餐或下架&lt;br /&gt;③ 折扣收回 2 个点&lt;/Text&gt;&#13;&#10;        &lt;/Box&gt;&#13;&#10;        &lt;Text style={{ fontSize: 11, color: '#6B6F8A', lineHeight: 1.6, marginTop: 4 }}&gt;&#13;&#10;          左列全部由 SQL 从 180 天数据算出，脚本可复现；右侧为按当前规模的线性测算，不是承诺值。&#13;&#10;        &lt;/Text&gt;&#13;&#10;      &lt;/Box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09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486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先算清代价，再谈智能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左边是它在这套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180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天数据里真找出来的，右边是按建议执行后的测算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566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实测</a:t>
            </a: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系统自己发现的五件事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85800" y="1809750"/>
            <a:ext cx="5667375" cy="552450"/>
          </a:xfrm>
          <a:custGeom>
            <a:pathLst>
              <a:path w="595" h="58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1933575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C6CF5"/>
                </a:solidFill>
                <a:latin typeface="Microsoft YaHei"/>
                <a:ea typeface="Microsoft YaHei"/>
              </a:rPr>
              <a:t>11.1%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600200" y="1933575"/>
            <a:ext cx="278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近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天折扣率，比前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天的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8.8%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高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2.3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85800" y="2352675"/>
            <a:ext cx="5667375" cy="552450"/>
          </a:xfrm>
          <a:custGeom>
            <a:pathLst>
              <a:path w="595" h="58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5800" y="2476500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C6CF5"/>
                </a:solidFill>
                <a:latin typeface="Microsoft YaHei"/>
                <a:ea typeface="Microsoft YaHei"/>
              </a:rPr>
              <a:t>1,899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600200" y="2476500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元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按原折扣水平本可少让的金额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85800" y="2895600"/>
            <a:ext cx="5667375" cy="552450"/>
          </a:xfrm>
          <a:custGeom>
            <a:pathLst>
              <a:path w="595" h="58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C6CF5"/>
                </a:solidFill>
                <a:latin typeface="Microsoft YaHei"/>
                <a:ea typeface="Microsoft YaHei"/>
              </a:rPr>
              <a:t xml:space="preserve">19 </a:t>
            </a:r>
            <a:r>
              <a:rPr lang="zh-CN" sz="1950" b="1">
                <a:solidFill>
                  <a:srgbClr val="6C6CF5"/>
                </a:solidFill>
                <a:latin typeface="Microsoft YaHei"/>
                <a:ea typeface="Microsoft YaHei"/>
              </a:rPr>
              <a:t>道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600200" y="3019425"/>
            <a:ext cx="2000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菜连续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销量，占在售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9.2%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85800" y="3438525"/>
            <a:ext cx="5667375" cy="552450"/>
          </a:xfrm>
          <a:custGeom>
            <a:pathLst>
              <a:path w="595" h="58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C6CF5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950" b="1">
                <a:solidFill>
                  <a:srgbClr val="6C6CF5"/>
                </a:solidFill>
                <a:latin typeface="Microsoft YaHei"/>
                <a:ea typeface="Microsoft YaHei"/>
              </a:rPr>
              <a:t>种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600200" y="3562350"/>
            <a:ext cx="2562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食材可支撑不足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天（基围虾只剩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天）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85800" y="3981450"/>
            <a:ext cx="5667375" cy="571500"/>
          </a:xfrm>
          <a:custGeom>
            <a:pathLst>
              <a:path w="595" h="60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685800" y="3981450"/>
            <a:ext cx="5667375" cy="571500"/>
          </a:xfrm>
          <a:custGeom>
            <a:pathLst>
              <a:path w="595" h="60">
                <a:moveTo>
                  <a:pt x="0" y="59"/>
                </a:moveTo>
                <a:lnTo>
                  <a:pt x="595" y="59"/>
                </a:lnTo>
                <a:lnTo>
                  <a:pt x="595" y="60"/>
                </a:lnTo>
                <a:lnTo>
                  <a:pt x="0" y="60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5800" y="4105275"/>
            <a:ext cx="914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C6CF5"/>
                </a:solidFill>
                <a:latin typeface="Microsoft YaHei"/>
                <a:ea typeface="Microsoft YaHei"/>
              </a:rPr>
              <a:t>57.6%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600200" y="4105275"/>
            <a:ext cx="210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近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天毛利率，比目标低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581775" y="1524000"/>
            <a:ext cx="4924425" cy="3686175"/>
          </a:xfrm>
          <a:prstGeom prst="roundRect">
            <a:avLst>
              <a:gd name="adj" fmla="val 3618"/>
            </a:avLst>
          </a:prstGeom>
          <a:solidFill>
            <a:srgbClr val="171A2E"/>
          </a:solidFill>
          <a:ln w="12700">
            <a:solidFill>
              <a:srgbClr val="6C6CF5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867525" y="180975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测算</a:t>
            </a: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补齐这</a:t>
            </a: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 2.4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867525" y="2019300"/>
            <a:ext cx="43529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 spc="-75">
                <a:solidFill>
                  <a:srgbClr val="F2F4FF"/>
                </a:solidFill>
                <a:latin typeface="Microsoft YaHei"/>
                <a:ea typeface="Microsoft YaHei"/>
              </a:rPr>
              <a:t>+9.4</a:t>
            </a:r>
            <a:r>
              <a:rPr lang="en-US" sz="1650" b="1" spc="-75">
                <a:solidFill>
                  <a:srgbClr val="F2F4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 spc="-75">
                <a:solidFill>
                  <a:srgbClr val="F2F4FF"/>
                </a:solidFill>
                <a:latin typeface="Microsoft YaHei"/>
                <a:ea typeface="Microsoft YaHei"/>
              </a:rPr>
              <a:t>万</a:t>
            </a:r>
            <a:r>
              <a:rPr lang="en-US" sz="1650" b="1" spc="-75">
                <a:solidFill>
                  <a:srgbClr val="F2F4FF"/>
                </a:solidFill>
                <a:latin typeface="Microsoft YaHei"/>
                <a:ea typeface="Microsoft YaHei"/>
              </a:rPr>
              <a:t>/</a:t>
            </a:r>
            <a:r>
              <a:rPr lang="zh-CN" sz="1650" b="1" spc="-75">
                <a:solidFill>
                  <a:srgbClr val="F2F4FF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67525" y="272415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近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天营收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32.5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万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× 2.4pt × 12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867525" y="3105150"/>
            <a:ext cx="4352925" cy="1209675"/>
          </a:xfrm>
          <a:custGeom>
            <a:pathLst>
              <a:path w="457" h="127">
                <a:moveTo>
                  <a:pt x="0" y="0"/>
                </a:moveTo>
                <a:lnTo>
                  <a:pt x="457" y="0"/>
                </a:lnTo>
                <a:lnTo>
                  <a:pt x="457" y="1"/>
                </a:lnTo>
                <a:lnTo>
                  <a:pt x="0" y="1"/>
                </a:lnTo>
                <a:close/>
              </a:path>
            </a:pathLst>
          </a:custGeom>
          <a:solidFill>
            <a:srgbClr val="3A3F63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867525" y="3267075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2F4FF"/>
                </a:solidFill>
                <a:latin typeface="Microsoft YaHei"/>
                <a:ea typeface="Microsoft YaHei"/>
              </a:rPr>
              <a:t>怎么补：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867525" y="3495675"/>
            <a:ext cx="4352925" cy="8096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① 3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道瘦狗菜调价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5%~15%</a:t>
            </a:r>
            <a:endParaRPr/>
          </a:p>
          <a:p>
            <a:pPr>
              <a:lnSpc>
                <a:spcPct val="18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② 19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道滞销菜组套餐或下架</a:t>
            </a:r>
            <a:endParaRPr/>
          </a:p>
          <a:p>
            <a:pPr>
              <a:lnSpc>
                <a:spcPct val="180000"/>
              </a:lnSpc>
            </a:pP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折扣收回</a:t>
            </a:r>
            <a:r>
              <a:rPr lang="en-US" sz="975">
                <a:solidFill>
                  <a:srgbClr val="8A90A6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867525" y="4514850"/>
            <a:ext cx="435292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25">
                <a:solidFill>
                  <a:srgbClr val="6B6F8A"/>
                </a:solidFill>
                <a:latin typeface="Microsoft YaHei"/>
                <a:ea typeface="Microsoft YaHei"/>
              </a:rPr>
              <a:t>左列全部由</a:t>
            </a:r>
            <a:r>
              <a:rPr lang="en-US" sz="825">
                <a:solidFill>
                  <a:srgbClr val="6B6F8A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825">
                <a:solidFill>
                  <a:srgbClr val="6B6F8A"/>
                </a:solidFill>
                <a:latin typeface="Microsoft YaHei"/>
                <a:ea typeface="Microsoft YaHei"/>
              </a:rPr>
              <a:t>从</a:t>
            </a:r>
            <a:r>
              <a:rPr lang="en-US" sz="825">
                <a:solidFill>
                  <a:srgbClr val="6B6F8A"/>
                </a:solidFill>
                <a:latin typeface="Microsoft YaHei"/>
                <a:ea typeface="Microsoft YaHei"/>
              </a:rPr>
              <a:t xml:space="preserve"> 180 </a:t>
            </a:r>
            <a:r>
              <a:rPr lang="zh-CN" sz="825">
                <a:solidFill>
                  <a:srgbClr val="6B6F8A"/>
                </a:solidFill>
                <a:latin typeface="Microsoft YaHei"/>
                <a:ea typeface="Microsoft YaHei"/>
              </a:rPr>
              <a:t>天数据算出，脚本可复现；右侧为按当前规模的线性测算，不是承诺值。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一家店跑通，才敢谈复制&lt;/Text&gt;&#13;&#10;      &lt;Text style={{ fontSize: 15, color: '#8A90A6' }}&gt;单店 → 连锁 → 产业带，每一步都靠同一套指标与工具&lt;/Text&gt;&#13;&#10;    &lt;/Box&gt;&#13;&#10;    &lt;Text style={{ fontSize: 13, color: '#4A5064', letterSpacing: 2 }}&gt;AI 掌柜&lt;/Text&gt;&#13;&#10;  &lt;/Box&gt;&#13;&#10;  &lt;Box style={{ flex: 1, paddingTop: 8 }}&gt;&#13;&#10;    &lt;Box style={{ flexDirection: 'row', gap: 16, height: 210 }}&gt;&#13;&#10;      &lt;Box style={{ flex: 1, background: '#171A2E', border: '1px solid #6C6CF5', borderRadius: 14, padding: 24 }}&gt;&#13;&#10;        &lt;Text style={{ fontSize: 12, color: '#6C6CF5', letterSpacing: 2 }}&gt;现在 · 单店&lt;/Text&gt;&#13;&#10;        &lt;Text style={{ fontSize: 22, fontWeight: 'bold', color: '#F2F4FF', marginTop: 10 }}&gt;跑通闭环&lt;/Text&gt;&#13;&#10;        &lt;Text style={{ fontSize: 14, color: '#8A90A6', marginTop: 10, lineHeight: 1.75 }}&gt;180 天数据 · 6,803 单&lt;br /&gt;AI 建议 → 执行 → 效果回流&lt;/Text&gt;&#13;&#10;      &lt;/Box&gt;&#13;&#10;      &lt;Box style={{ flex: 1, background: '#141826', border: '1px solid #242A3D', borderRadius: 14, padding: 24 }}&gt;&#13;&#10;        &lt;Text style={{ fontSize: 12, color: '#8A90A6', letterSpacing: 2 }}&gt;下一步 · 连锁&lt;/Text&gt;&#13;&#10;        &lt;Text style={{ fontSize: 22, fontWeight: 'bold', color: '#F2F4FF', marginTop: 10 }}&gt;门店对比&lt;/Text&gt;&#13;&#10;        &lt;Text style={{ fontSize: 14, color: '#8A90A6', marginTop: 10, lineHeight: 1.75 }}&gt;同一指标跨店比较&lt;br /&gt;找出「哪家店哪道菜不对」&lt;/Text&gt;&#13;&#10;      &lt;/Box&gt;&#13;&#10;      &lt;Box style={{ flex: 1, background: '#141826', border: '1px solid #242A3D', borderRadius: 14, padding: 24 }}&gt;&#13;&#10;        &lt;Text style={{ fontSize: 12, color: '#8A90A6', letterSpacing: 2 }}&gt;更远 · 产业带&lt;/Text&gt;&#13;&#10;        &lt;Text style={{ fontSize: 22, fontWeight: 'bold', color: '#F2F4FF', marginTop: 10 }}&gt;供应链协同&lt;/Text&gt;&#13;&#10;        &lt;Text style={{ fontSize: 14, color: '#8A90A6', marginTop: 10, lineHeight: 1.75 }}&gt;聚合采购需求&lt;br /&gt;用数据换议价权&lt;/Text&gt;&#13;&#10;      &lt;/Box&gt;&#13;&#10;    &lt;/Box&gt;&#13;&#10;    &lt;Box style={{ marginTop: 26, background: '#12141F', border: '1px solid #242A3D', borderRadius: 12, padding: '22px 26px', flexDirection: 'row', alignItems: 'center', gap: 18 }}&gt;&#13;&#10;      &lt;Text style={{ fontSize: 13, color: '#8A90A6', width: 96 }}&gt;数据飞轮&lt;/Text&gt;&#13;&#10;      &lt;Text style={{ fontSize: 16, color: '#F2F4FF' }}&gt;更多门店 → 更多真实经营样本 → 预测与阈值更准 → 建议更敢执行 → 更多门店愿意接入&lt;/Text&gt;&#13;&#10;    &lt;/Box&gt;&#13;&#10;    &lt;Box style={{ marginTop: 16, flexDirection: 'row', gap: 24 }}&gt;&#13;&#10;      &lt;Text style={{ fontSize: 13, color: '#4A5064' }}&gt;可复制性：换一套菜单与配方即可用于茶餐厅 / 快餐 / 火锅 / 烘焙，指标层与工具层不用改。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10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一家店跑通，才敢谈复制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单店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连锁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产业带，每一步都靠同一套指标与工具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85800" y="1524000"/>
            <a:ext cx="3505200" cy="2000250"/>
          </a:xfrm>
          <a:prstGeom prst="roundRect">
            <a:avLst>
              <a:gd name="adj" fmla="val 6667"/>
            </a:avLst>
          </a:prstGeom>
          <a:solidFill>
            <a:srgbClr val="171A2E"/>
          </a:solidFill>
          <a:ln w="12700">
            <a:solidFill>
              <a:srgbClr val="6C6CF5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144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现在</a:t>
            </a:r>
            <a:r>
              <a:rPr lang="en-US" sz="900" spc="150">
                <a:solidFill>
                  <a:srgbClr val="6C6C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spc="150">
                <a:solidFill>
                  <a:srgbClr val="6C6CF5"/>
                </a:solidFill>
                <a:latin typeface="Microsoft YaHei"/>
                <a:ea typeface="Microsoft YaHei"/>
              </a:rPr>
              <a:t>单店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14400" y="19907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跑通闭环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4400" y="2343150"/>
            <a:ext cx="3048000" cy="5619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180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天数据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6,803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单</a:t>
            </a:r>
            <a:endParaRPr/>
          </a:p>
          <a:p>
            <a:pPr>
              <a:lnSpc>
                <a:spcPct val="175000"/>
              </a:lnSpc>
            </a:pP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建议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执行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效果回流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343400" y="1524000"/>
            <a:ext cx="3505200" cy="2000250"/>
          </a:xfrm>
          <a:prstGeom prst="roundRect">
            <a:avLst>
              <a:gd name="adj" fmla="val 6667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5720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8A90A6"/>
                </a:solidFill>
                <a:latin typeface="Microsoft YaHei"/>
                <a:ea typeface="Microsoft YaHei"/>
              </a:rPr>
              <a:t>下一步</a:t>
            </a:r>
            <a:r>
              <a:rPr lang="en-US" sz="900" spc="15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spc="150">
                <a:solidFill>
                  <a:srgbClr val="8A90A6"/>
                </a:solidFill>
                <a:latin typeface="Microsoft YaHei"/>
                <a:ea typeface="Microsoft YaHei"/>
              </a:rPr>
              <a:t>连锁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572000" y="19907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门店对比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572000" y="2343150"/>
            <a:ext cx="3048000" cy="5619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同一指标跨店比较</a:t>
            </a:r>
            <a:endParaRPr/>
          </a:p>
          <a:p>
            <a:pPr>
              <a:lnSpc>
                <a:spcPct val="175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找出「哪家店哪道菜不对」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001000" y="1524000"/>
            <a:ext cx="3505200" cy="2000250"/>
          </a:xfrm>
          <a:prstGeom prst="roundRect">
            <a:avLst>
              <a:gd name="adj" fmla="val 6667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229600" y="175260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8A90A6"/>
                </a:solidFill>
                <a:latin typeface="Microsoft YaHei"/>
                <a:ea typeface="Microsoft YaHei"/>
              </a:rPr>
              <a:t>更远</a:t>
            </a:r>
            <a:r>
              <a:rPr lang="en-US" sz="900" spc="150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spc="150">
                <a:solidFill>
                  <a:srgbClr val="8A90A6"/>
                </a:solidFill>
                <a:latin typeface="Microsoft YaHei"/>
                <a:ea typeface="Microsoft YaHei"/>
              </a:rPr>
              <a:t>产业带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229600" y="199072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2F4FF"/>
                </a:solidFill>
                <a:latin typeface="Microsoft YaHei"/>
                <a:ea typeface="Microsoft YaHei"/>
              </a:rPr>
              <a:t>供应链协同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229600" y="2343150"/>
            <a:ext cx="3048000" cy="5619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聚合采购需求</a:t>
            </a:r>
            <a:endParaRPr/>
          </a:p>
          <a:p>
            <a:pPr>
              <a:lnSpc>
                <a:spcPct val="175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用数据换议价权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85800" y="37719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12141F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33450" y="40005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0A6"/>
                </a:solidFill>
                <a:latin typeface="Microsoft YaHei"/>
                <a:ea typeface="Microsoft YaHei"/>
              </a:rPr>
              <a:t>数据飞轮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019300" y="3981450"/>
            <a:ext cx="600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更多门店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更多真实经营样本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预测与阈值更准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建议更敢执行</a:t>
            </a:r>
            <a:r>
              <a:rPr lang="en-US" sz="1200">
                <a:solidFill>
                  <a:srgbClr val="F2F4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F2F4FF"/>
                </a:solidFill>
                <a:latin typeface="Microsoft YaHei"/>
                <a:ea typeface="Microsoft YaHei"/>
              </a:rPr>
              <a:t>更多门店愿意接入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508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064"/>
                </a:solidFill>
                <a:latin typeface="Microsoft YaHei"/>
                <a:ea typeface="Microsoft YaHei"/>
              </a:rPr>
              <a:t>可复制性：换一套菜单与配方即可用于茶餐厅</a:t>
            </a:r>
            <a:r>
              <a:rPr lang="en-US" sz="975">
                <a:solidFill>
                  <a:srgbClr val="4A506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A5064"/>
                </a:solidFill>
                <a:latin typeface="Microsoft YaHei"/>
                <a:ea typeface="Microsoft YaHei"/>
              </a:rPr>
              <a:t>快餐</a:t>
            </a:r>
            <a:r>
              <a:rPr lang="en-US" sz="975">
                <a:solidFill>
                  <a:srgbClr val="4A506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A5064"/>
                </a:solidFill>
                <a:latin typeface="Microsoft YaHei"/>
                <a:ea typeface="Microsoft YaHei"/>
              </a:rPr>
              <a:t>火锅</a:t>
            </a:r>
            <a:r>
              <a:rPr lang="en-US" sz="975">
                <a:solidFill>
                  <a:srgbClr val="4A506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4A5064"/>
                </a:solidFill>
                <a:latin typeface="Microsoft YaHei"/>
                <a:ea typeface="Microsoft YaHei"/>
              </a:rPr>
              <a:t>烘焙，指标层与工具层不用改。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主动说清楚：它现在还不能做什么&lt;/Text&gt;&#13;&#10;      &lt;Text style={{ fontSize: 15, color: '#8A90A6' }}&gt;边界写得越清楚，越敢把店交给它&lt;/Text&gt;&#13;&#10;    &lt;/Box&gt;&#13;&#10;    &lt;Text style={{ fontSize: 13, color: '#4A5064', letterSpacing: 2 }}&gt;AI 掌柜&lt;/Text&gt;&#13;&#10;  &lt;/Box&gt;&#13;&#10;  &lt;Box style={{ flex: 1, paddingTop: 8 }}&gt;&#13;&#10;    &lt;Box style={{ flexDirection: 'column', gap: 14 }}&gt;&#13;&#10;      &lt;Box style={{ flexDirection: 'row', gap: 16, alignItems: 'flex-start' }}&gt;&#13;&#10;        &lt;Text style={{ fontSize: 14, fontWeight: 'bold', color: '#6C6CF5', width: 30 }}&gt;01&lt;/Text&gt;&#13;&#10;        &lt;Box style={{ flexDirection: 'column', gap: 4 }}&gt;&#13;&#10;          &lt;Text style={{ fontSize: 18, color: '#F2F4FF' }}&gt;预测不是深度学习&lt;/Text&gt;&#13;&#10;          &lt;Text style={{ fontSize: 14, color: '#8A90A6' }}&gt;单店 180 天数据撑不起模型，用「水平 × 星期因子 × 趋势」三层分解，给区间比给点值更诚实。&lt;/Text&gt;&#13;&#10;        &lt;/Box&gt;&#13;&#10;      &lt;/Box&gt;&#13;&#10;      &lt;Box style={{ height: 1, background: '#242A3D' }} /&gt;&#13;&#10;      &lt;Box style={{ flexDirection: 'row', gap: 16, alignItems: 'flex-start' }}&gt;&#13;&#10;        &lt;Text style={{ fontSize: 14, fontWeight: 'bold', color: '#6C6CF5', width: 30 }}&gt;02&lt;/Text&gt;&#13;&#10;        &lt;Box style={{ flexDirection: 'column', gap: 4 }}&gt;&#13;&#10;          &lt;Text style={{ fontSize: 18, color: '#F2F4FF' }}&gt;调价单次不超过 15%&lt;/Text&gt;&#13;&#10;          &lt;Text style={{ fontSize: 14, color: '#8A90A6' }}&gt;成本加成算出来的价格往往卖不动；差额建议靠改配方或换供应商补，而不是一次涨到位。&lt;/Text&gt;&#13;&#10;        &lt;/Box&gt;&#13;&#10;      &lt;/Box&gt;&#13;&#10;      &lt;Box style={{ height: 1, background: '#242A3D' }} /&gt;&#13;&#10;      &lt;Box style={{ flexDirection: 'row', gap: 16, alignItems: 'flex-start' }}&gt;&#13;&#10;        &lt;Text style={{ fontSize: 14, fontWeight: 'bold', color: '#6C6CF5', width: 30 }}&gt;03&lt;/Text&gt;&#13;&#10;        &lt;Box style={{ flexDirection: 'column', gap: 4 }}&gt;&#13;&#10;          &lt;Text style={{ fontSize: 18, color: '#F2F4FF' }}&gt;采购建议未考虑起订量与在途&lt;/Text&gt;&#13;&#10;          &lt;Text style={{ fontSize: 14, color: '#8A90A6' }}&gt;当前按近 14 天日均消耗外推，接入供应商报价单后再补这一层。&lt;/Text&gt;&#13;&#10;        &lt;/Box&gt;&#13;&#10;      &lt;/Box&gt;&#13;&#10;      &lt;Box style={{ height: 1, background: '#242A3D' }} /&gt;&#13;&#10;      &lt;Box style={{ flexDirection: 'row', gap: 16, alignItems: 'flex-start' }}&gt;&#13;&#10;        &lt;Text style={{ fontSize: 14, fontWeight: 'bold', color: '#6C6CF5', width: 30 }}&gt;04&lt;/Text&gt;&#13;&#10;        &lt;Box style={{ flexDirection: 'column', gap: 4 }}&gt;&#13;&#10;          &lt;Text style={{ fontSize: 18, color: '#F2F4FF' }}&gt;局域网 HTTP，不直连公网&lt;/Text&gt;&#13;&#10;          &lt;Text style={{ fontSize: 14, color: '#8A90A6' }}&gt;面向店内使用；需要外网时前面加一层 HTTPS 反向代理，会员数据默认不出店。&lt;/Text&gt;&#13;&#10;        &lt;/Box&gt;&#13;&#10;      &lt;/Box&gt;&#13;&#10;    &lt;/Box&gt;&#13;&#10;    &lt;Box style={{ marginTop: 24, paddingTop: 20, borderTop: '1px solid #242A3D' }}&gt;&#13;&#10;      &lt;Text style={{ fontSize: 20, color: '#F2F4FF' }}&gt;知道自己不能做什么，才敢让你把&lt;Text style={{ fontSize: 20, fontWeight: 'bold', color: '#6C6CF5' }}&gt;钱&lt;/Text&gt;交给它。&lt;/Text&gt;&#13;&#10;    &lt;/Box&gt;&#13;&#10;  &lt;/Box&gt;&#13;&#10;  &lt;Box style={{ height: 36, flexDirection: 'row', justifyContent: 'space-between', alignItems: 'flex-end' }}&gt;&#13;&#10;    &lt;Text style={{ fontSize: 12, color: '#4A5064' }}&gt;2026 武汉 1024 · 产业应用赛道&lt;/Text&gt;&#13;&#10;    &lt;Text style={{ fontSize: 12, color: '#4A5064' }}&gt;11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主动说清楚：它现在还不能做什么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边界写得越清楚，越敢把店交给它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5800" y="15240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C6CF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23950" y="1524000"/>
            <a:ext cx="5743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2F4FF"/>
                </a:solidFill>
                <a:latin typeface="Microsoft YaHei"/>
                <a:ea typeface="Microsoft YaHei"/>
              </a:rPr>
              <a:t>预测不是深度学习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23950" y="1771650"/>
            <a:ext cx="574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单店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180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天数据撑不起模型，用「水平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星期因子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趋势」三层分解，给区间比给点值更诚实。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5800" y="2066925"/>
            <a:ext cx="10820400" cy="9525"/>
          </a:xfrm>
          <a:prstGeom prst="rect">
            <a:avLst/>
          </a:prstGeom>
          <a:solidFill>
            <a:srgbClr val="242A3D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22098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C6CF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23950" y="2209800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2F4FF"/>
                </a:solidFill>
                <a:latin typeface="Microsoft YaHei"/>
                <a:ea typeface="Microsoft YaHei"/>
              </a:rPr>
              <a:t>调价单次不超过</a:t>
            </a:r>
            <a:r>
              <a:rPr lang="en-US" sz="1350">
                <a:solidFill>
                  <a:srgbClr val="F2F4FF"/>
                </a:solidFill>
                <a:latin typeface="Microsoft YaHei"/>
                <a:ea typeface="Microsoft YaHei"/>
              </a:rPr>
              <a:t xml:space="preserve"> 15%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23950" y="245745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成本加成算出来的价格往往卖不动；差额建议靠改配方或换供应商补，而不是一次涨到位。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85800" y="2752725"/>
            <a:ext cx="10820400" cy="9525"/>
          </a:xfrm>
          <a:prstGeom prst="rect">
            <a:avLst/>
          </a:prstGeom>
          <a:solidFill>
            <a:srgbClr val="242A3D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2895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C6CF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3950" y="2895600"/>
            <a:ext cx="3838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2F4FF"/>
                </a:solidFill>
                <a:latin typeface="Microsoft YaHei"/>
                <a:ea typeface="Microsoft YaHei"/>
              </a:rPr>
              <a:t>采购建议未考虑起订量与在途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123950" y="3143250"/>
            <a:ext cx="3838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当前按近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天日均消耗外推，接入供应商报价单后再补这一层。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85800" y="3438525"/>
            <a:ext cx="10820400" cy="9525"/>
          </a:xfrm>
          <a:prstGeom prst="rect">
            <a:avLst/>
          </a:prstGeom>
          <a:solidFill>
            <a:srgbClr val="242A3D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35814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C6CF5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23950" y="3581400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2F4FF"/>
                </a:solidFill>
                <a:latin typeface="Microsoft YaHei"/>
                <a:ea typeface="Microsoft YaHei"/>
              </a:rPr>
              <a:t>局域网</a:t>
            </a:r>
            <a:r>
              <a:rPr lang="en-US" sz="1350">
                <a:solidFill>
                  <a:srgbClr val="F2F4FF"/>
                </a:solidFill>
                <a:latin typeface="Microsoft YaHei"/>
                <a:ea typeface="Microsoft YaHei"/>
              </a:rPr>
              <a:t xml:space="preserve"> HTTP</a:t>
            </a:r>
            <a:r>
              <a:rPr lang="zh-CN" sz="1350">
                <a:solidFill>
                  <a:srgbClr val="F2F4FF"/>
                </a:solidFill>
                <a:latin typeface="Microsoft YaHei"/>
                <a:ea typeface="Microsoft YaHei"/>
              </a:rPr>
              <a:t>，不直连公网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3950" y="3829050"/>
            <a:ext cx="477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面向店内使用；需要外网时前面加一层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 HTTPS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反向代理，会员数据默认不出店。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85800" y="4219575"/>
            <a:ext cx="10820400" cy="438150"/>
          </a:xfrm>
          <a:custGeom>
            <a:pathLst>
              <a:path w="1136" h="46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242A3D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4419600"/>
            <a:ext cx="1082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2F4FF"/>
                </a:solidFill>
                <a:latin typeface="Microsoft YaHei"/>
                <a:ea typeface="Microsoft YaHei"/>
              </a:rPr>
              <a:t>知道自己不能做什么，才敢让你把</a:t>
            </a:r>
            <a:r>
              <a:rPr lang="zh-CN" sz="1500">
                <a:solidFill>
                  <a:srgbClr val="F2F4FF"/>
                </a:solidFill>
                <a:latin typeface="Microsoft YaHei"/>
                <a:ea typeface="Microsoft YaHei"/>
              </a:rPr>
              <a:t>钱</a:t>
            </a:r>
            <a:r>
              <a:rPr lang="zh-CN" sz="1500">
                <a:solidFill>
                  <a:srgbClr val="F2F4FF"/>
                </a:solidFill>
                <a:latin typeface="Microsoft YaHei"/>
                <a:ea typeface="Microsoft YaHei"/>
              </a:rPr>
              <a:t>交给它。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武汉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15675" y="61817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1280, height: 720, background: '#0B0D14', padding: '56px 72px', flexDirection: 'column', justifyContent: 'space-between' }}&gt;&#13;&#10;  &lt;Box style={{ flexDirection: 'row', justifyContent: 'space-between', alignItems: 'center' }}&gt;&#13;&#10;    &lt;Text style={{ fontSize: 13, color: '#8A90A6', letterSpacing: 1 }}&gt;2026 武汉 1024 · 人工智能创新应用黑客松&lt;/Text&gt;&#13;&#10;    &lt;Text style={{ fontSize: 13, color: '#6C6CF5', fontWeight: 'bold', letterSpacing: 2 }}&gt;产业应用赛道&lt;/Text&gt;&#13;&#10;  &lt;/Box&gt;&#13;&#10;  &lt;Box style={{ flexDirection: 'column' }}&gt;&#13;&#10;    &lt;Text style={{ fontSize: 52, fontWeight: 'bold', color: '#F2F4FF', lineHeight: 1.35, width: 960 }}&gt;&#13;&#10;      让每个小店，&lt;br /&gt;都有一个不用发工资的掌柜。&#13;&#10;    &lt;/Text&gt;&#13;&#10;    &lt;Box style={{ width: 88, height: 4, background: '#6C6CF5', borderRadius: 2, marginTop: 26, marginBottom: 22 }} /&gt;&#13;&#10;    &lt;Text style={{ fontSize: 17, color: '#8A90A6', lineHeight: 1.8 }}&gt;&#13;&#10;      可执行 · 可追溯 · 可撤销 · 断网可用&#13;&#10;    &lt;/Text&gt;&#13;&#10;  &lt;/Box&gt;&#13;&#10;  &lt;Box style={{ flexDirection: 'row', justifyContent: 'space-between', alignItems: 'flex-end' }}&gt;&#13;&#10;    &lt;Box style={{ flexDirection: 'column', gap: 5 }}&gt;&#13;&#10;      &lt;Text style={{ fontSize: 14, color: '#F2F4FF' }}&gt;AI 掌柜 · 中小餐饮经营 Agent&lt;/Text&gt;&#13;&#10;      &lt;Text style={{ fontSize: 13, color: '#6C6CF5', fontWeight: 'bold' }}&gt;github.com/wsj20011001/ai-zhanggui&lt;/Text&gt;&#13;&#10;      &lt;Text style={{ fontSize: 12, color: '#8A90A6' }}&gt;管理端 admin / admin123 · 点餐端工号 1001 / 123456&lt;/Text&gt;&#13;&#10;    &lt;/Box&gt;&#13;&#10;    &lt;Text style={{ fontSize: 13, color: '#4A5064' }}&gt;12 / 12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武汉</a:t>
            </a:r>
            <a:r>
              <a:rPr lang="en-US" sz="975" spc="75">
                <a:solidFill>
                  <a:srgbClr val="8A90A6"/>
                </a:solidFill>
                <a:latin typeface="Microsoft YaHei"/>
                <a:ea typeface="Microsoft YaHei"/>
              </a:rPr>
              <a:t xml:space="preserve"> 1024 · </a:t>
            </a:r>
            <a:r>
              <a:rPr lang="zh-CN" sz="975" spc="75">
                <a:solidFill>
                  <a:srgbClr val="8A90A6"/>
                </a:solidFill>
                <a:latin typeface="Microsoft YaHei"/>
                <a:ea typeface="Microsoft YaHei"/>
              </a:rPr>
              <a:t>人工智能创新应用黑客松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648950" y="5334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6C6CF5"/>
                </a:solidFill>
                <a:latin typeface="Microsoft YaHei"/>
                <a:ea typeface="Microsoft YaHei"/>
              </a:rPr>
              <a:t>产业应用赛道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2000250"/>
            <a:ext cx="9144000" cy="1609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900" b="1">
                <a:solidFill>
                  <a:srgbClr val="F2F4FF"/>
                </a:solidFill>
                <a:latin typeface="Microsoft YaHei"/>
                <a:ea typeface="Microsoft YaHei"/>
              </a:rPr>
              <a:t>让每个小店，</a:t>
            </a:r>
            <a:endParaRPr/>
          </a:p>
          <a:p>
            <a:pPr>
              <a:lnSpc>
                <a:spcPct val="135000"/>
              </a:lnSpc>
            </a:pPr>
            <a:r>
              <a:rPr lang="zh-CN" sz="3900" b="1">
                <a:solidFill>
                  <a:srgbClr val="F2F4FF"/>
                </a:solidFill>
                <a:latin typeface="Microsoft YaHei"/>
                <a:ea typeface="Microsoft YaHei"/>
              </a:rPr>
              <a:t>都有一个不用发工资的掌柜。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85800" y="3857625"/>
            <a:ext cx="838200" cy="38100"/>
          </a:xfrm>
          <a:prstGeom prst="roundRect">
            <a:avLst>
              <a:gd name="adj" fmla="val 50000"/>
            </a:avLst>
          </a:prstGeom>
          <a:solidFill>
            <a:srgbClr val="6C6CF5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4105275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8A90A6"/>
                </a:solidFill>
                <a:latin typeface="Microsoft YaHei"/>
                <a:ea typeface="Microsoft YaHei"/>
              </a:rPr>
              <a:t>可执行</a:t>
            </a:r>
            <a:r>
              <a:rPr lang="en-US" sz="1275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0A6"/>
                </a:solidFill>
                <a:latin typeface="Microsoft YaHei"/>
                <a:ea typeface="Microsoft YaHei"/>
              </a:rPr>
              <a:t>可追溯</a:t>
            </a:r>
            <a:r>
              <a:rPr lang="en-US" sz="1275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0A6"/>
                </a:solidFill>
                <a:latin typeface="Microsoft YaHei"/>
                <a:ea typeface="Microsoft YaHei"/>
              </a:rPr>
              <a:t>可撤销</a:t>
            </a:r>
            <a:r>
              <a:rPr lang="en-US" sz="1275">
                <a:solidFill>
                  <a:srgbClr val="8A90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8A90A6"/>
                </a:solidFill>
                <a:latin typeface="Microsoft YaHei"/>
                <a:ea typeface="Microsoft YaHei"/>
              </a:rPr>
              <a:t>断网可用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577215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掌柜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2F4FF"/>
                </a:solidFill>
                <a:latin typeface="Microsoft YaHei"/>
                <a:ea typeface="Microsoft YaHei"/>
              </a:rPr>
              <a:t>中小餐饮经营</a:t>
            </a:r>
            <a:r>
              <a:rPr lang="en-US" sz="1050">
                <a:solidFill>
                  <a:srgbClr val="F2F4FF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5800" y="5981700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C6CF5"/>
                </a:solidFill>
                <a:latin typeface="Microsoft YaHei"/>
                <a:ea typeface="Microsoft YaHei"/>
              </a:rPr>
              <a:t>github.com/wsj20011001/ai-zhanggui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2876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管理端</a:t>
            </a: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 admin / admin123 · </a:t>
            </a:r>
            <a:r>
              <a:rPr lang="zh-CN" sz="900">
                <a:solidFill>
                  <a:srgbClr val="8A90A6"/>
                </a:solidFill>
                <a:latin typeface="Microsoft YaHei"/>
                <a:ea typeface="Microsoft YaHei"/>
              </a:rPr>
              <a:t>点餐端工号</a:t>
            </a:r>
            <a:r>
              <a:rPr lang="en-US" sz="900">
                <a:solidFill>
                  <a:srgbClr val="8A90A6"/>
                </a:solidFill>
                <a:latin typeface="Microsoft YaHei"/>
                <a:ea typeface="Microsoft YaHei"/>
              </a:rPr>
              <a:t xml:space="preserve"> 1001 / 123456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087100" y="61722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064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9" name="" descr="&lt;Slide style={{ width: 1280, height: 720, background: '#0B0D14', padding: '56px 72px', flexDirection: 'column' }}&gt;&#13;&#10;  &lt;Box style={{ height: 96, flexDirection: 'row', justifyContent: 'space-between', alignItems: 'flex-start' }}&gt;&#13;&#10;    &lt;Box style={{ flexDirection: 'column', gap: 8 }}&gt;&#13;&#10;      &lt;Text style={{ fontSize: 34, fontWeight: 'bold', color: '#F2F4FF' }}&gt;附录 A · 界面实拍（无美化）&lt;/Text&gt;&#13;&#10;      &lt;Text style={{ fontSize: 15, color: '#8A90A6' }}&gt;这是 1920 宽屏下直接截的图，不是设计稿&lt;/Text&gt;&#13;&#10;    &lt;/Box&gt;&#13;&#10;    &lt;Text style={{ fontSize: 13, color: '#4A5064', letterSpacing: 2 }}&gt;AI 掌柜&lt;/Text&gt;&#13;&#10;  &lt;/Box&gt;&#13;&#10;  &lt;Box style={{ flex: 1, paddingTop: 8, flexDirection: 'row', gap: 26 }}&gt;&#13;&#10;    &lt;Box style={{ flex: 1.75, background: '#141826', border: '1px solid #242A3D', borderRadius: 12, padding: 10, overflow: 'hidden' }}&gt;&#13;&#10;      &lt;Image src=&quot;assets/ui_dashboard.png&quot; style={{ width: '100%', height: '100%', objectFit: 'cover', objectPosition: 'left top', borderRadius: 8 }} /&gt;&#13;&#10;    &lt;/Box&gt;&#13;&#10;    &lt;Box style={{ flex: 1, flexDirection: 'column', gap: 18, paddingTop: 4 }}&gt;&#13;&#10;      &lt;Box style={{ flexDirection: 'column', gap: 6 }}&gt;&#13;&#10;        &lt;Text style={{ fontSize: 13, color: '#6C6CF5', letterSpacing: 1 }}&gt;01 首屏只有三件事&lt;/Text&gt;&#13;&#10;        &lt;Text style={{ fontSize: 14, color: '#8A90A6', lineHeight: 1.7 }}&gt;按影响金额排序，不是按模块罗列。老板看完就知道先干哪件。&lt;/Text&gt;&#13;&#10;      &lt;/Box&gt;&#13;&#10;      &lt;Box style={{ flexDirection: 'column', gap: 6 }}&gt;&#13;&#10;        &lt;Text style={{ fontSize: 13, color: '#6C6CF5', letterSpacing: 1 }}&gt;02 每条都带证据&lt;/Text&gt;&#13;&#10;        &lt;Text style={{ fontSize: 14, color: '#8A90A6', lineHeight: 1.7 }}&gt;灰底那行是指标、当前值、基线、阈值，机器可读，人也看得懂。&lt;/Text&gt;&#13;&#10;      &lt;/Box&gt;&#13;&#10;      &lt;Box style={{ flexDirection: 'column', gap: 6 }}&gt;&#13;&#10;        &lt;Text style={{ fontSize: 13, color: '#6C6CF5', letterSpacing: 1 }}&gt;03 右边是实时状态&lt;/Text&gt;&#13;&#10;        &lt;Text style={{ fontSize: 14, color: '#8A90A6', lineHeight: 1.7 }}&gt;模型通道（本地/云端/规则）、7 天预测与回测误差、待处理动作。&lt;/Text&gt;&#13;&#10;      &lt;/Box&gt;&#13;&#10;      &lt;Box style={{ flexDirection: 'column', gap: 6 }}&gt;&#13;&#10;        &lt;Text style={{ fontSize: 13, color: '#6C6CF5', letterSpacing: 1 }}&gt;04 按钮就是动作&lt;/Text&gt;&#13;&#10;        &lt;Text style={{ fontSize: 14, color: '#8A90A6', lineHeight: 1.7 }}&gt;「生成采购单」「执行调价」都不是跳转，点完当场改数据，可撤销。&lt;/Text&gt;&#13;&#10;      &lt;/Box&gt;&#13;&#10;    &lt;/Box&gt;&#13;&#10;  &lt;/Box&gt;&#13;&#10;  &lt;Box style={{ height: 36, flexDirection: 'row', justifyContent: 'space-between', alignItems: 'flex-end' }}&gt;&#13;&#10;    &lt;Text style={{ fontSize: 12, color: '#4A5064' }}&gt;演示数据：180 天 / 6,803 单（seed_demo.py 生成）&lt;/Text&gt;&#13;&#10;    &lt;Text style={{ fontSize: 12, color: '#4A5064' }}&gt;附录 A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D14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533400"/>
            <a:ext cx="423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附录</a:t>
            </a:r>
            <a:r>
              <a:rPr lang="en-US" sz="2550" b="1">
                <a:solidFill>
                  <a:srgbClr val="F2F4FF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2550" b="1">
                <a:solidFill>
                  <a:srgbClr val="F2F4FF"/>
                </a:solidFill>
                <a:latin typeface="Microsoft YaHei"/>
                <a:ea typeface="Microsoft YaHei"/>
              </a:rPr>
              <a:t>界面实拍（无美化）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1000125"/>
            <a:ext cx="423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这是</a:t>
            </a:r>
            <a:r>
              <a:rPr lang="en-US" sz="1125">
                <a:solidFill>
                  <a:srgbClr val="8A90A6"/>
                </a:solidFill>
                <a:latin typeface="Microsoft YaHei"/>
                <a:ea typeface="Microsoft YaHei"/>
              </a:rPr>
              <a:t xml:space="preserve"> 1920 </a:t>
            </a:r>
            <a:r>
              <a:rPr lang="zh-CN" sz="1125">
                <a:solidFill>
                  <a:srgbClr val="8A90A6"/>
                </a:solidFill>
                <a:latin typeface="Microsoft YaHei"/>
                <a:ea typeface="Microsoft YaHei"/>
              </a:rPr>
              <a:t>宽屏下直接截的图，不是设计稿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001375" y="5334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4A506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spc="150">
                <a:solidFill>
                  <a:srgbClr val="4A5064"/>
                </a:solidFill>
                <a:latin typeface="Microsoft YaHei"/>
                <a:ea typeface="Microsoft YaHei"/>
              </a:rPr>
              <a:t>掌柜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85800" y="1524000"/>
            <a:ext cx="6724650" cy="4457700"/>
          </a:xfrm>
          <a:prstGeom prst="roundRect">
            <a:avLst>
              <a:gd name="adj" fmla="val 2564"/>
            </a:avLst>
          </a:prstGeom>
          <a:solidFill>
            <a:srgbClr val="141826"/>
          </a:solidFill>
          <a:ln w="12700">
            <a:solidFill>
              <a:srgbClr val="242A3D"/>
            </a:solidFill>
            <a:prstDash val="solid"/>
          </a:ln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 r:embed="rId1"/>
          <a:srcRect l="0" t="11904" r="0" b="11904"/>
          <a:stretch>
            <a:fillRect/>
          </a:stretch>
        </p:blipFill>
        <p:spPr>
          <a:xfrm rot="0" flipH="0" flipV="0">
            <a:off x="781050" y="1619250"/>
            <a:ext cx="6534150" cy="4267200"/>
          </a:xfrm>
          <a:prstGeom prst="roundRect">
            <a:avLst>
              <a:gd name="adj" fmla="val 1786"/>
            </a:avLst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658100" y="1562100"/>
            <a:ext cx="3848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首屏只有三件事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58100" y="1771650"/>
            <a:ext cx="38481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按影响金额排序，不是按模块罗列。老板看完就知道先干哪件。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58100" y="2219325"/>
            <a:ext cx="3848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每条都带证据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658100" y="242887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灰底那行是指标、当前值、基线、阈值，机器可读，人也看得懂。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658100" y="3152775"/>
            <a:ext cx="3848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右边是实时状态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658100" y="336232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模型通道（本地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云端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规则）、</a:t>
            </a:r>
            <a:r>
              <a:rPr lang="en-US" sz="1050">
                <a:solidFill>
                  <a:srgbClr val="8A90A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天预测与回测误差、待处理动作。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658100" y="4086225"/>
            <a:ext cx="3848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C6CF5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975" spc="75">
                <a:solidFill>
                  <a:srgbClr val="6C6CF5"/>
                </a:solidFill>
                <a:latin typeface="Microsoft YaHei"/>
                <a:ea typeface="Microsoft YaHei"/>
              </a:rPr>
              <a:t>按钮就是动作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658100" y="429577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8A90A6"/>
                </a:solidFill>
                <a:latin typeface="Microsoft YaHei"/>
                <a:ea typeface="Microsoft YaHei"/>
              </a:rPr>
              <a:t>「生成采购单」「执行调价」都不是跳转，点完当场改数据，可撤销。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85800" y="6181725"/>
            <a:ext cx="2762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演示数据：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180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天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/ 6,803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单（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seed_demo.py </a:t>
            </a: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生成）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63300" y="61817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064"/>
                </a:solidFill>
                <a:latin typeface="Microsoft YaHei"/>
                <a:ea typeface="Microsoft YaHei"/>
              </a:rPr>
              <a:t>附录</a:t>
            </a:r>
            <a:r>
              <a:rPr lang="en-US" sz="900">
                <a:solidFill>
                  <a:srgbClr val="4A5064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2026-10-20T15:27:28Z</dcterms:created>
  <dcterms:modified xsi:type="dcterms:W3CDTF">2026-10-20T15:27:28Z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{"AIGC":{"Label":"1","ContentProducer":"00119111010856365494821B355","ProduceID":"01a157cfce967398988704bd72c4c958","ReservedCode1":"","ContentPropagator":"00119111010856365494821B355","PropagateID":"01a157cfce967398988704bd72c4c958","ReservedCode2":""}}</vt:lpwstr>
  </property>
</Properties>
</file>