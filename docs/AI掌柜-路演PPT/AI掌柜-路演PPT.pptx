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5" Type="http://schemas.openxmlformats.org/officeDocument/2006/relationships/notesMaster" Target="notesMasters/notesMaster1.xml" /><Relationship Id="rId14" Type="http://schemas.openxmlformats.org/officeDocument/2006/relationships/slide" Target="slides/slide14.xml" /><Relationship Id="rId17" Type="http://schemas.openxmlformats.org/officeDocument/2006/relationships/tableStyles" Target="tableStyles.xml" /><Relationship Id="rId16" Type="http://schemas.openxmlformats.org/officeDocument/2006/relationships/presProps" Target="presProp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8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最紧的食材只够 1.5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这套数据里最紧的食材只够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分水岭不在图表，在「能不能动手」&lt;/Text&gt;&#13;&#10;      &lt;Text style={{ fontSize: 15, color: '#5C6780' }}&gt;同样一份营收下滑，两条完全不同的处理路径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4, height: 330 }}&gt;&#13;&#10;      &lt;Box style={{ flex: 1, background: '#FBFCFE', border: '1px solid #E3E8F5', borderRadius: 14, padding: 26 }}&gt;&#13;&#10;        &lt;Text style={{ fontSize: 13, color: '#8A93A8', letterSpacing: 2 }}&gt;传统 BI / 经营看板&lt;/Text&gt;&#13;&#10;        &lt;Text style={{ fontSize: 26, fontWeight: 'bold', color: '#5C6780', marginTop: 10 }}&gt;价值停在「知道」&lt;/Text&gt;&#13;&#10;        &lt;Box style={{ marginTop: 22, flexDirection: 'column', gap: 14 }}&gt;&#13;&#10;          &lt;Text style={{ fontSize: 16, color: '#5C6780' }}&gt;看板 → 发现跌了&lt;/Text&gt;&#13;&#10;          &lt;Text style={{ fontSize: 16, color: '#5C6780' }}&gt;→ 自己判断原因&lt;/Text&gt;&#13;&#10;          &lt;Text style={{ fontSize: 16, color: '#5C6780' }}&gt;→ 自己打电话订货&lt;/Text&gt;&#13;&#10;          &lt;Text style={{ fontSize: 16, color: '#5C6780' }}&gt;→ 一周后忘了复盘&lt;/Text&gt;&#13;&#10;        &lt;/Box&gt;&#13;&#10;      &lt;/Box&gt;&#13;&#10;      &lt;Box style={{ flex: 1, background: '#EEF1FE', border: '1px solid #C9CDF6', borderRadius: 14, padding: 26 }}&gt;&#13;&#10;        &lt;Text style={{ fontSize: 13, color: '#4C4DDC', letterSpacing: 2 }}&gt;AI 掌柜&lt;/Text&gt;&#13;&#10;        &lt;Text style={{ fontSize: 26, fontWeight: 'bold', color: '#0C1222', marginTop: 10 }}&gt;价值走到「改变」&lt;/Text&gt;&#13;&#10;        &lt;Box style={{ marginTop: 22, flexDirection: 'column', gap: 14 }}&gt;&#13;&#10;          &lt;Text style={{ fontSize: 16, color: '#0C1222' }}&gt;驾驶舱 → 3 件事 + 证据&lt;/Text&gt;&#13;&#10;          &lt;Text style={{ fontSize: 16, color: '#0C1222' }}&gt;→ 拆解成客流 / 客单价&lt;/Text&gt;&#13;&#10;          &lt;Text style={{ fontSize: 16, color: '#0C1222' }}&gt;→ 一键生成采购单并入库&lt;/Text&gt;&#13;&#10;          &lt;Text style={{ fontSize: 16, color: '#0C1222' }}&gt;→ 7 天后自动回填效果&lt;/Text&gt;&#13;&#10;        &lt;/Box&gt;&#13;&#10;      &lt;/Box&gt;&#13;&#10;    &lt;/Box&gt;&#13;&#10;    &lt;Box style={{ marginTop: 28, background: '#EEF1FE', border: '1px solid #C9CDF6', borderRadius: 12, padding: '18px 24px', flexDirection: 'row', alignItems: 'center', gap: 12 }}&gt;&#13;&#10;      &lt;Text style={{ fontSize: 11, color: '#4C4DDC', fontWeight: 'bold', letterSpacing: 2, width: 96 }}&gt;同一条链路&lt;/Text&gt;&#13;&#10;      &lt;Text style={{ fontSize: 15, color: '#0C1222' }}&gt;发现异常&lt;/Text&gt;&#13;&#10;      &lt;Text style={{ fontSize: 15, color: '#9AA3BE' }}&gt;→&lt;/Text&gt;&#13;&#10;      &lt;Text style={{ fontSize: 15, color: '#0C1222' }}&gt;算清原因&lt;/Text&gt;&#13;&#10;      &lt;Text style={{ fontSize: 15, color: '#9AA3BE' }}&gt;→&lt;/Text&gt;&#13;&#10;      &lt;Text style={{ fontSize: 15, color: '#0C1222' }}&gt;动手执行&lt;/Text&gt;&#13;&#10;      &lt;Text style={{ fontSize: 15, color: '#9AA3BE' }}&gt;→&lt;/Text&gt;&#13;&#10;      &lt;Text style={{ fontSize: 15, color: '#0C1222' }}&gt;7 天后复核&lt;/Text&gt;&#13;&#10;      &lt;Text style={{ fontSize: 12, color: '#5C6780', marginLeft: 8 }}&gt;四步不换页面&lt;/Text&gt;&#13;&#10;    &lt;/Box&gt;&#13;&#10;    &lt;Box style={{ marginTop: 22, flexDirection: 'row', gap: 14 }}&gt;&#13;&#10;      &lt;Text style={{ fontSize: 15, color: '#5C6780' }}&gt;三个关键词&lt;/Text&gt;&#13;&#10;      &lt;Text style={{ fontSize: 15, color: '#4C4DDC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685800" y="5095875"/>
            <a:ext cx="10820400" cy="514350"/>
          </a:xfrm>
          <a:prstGeom prst="roundRect">
            <a:avLst>
              <a:gd name="adj" fmla="val 2222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5286375"/>
            <a:ext cx="914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同一条链路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943100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628900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886075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3571875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829050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514850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772025" y="52673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天后复核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667375" y="528637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四步不换页面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85800" y="581977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533525" y="581977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85800" y="619125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115675" y="61912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块能力，缺一块都落不了地&lt;/Text&gt;&#13;&#10;      &lt;Text style={{ fontSize: 15, color: '#5C6780' }}&gt;看得懂、算得准、动得了、说得清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8, height: 250 }}&gt;&#13;&#10;      &lt;Box style={{ flex: 1, background: '#FFFFFF', border: '1px solid #E3E8F5', borderRadius: 14, padding: 24 }}&gt;&#13;&#10;        &lt;Text style={{ fontSize: 20, fontWeight: 'bold', color: '#4C4DDC' }}&gt;看得懂&lt;/Text&gt;&#13;&#10;        &lt;Text style={{ fontSize: 15, color: '#0C1222', marginTop: 12, lineHeight: 1.75 }}&gt;营收 · 客流 · 毛利&lt;br /&gt;时段 · 翻台 · 会员结构&lt;/Text&gt;&#13;&#10;        &lt;Text style={{ fontSize: 13, color: '#5C6780', marginTop: 16 }}&gt;180 天 / 6,803 单&lt;/Text&gt;&#13;&#10;      &lt;/Box&gt;&#13;&#10;      &lt;Box style={{ flex: 1, background: '#FFFFFF', border: '1px solid #E3E8F5', borderRadius: 14, padding: 24 }}&gt;&#13;&#10;        &lt;Text style={{ fontSize: 20, fontWeight: 'bold', color: '#4C4DDC' }}&gt;算得准&lt;/Text&gt;&#13;&#10;        &lt;Text style={{ fontSize: 15, color: '#0C1222', marginTop: 12, lineHeight: 1.75 }}&gt;指标唯一口径&lt;br /&gt;BOM 成本 · 三层预测 · 经营推演&lt;/Text&gt;&#13;&#10;        &lt;Text style={{ fontSize: 13, color: '#5C6780', marginTop: 16 }}&gt;回测误差约 30%（含异常周）&lt;/Text&gt;&#13;&#10;      &lt;/Box&gt;&#13;&#10;      &lt;Box style={{ flex: 1, background: '#FFFFFF', border: '1px solid #E3E8F5', borderRadius: 14, padding: 24 }}&gt;&#13;&#10;        &lt;Text style={{ fontSize: 20, fontWeight: 'bold', color: '#4C4DDC' }}&gt;动得了&lt;/Text&gt;&#13;&#10;        &lt;Text style={{ fontSize: 15, color: '#0C1222', marginTop: 12, lineHeight: 1.75 }}&gt;生成采购单 · 按毛利调价&lt;br /&gt;滞销菜设为主推&lt;/Text&gt;&#13;&#10;        &lt;Text style={{ fontSize: 13, color: '#5C6780', marginTop: 16 }}&gt;3 类动作 · 全部可撤销&lt;/Text&gt;&#13;&#10;      &lt;/Box&gt;&#13;&#10;      &lt;Box style={{ flex: 1, background: '#FFFFFF', border: '1px solid #E3E8F5', borderRadius: 14, padding: 24 }}&gt;&#13;&#10;        &lt;Text style={{ fontSize: 20, fontWeight: 'bold', color: '#4C4DDC' }}&gt;说得清&lt;/Text&gt;&#13;&#10;        &lt;Text style={{ fontSize: 15, color: '#0C1222', marginTop: 12, lineHeight: 1.75 }}&gt;每条结论附证据 SQL&lt;br /&gt;操作留痕 · 一键回滚&lt;/Text&gt;&#13;&#10;        &lt;Text style={{ fontSize: 13, color: '#5C6780', marginTop: 16 }}&gt;8 条越界语句 100% 拦截&lt;/Text&gt;&#13;&#10;      &lt;/Box&gt;&#13;&#10;    &lt;/Box&gt;&#13;&#10;    &lt;Box style={{ marginTop: 28, background: '#FBFCFE', border: '1px solid #E3E8F5', borderRadius: 12, padding: '20px 24px', flexDirection: 'row', alignItems: 'center', gap: 18 }}&gt;&#13;&#10;      &lt;Text style={{ fontSize: 15, color: '#5C6780', width: 110 }}&gt;串联起来&lt;/Text&gt;&#13;&#10;      &lt;Text style={{ fontSize: 17, color: '#0C1222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回测误差约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3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层架构：交易底座不动，决策层新建&lt;/Text&gt;&#13;&#10;      &lt;Text style={{ fontSize: 15, color: '#5C6780' }}&gt;原有 4,294 行代码、42 个模板、190 项测试，全部作为底座继续跑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column', gap: 14 }}&gt;&#13;&#10;      &lt;Box style={{ background: '#EEF1FE', border: '1px solid #C9CDF6', borderRadius: 10, padding: '22px 24px', flexDirection: 'row', alignItems: 'center' }}&gt;&#13;&#10;        &lt;Text style={{ fontSize: 13, color: '#4C4DDC', width: 100, letterSpacing: 1 }}&gt;决策界面&lt;/Text&gt;&#13;&#10;        &lt;Text style={{ fontSize: 16, color: '#0C1222' }}&gt;AI 驾驶舱 · 经营问答 · 洞察中心 · 采购单 · 四象限 · 预测备货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AI 引擎&lt;/Text&gt;&#13;&#10;        &lt;Text style={{ fontSize: 16, color: '#0C1222' }}&gt;受控 NL2SQL · 6 类规则检测 · 三层分解预测 · 可执行工具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指标层&lt;/Text&gt;&#13;&#10;        &lt;Text style={{ fontSize: 16, color: '#0C1222' }}&gt;唯一口径 metrics.py · 日粒度预聚合 ETL · 8 个只读语义视图&lt;/Text&gt;&#13;&#10;      &lt;/Box&gt;&#13;&#10;      &lt;Box style={{ background: '#FBFCFE', border: '1px solid #E3E8F5', borderRadius: 10, padding: '22px 24px', flexDirection: 'row', alignItems: 'center' }}&gt;&#13;&#10;        &lt;Text style={{ fontSize: 13, color: '#8A93A8', width: 100, letterSpacing: 1 }}&gt;交易底座&lt;/Text&gt;&#13;&#10;        &lt;Text style={{ fontSize: 16, color: '#5C6780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E3E8F5' }}&gt;&#13;&#10;        &lt;Text style={{ fontSize: 30, fontWeight: 'bold', color: '#4C4DDC' }}&gt;0&lt;/Text&gt;&#13;&#10;        &lt;Text style={{ fontSize: 13, color: '#5C6780', marginTop: 4 }}&gt;新增第三方运行时依赖&lt;br /&gt;仅 Flask + waitress&lt;/Text&gt;&#13;&#10;      &lt;/Box&gt;&#13;&#10;      &lt;Box style={{ flex: 1, paddingTop: 14, borderTop: '1px solid #E3E8F5' }}&gt;&#13;&#10;        &lt;Text style={{ fontSize: 30, fontWeight: 'bold', color: '#4C4DDC' }}&gt;1.0s&lt;/Text&gt;&#13;&#10;        &lt;Text style={{ fontSize: 13, color: '#5C6780', marginTop: 4 }}&gt;看板首屏&lt;br /&gt;180 天预聚合&lt;/Text&gt;&#13;&#10;      &lt;/Box&gt;&#13;&#10;      &lt;Box style={{ flex: 1, paddingTop: 14, borderTop: '1px solid #E3E8F5' }}&gt;&#13;&#10;        &lt;Text style={{ fontSize: 30, fontWeight: 'bold', color: '#4C4DDC' }}&gt;离线&lt;/Text&gt;&#13;&#10;        &lt;Text style={{ fontSize: 13, color: '#5C6780', marginTop: 4 }}&gt;可跑：本地模型 / 规则降级&lt;br /&gt;不依赖 CDN 与外网&lt;/Text&gt;&#13;&#10;      &lt;/Box&gt;&#13;&#10;    &lt;/Box&gt;&#13;&#10;    &lt;Box style={{ marginTop: 20, paddingTop: 16, borderTop: '1px solid #E3E8F5', flexDirection: 'row', gap: 14 }}&gt;&#13;&#10;      &lt;Text style={{ fontSize: 13, color: '#4C4DDC', width: 76 }}&gt;选型取舍&lt;/Text&gt;&#13;&#10;      &lt;Text style={{ fontSize: 14, color: '#5C6780', lineHeight: 1.7, flex: 1 }}&gt;&#13;&#10;        不引入 numpy / pandas / torch：门店电脑不是服务器，启动速度比模型炫技重要；SQLite 开 WAL 足够 20 路并发。&#13;&#10;        模型双通道：云端 1.2 秒 / 本地 3B 断网可用，切换不重启服务。&#13;&#10;      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85800" y="5772150"/>
            <a:ext cx="10820400" cy="723900"/>
          </a:xfrm>
          <a:custGeom>
            <a:pathLst>
              <a:path w="1136" h="7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足够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模型双通道：云端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1.2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3B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断网可用，切换不重启服务。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668655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115675" y="66865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5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AI 不会算错账，因为它不算账&lt;/Text&gt;&#13;&#10;      &lt;Text style={{ fontSize: 15, color: '#5C6780' }}&gt;所有数字只有一个实现，模型只负责理解问题与组织语言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5C6780', letterSpacing: 1 }}&gt;昨日营收（元）&lt;/Text&gt;&#13;&#10;        &lt;Text style={{ fontSize: 68, fontWeight: 'bold', color: '#0C1222', letterSpacing: -2 }}&gt;7,507.80&lt;/Text&gt;&#13;&#10;        &lt;Text style={{ fontSize: 13, color: '#5C6780', marginTop: 6 }}&gt;同星期基线 10,898.00 · 低 31.1%&lt;/Text&gt;&#13;&#10;      &lt;/Box&gt;&#13;&#10;      &lt;Box style={{ flex: 1, flexDirection: 'column', gap: 10 }}&gt;&#13;&#10;        &lt;Text style={{ fontSize: 13, color: '#5C6780' }}&gt;这个数字出现在三个地方，必须完全相等&lt;/Text&gt;&#13;&#10;        &lt;Box style={{ flexDirection: 'row', gap: 12 }}&gt;&#13;&#10;          &lt;Box style={{ flex: 1, background: '#FFFFFF', border: '1px solid #E3E8F5', borderRadius: 10, padding: 16 }}&gt;&#13;&#10;            &lt;Text style={{ fontSize: 15, color: '#0C1222' }}&gt;AI 驾驶舱&lt;/Text&gt;&#13;&#10;            &lt;Text style={{ fontSize: 12, color: '#5C6780', marginTop: 6 }}&gt;KPI 卡片&lt;/Text&gt;&#13;&#10;          &lt;/Box&gt;&#13;&#10;          &lt;Box style={{ flex: 1, background: '#FFFFFF', border: '1px solid #E3E8F5', borderRadius: 10, padding: 16 }}&gt;&#13;&#10;            &lt;Text style={{ fontSize: 15, color: '#0C1222' }}&gt;营收报表&lt;/Text&gt;&#13;&#10;            &lt;Text style={{ fontSize: 12, color: '#5C6780', marginTop: 6 }}&gt;按日汇总&lt;/Text&gt;&#13;&#10;          &lt;/Box&gt;&#13;&#10;          &lt;Box style={{ flex: 1, background: '#FFFFFF', border: '1px solid #E3E8F5', borderRadius: 10, padding: 16 }}&gt;&#13;&#10;            &lt;Text style={{ fontSize: 15, color: '#0C1222' }}&gt;AI 问答&lt;/Text&gt;&#13;&#10;            &lt;Text style={{ fontSize: 12, color: '#5C6780', marginTop: 6 }}&gt;SQL 结果&lt;/Text&gt;&#13;&#10;          &lt;/Box&gt;&#13;&#10;        &lt;/Box&gt;&#13;&#10;      &lt;/Box&gt;&#13;&#10;    &lt;/Box&gt;&#13;&#10;    &lt;Box style={{ marginTop: 26, background: '#FBFCFE', border: '1px solid #E3E8F5', borderRadius: 12, padding: 22 }}&gt;&#13;&#10;      &lt;Text style={{ fontSize: 12, color: '#8A93A8', letterSpacing: 1 }}&gt;analytics / metrics.py&lt;/Text&gt;&#13;&#10;      &lt;Text style={{ fontSize: 14, color: '#5C6780', marginTop: 10, lineHeight: 1.9 }}&gt;&#13;&#10;        def q_kpi(conn, d1, d2):&amp;nbsp;&amp;nbsp;&lt;span style={{ color: '#4C4DDC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5C6780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7,507.80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10,898.00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31.1%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62" name="" descr="&lt;Slide style={{ width: 1280, height: 720, background: '#F6F8FD', padding: '56px 72px', flexDirection: 'column' }}&gt;&#10;  &lt;Box style={{ height: 96, flexDirection: 'row', justifyContent: 'space-between', alignItems: 'flex-start' }}&gt;&#10;    &lt;Box style={{ flexDirection: 'column', gap: 8 }}&gt;&#10;      &lt;Text style={{ fontSize: 34, fontWeight: 'bold', color: '#0C1222' }}&gt;先算清代价，再谈智能&lt;/Text&gt;&#10;      &lt;Text style={{ fontSize: 15, color: '#5C6780' }}&gt;左边是它在这套 180 天数据里真找出来的，右边是按建议执行后的测算&lt;/Text&gt;&#10;    &lt;/Box&gt;&#10;    &lt;Box style={{ flexDirection: 'row', alignItems: 'center', gap: 6, padding: '5px 12px', background: '#EEF1FE', border: '1px solid #DDE2F5', borderRadius: 999 }}&gt;&#10;      &lt;Box style={{ width: 6, height: 6, borderRadius: 3, background: '#4C4DDC' }} /&gt;&#10;      &lt;Text style={{ fontSize: 12, color: '#4C4DDC', fontWeight: 'bold', letterSpacing: 1 }}&gt;AI 掌柜&lt;/Text&gt;&#10;    &lt;/Box&gt;&#10;  &lt;/Box&gt;&#10;  &lt;Box style={{ width: 72, height: 3, background: '#4C4DDC', borderRadius: 2, marginTop: 2, marginBottom: 12 }} /&gt;&#10;  &lt;Box style={{ flex: 1, paddingTop: 8 }}&gt;&#10;    &lt;Box style={{ flexDirection: 'row', gap: 24 }}&gt;&#10;      &lt;Box style={{ flex: 1.15, flexDirection: 'column' }}&gt;&#10;        &lt;Text style={{ fontSize: 13, color: '#5C6780', letterSpacing: 1 }}&gt;实测 · 系统自己发现的五件事&lt;/Text&gt;&#10;        &lt;Box style={{ marginTop: 14, flexDirection: 'column', gap: 0 }}&gt;&#10;          &lt;Box style={{ paddingTop: 12, paddingBottom: 12, borderTop: '1px solid #E3E8F5', flexDirection: 'row', alignItems: 'baseline' }}&gt;&#10;            &lt;Text style={{ fontSize: 26, fontWeight: 'bold', color: '#4C4DDC', width: 96 }}&gt;10.6%&lt;/Text&gt;&#10;            &lt;Text style={{ fontSize: 14, color: '#0C1222' }}&gt;近 7 天折扣率，比前 30 天的 8.4% 高 2.2 个点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,476&lt;/Text&gt;&#10;            &lt;Text style={{ fontSize: 14, color: '#0C1222' }}&gt;元 · 按原折扣水平本可少让的金额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20 道&lt;/Text&gt;&#10;            &lt;Text style={{ fontSize: 14, color: '#0C1222' }}&gt;菜连续 3 天 0 销量，占在售 9.7%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 种&lt;/Text&gt;&#10;            &lt;Text style={{ fontSize: 14, color: '#0C1222' }}&gt;食材可支撑不足 2 天（基围虾只剩 1.5 天）&lt;/Text&gt;&#10;          &lt;/Box&gt;&#10;          &lt;Box style={{ paddingTop: 12, paddingBottom: 12, borderTop: '1px solid #E3E8F5', borderBottom: '1px solid #E3E8F5', flexDirection: 'row', alignItems: 'baseline' }}&gt;&#10;            &lt;Text style={{ fontSize: 26, fontWeight: 'bold', color: '#4C4DDC', width: 96 }}&gt;57.8%&lt;/Text&gt;&#10;            &lt;Text style={{ fontSize: 14, color: '#0C1222' }}&gt;近 30 天毛利率，比目标低 2.2 个点&lt;/Text&gt;&#10;          &lt;/Box&gt;&#10;        &lt;/Box&gt;&#10;      &lt;/Box&gt;&#10;      &lt;Box style={{ flex: 1, background: '#EEF1FE', border: '1px solid #C9CDF6', borderRadius: 14, padding: 30, flexDirection: 'column', gap: 18, justifyContent: 'flex-start' }}&gt;&#10;        &lt;Box style={{ flexDirection: 'column', gap: 6 }}&gt;&#10;          &lt;Text style={{ fontSize: 13, color: '#4C4DDC', letterSpacing: 1 }}&gt;测算 · 补齐这 2.2 个点&lt;/Text&gt;&#10;          &lt;Text style={{ fontSize: 56, fontWeight: 'bold', color: '#0C1222', letterSpacing: -1 }}&gt;+9.0&lt;span style={{ fontSize: 22 }}&gt; 万/年&lt;/span&gt;&lt;/Text&gt;&#10;          &lt;Text style={{ fontSize: 13, color: '#5C6780' }}&gt;近 30 天营收 33.1 万 × 2.2pt × 12 个月&lt;/Text&gt;&#10;        &lt;/Box&gt;&#10;        &lt;Box style={{ flexDirection: 'column', gap: 8, marginTop: 6, paddingTop: 16, borderTop: '1px solid #3A3F63' }}&gt;&#10;          &lt;Text style={{ fontSize: 13, color: '#0C1222' }}&gt;怎么补：&lt;/Text&gt;&#10;          &lt;Text style={{ fontSize: 13, color: '#5C6780', lineHeight: 1.8 }}&gt;① 3 道瘦狗菜调价 5%~15%&lt;br /&gt;② 20 道滞销菜组套餐或下架&lt;br /&gt;③ 折扣收回 2 个点&lt;/Text&gt;&#10;        &lt;/Box&gt;&#10;        &lt;Text style={{ fontSize: 11, color: '#6B7490', lineHeight: 1.6, marginTop: 4 }}&gt;&#10;          左列全部由 SQL 从 180 天数据算出，脚本可复现；右侧为按当前规模的线性测算，不是承诺值。&#10;        &lt;/Text&gt;&#10;      &lt;/Box&gt;&#10;    &lt;/Box&gt;&#10;  &lt;/Box&gt;&#10;  &lt;Box style={{ height: 36, flexDirection: 'row', justifyContent: 'space-between', alignItems: 'flex-end' }}&gt;&#10;    &lt;Text style={{ fontSize: 12, color: '#8A93A8' }}&gt;2026 武汉 1024 · 产业应用赛道&lt;/Text&gt;&#10;    &lt;Text style={{ fontSize: 12, color: '#8A93A8' }}&gt;09 / 1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10.6%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8.4%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1,476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9.7%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57.8%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+9.0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33.1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2.2pt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20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附录 B · 我们怎么证明它可靠&lt;/Text&gt;&#13;&#10;      &lt;Text style={{ fontSize: 15, color: '#5C6780' }}&gt;不是「能跑一遍」，而是固定题库、可重复测量的评测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&#13;&#10;  &lt;Box style={{ flex: 1, flexDirection: 'column', gap: 14 }}&gt;&#13;&#10;    &lt;Box style={{ flexDirection: 'row', gap: 14, flex: 1 }}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8 / 8&lt;/Text&gt;&#13;&#10;        &lt;Text style={{ fontSize: 16, fontWeight: 'bold', color: '#0C1222' }}&gt;越界 SQL 全部拦截&lt;/Text&gt;&#13;&#10;        &lt;Text style={{ fontSize: 12, color: '#5C6780', lineHeight: 1.7 }}&gt;DROP · 多语句 · UNION 跨表&lt;br /&gt;系统表 · ATTACH · PRAGMA&lt;/Text&gt;&#13;&#10;      &lt;/Box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12 / 12&lt;/Text&gt;&#13;&#10;        &lt;Text style={{ fontSize: 16, fontWeight: 'bold', color: '#0C1222' }}&gt;问答评测集全通过&lt;/Text&gt;&#13;&#10;        &lt;Text style={{ fontSize: 12, color: '#5C6780', lineHeight: 1.7 }}&gt;SQL 可执行 12/12 · 结论一致 12/12&lt;br /&gt;平均 1.2 秒&lt;/Text&gt;&#13;&#10;      &lt;/Box&gt;&#13;&#10;    &lt;/Box&gt;&#13;&#10;    &lt;Box style={{ flexDirection: 'row', gap: 14, flex: 1 }}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5 处&lt;/Text&gt;&#13;&#10;        &lt;Text style={{ fontSize: 16, fontWeight: 'bold', color: '#0C1222' }}&gt;同一指标必须同值&lt;/Text&gt;&#13;&#10;        &lt;Text style={{ fontSize: 12, color: '#5C6780', lineHeight: 1.7 }}&gt;原始表 · 视图 · 事实表&lt;br /&gt;驾驶舱 · 报表 · AI 问答&lt;/Text&gt;&#13;&#10;      &lt;/Box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6 套件&lt;/Text&gt;&#13;&#10;        &lt;Text style={{ fontSize: 16, fontWeight: 'bold', color: '#0C1222' }}&gt;一键回归，12 秒跑完&lt;/Text&gt;&#13;&#10;        &lt;Text style={{ fontSize: 12, color: '#5C6780', lineHeight: 1.7 }}&gt;22 个页面 · 50 项单元测试&lt;br /&gt;CSV 导入 · Mock 模型链路&lt;/Text&gt;&#13;&#10;      &lt;/Box&gt;&#13;&#10;    &lt;/Box&gt;&#13;&#10;    &lt;Box style={{ background: '#EEF1FE', border: '1px solid #C9CDF6', borderRadius: 12, padding: '16px 22px', flexDirection: 'row', alignItems: 'center', gap: 18 }}&gt;&#13;&#10;      &lt;Text style={{ fontSize: 11, color: '#4C4DDC', fontWeight: 'bold', letterSpacing: 2, width: 96 }}&gt;真实案例&lt;/Text&gt;&#13;&#10;      &lt;Text style={{ fontSize: 14, color: '#0C1222', lineHeight: 1.7, flex: 1 }}&gt;&#13;&#10;        模型的结论写「共 &lt;span style={{ fontWeight: 'bold' }}&gt;6&lt;/span&gt; 种食材低于预警」，查询结果实际是 &lt;span style={{ fontWeight: 'bold' }}&gt;9&lt;/span&gt; 种；&#13;&#10;        「2.8 &lt;span style={{ fontWeight: 'bold' }}&gt;斤&lt;/span&gt;」被写成「3.2 kg」。服务端校验发现数字对不上，&#13;&#10;        &lt;span style={{ fontWeight: 'bold', color: '#4C4DDC' }}&gt;判定为编造 → 换成确定性摘要 → 让它看着真实结果重写&lt;/span&gt;。&#13;&#10;      &lt;/Text&gt;&#13;&#10;    &lt;/Box&gt;&#13;&#10;  &lt;/Box&gt;&#13;&#10;&#13;&#10;  &lt;Box style={{ height: 36, flexDirection: 'row', justifyContent: 'space-between', alignItems: 'flex-end' }}&gt;&#13;&#10;    &lt;Text style={{ fontSize: 12, color: '#8A93A8' }}&gt;命令：python run_tests.py · python tests/eval_nl2sql.py&lt;/Text&gt;&#13;&#10;    &lt;Text style={{ fontSize: 12, color: '#8A93A8' }}&gt;附录 B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9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B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我们怎么证明它可靠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不是「能跑一遍」，而是固定题库、可重复测量的评测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95350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95350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越界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全部拦截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95350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DROP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多语句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UNION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跨表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ATTACH · PRAGMA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162675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72225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72225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问答评测集全通过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72225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结论一致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平均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685800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95350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处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95350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同一指标必须同值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95350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原始表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视图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事实表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驾驶舱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报表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162675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372225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372225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一键回归，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秒跑完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372225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个页面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50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项单元测试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导入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Mock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模型链路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685800" y="5124450"/>
            <a:ext cx="10820400" cy="857250"/>
          </a:xfrm>
          <a:prstGeom prst="roundRect">
            <a:avLst>
              <a:gd name="adj" fmla="val 13333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895350" y="5486400"/>
            <a:ext cx="914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真实案例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981200" y="5276850"/>
            <a:ext cx="93154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模型的结论写「共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6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种食材低于预警」，查询结果实际是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9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种；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2.8 </a:t>
            </a:r>
            <a:r>
              <a:rPr lang="zh-CN" sz="1050" b="1">
                <a:solidFill>
                  <a:srgbClr val="0C1222"/>
                </a:solidFill>
                <a:latin typeface="Microsoft YaHei"/>
                <a:ea typeface="Microsoft YaHei"/>
              </a:rPr>
              <a:t>斤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」被写成「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>3.2 kg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」。服务端校验发现数字对不上，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判定为编造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换成确定性摘要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让它看着真实结果重写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命令：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python run_tests.py · python tests/eval_nl2sql.py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2026-10-22T15:04:13Z</dcterms:created>
  <dcterms:modified xsi:type="dcterms:W3CDTF">2026-10-22T15:04:13Z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