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9.xml" ContentType="application/vnd.openxmlformats-officedocument.presentationml.slide+xml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9" Type="http://schemas.openxmlformats.org/officeDocument/2006/relationships/slide" Target="slides/slide9.xml" /><Relationship Id="rId14" Type="http://schemas.openxmlformats.org/officeDocument/2006/relationships/presProps" Target="presProps.xml" /><Relationship Id="rId12" Type="http://schemas.openxmlformats.org/officeDocument/2006/relationships/slide" Target="slides/slide12.xml" /><Relationship Id="rId10" Type="http://schemas.openxmlformats.org/officeDocument/2006/relationships/slide" Target="slides/slide10.xml" /><Relationship Id="rId13" Type="http://schemas.openxmlformats.org/officeDocument/2006/relationships/notesMaster" Target="notesMasters/notesMaster1.xml" /><Relationship Id="rId11" Type="http://schemas.openxmlformats.org/officeDocument/2006/relationships/slide" Target="slides/slide11.xml" /><Relationship Id="rId15" Type="http://schemas.openxmlformats.org/officeDocument/2006/relationships/tableStyles" Target="tableStyles.xml" /><Relationship Id="rId7" Type="http://schemas.openxmlformats.org/officeDocument/2006/relationships/slide" Target="slides/slide7.xml" /><Relationship Id="rId16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8" Type="http://schemas.openxmlformats.org/officeDocument/2006/relationships/slide" Target="slides/slide8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1280, height: 720, background: '#0B0D14', padding: '56px 72px', flexDirection: 'column', justifyContent: 'space-between' }}&gt;&#13;&#10;  &lt;Box style={{ flexDirection: 'row', justifyContent: 'space-between', alignItems: 'center' }}&gt;&#13;&#10;    &lt;Text style={{ fontSize: 13, color: '#8A90A6', letterSpacing: 1 }}&gt;2026 武汉 1024 · 人工智能创新应用黑客松&lt;/Text&gt;&#13;&#10;    &lt;Text style={{ fontSize: 13, color: '#6C6CF5', fontWeight: 'bold', letterSpacing: 2 }}&gt;产业应用赛道&lt;/Text&gt;&#13;&#10;  &lt;/Box&gt;&#13;&#10;  &lt;Box style={{ flexDirection: 'column' }}&gt;&#13;&#10;    &lt;Text style={{ fontSize: 96, fontWeight: 'bold', color: '#F2F4FF', letterSpacing: -3 }}&gt;AI 掌柜&lt;/Text&gt;&#13;&#10;    &lt;Text style={{ fontSize: 30, color: '#F2F4FF', opacity: 0.82, marginTop: 6 }}&gt;中小餐饮经营 Agent&lt;/Text&gt;&#13;&#10;    &lt;Box style={{ width: 88, height: 4, background: '#6C6CF5', borderRadius: 2, marginTop: 20, marginBottom: 20 }} /&gt;&#13;&#10;    &lt;Text style={{ fontSize: 21, color: '#8A90A6', width: 820, lineHeight: 1.75 }}&gt;&#13;&#10;      不只告诉你哪里亏，还替你把账算平、把货备好、把菜单改对。&#13;&#10;    &lt;/Text&gt;&#13;&#10;  &lt;/Box&gt;&#13;&#10;  &lt;Box style={{ flexDirection: 'row', justifyContent: 'space-between', alignItems: 'flex-end' }}&gt;&#13;&#10;    &lt;Text style={{ fontSize: 14, color: '#8A90A6' }}&gt;演示门店 · 春归燕茶餐厅&lt;/Text&gt;&#13;&#10;    &lt;Text style={{ fontSize: 13, color: '#4A5064' }}&gt;01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10648950" y="533400"/>
            <a:ext cx="85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6C6CF5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85800" y="2247900"/>
            <a:ext cx="1082040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 spc="-225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7200" b="1" spc="-225">
                <a:solidFill>
                  <a:srgbClr val="F2F4FF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6" name=""/>
          <p:cNvSpPr/>
          <p:nvPr/>
        </p:nvSpPr>
        <p:spPr>
          <a:xfrm rot="0" flipH="0" flipV="0">
            <a:off x="685800" y="3943350"/>
            <a:ext cx="838200" cy="38100"/>
          </a:xfrm>
          <a:prstGeom prst="roundRect">
            <a:avLst>
              <a:gd name="adj" fmla="val 5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85800" y="4171950"/>
            <a:ext cx="7810500" cy="42862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75">
                <a:solidFill>
                  <a:srgbClr val="8A90A6"/>
                </a:solidFill>
                <a:latin typeface="Microsoft YaHei"/>
                <a:ea typeface="Microsoft YaHei"/>
              </a:rPr>
              <a:t>不只告诉你哪里亏，还替你把账算平、把货备好、把菜单改对。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85800" y="6162675"/>
            <a:ext cx="1447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演示门店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春归燕茶餐厅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>01 / 12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85800" y="3409950"/>
            <a:ext cx="10820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>
                <a:solidFill>
                  <a:srgbClr val="F2F4FF">
                    <a:alpha val="82000"/>
                  </a:srgbClr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2250">
                <a:solidFill>
                  <a:srgbClr val="F2F4FF">
                    <a:alpha val="82000"/>
                  </a:srgbClr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68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老板每天问的三个问题，现有工具一个都没回答&lt;/Text&gt;&#13;&#10;      &lt;Text style={{ fontSize: 15, color: '#8A90A6' }}&gt;不是缺报表，是缺结论和动作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0, height: 300 }}&gt;&#13;&#10;      &lt;Box style={{ flex: 1, background: '#141826', border: '1px solid #242A3D', borderRadius: 14, padding: 26, flexDirection: 'column', justifyContent: 'space-between' }}&gt;&#13;&#10;        &lt;Text style={{ fontSize: 56, fontWeight: 'bold', color: '#6C6CF5' }}&gt;01&lt;/Text&gt;&#13;&#10;        &lt;Text style={{ fontSize: 22, fontWeight: 'bold', color: '#F2F4FF' }}&gt;今天到底赚没赚&lt;/Text&gt;&#13;&#10;        &lt;Text style={{ fontSize: 15, color: '#8A90A6', lineHeight: 1.8 }}&gt;六张报表翻 30 分钟，只知道跌了，&lt;br /&gt;不知道是人少了还是点便宜了。&lt;/Text&gt;&#13;&#10;      &lt;/Box&gt;&#13;&#10;      &lt;Box style={{ flex: 1, background: '#141826', border: '1px solid #242A3D', borderRadius: 14, padding: 26, flexDirection: 'column', justifyContent: 'space-between' }}&gt;&#13;&#10;        &lt;Text style={{ fontSize: 56, fontWeight: 'bold', color: '#6C6CF5' }}&gt;02&lt;/Text&gt;&#13;&#10;        &lt;Text style={{ fontSize: 22, fontWeight: 'bold', color: '#F2F4FF' }}&gt;明天该买多少&lt;/Text&gt;&#13;&#10;        &lt;Text style={{ fontSize: 15, color: '#8A90A6', lineHeight: 1.8 }}&gt;采购靠经验，缺货率 11.8%，&lt;br /&gt;断货一次少卖 2,400 元。&lt;/Text&gt;&#13;&#10;      &lt;/Box&gt;&#13;&#10;      &lt;Box style={{ flex: 1, background: '#141826', border: '1px solid #242A3D', borderRadius: 14, padding: 26, flexDirection: 'column', justifyContent: 'space-between' }}&gt;&#13;&#10;        &lt;Text style={{ fontSize: 56, fontWeight: 'bold', color: '#6C6CF5' }}&gt;03&lt;/Text&gt;&#13;&#10;        &lt;Text style={{ fontSize: 22, fontWeight: 'bold', color: '#F2F4FF' }}&gt;哪道菜在赔钱&lt;/Text&gt;&#13;&#10;        &lt;Text style={{ fontSize: 15, color: '#8A90A6', lineHeight: 1.8 }}&gt;207 道菜只有 107 道算得清成本，&lt;br /&gt;卖得越多，可能亏得越多。&lt;/Text&gt;&#13;&#10;      &lt;/Box&gt;&#13;&#10;    &lt;/Box&gt;&#13;&#10;    &lt;Box style={{ marginTop: 34, paddingTop: 24, borderTop: '1px solid #242A3D', flexDirection: 'row', alignItems: 'center', gap: 16 }}&gt;&#13;&#10;      &lt;Box style={{ width: 6, height: 28, background: '#6C6CF5', borderRadius: 3 }} /&gt;&#13;&#10;      &lt;Text style={{ fontSize: 24, color: '#F2F4FF' }}&gt;中小餐饮不缺数据，缺一个&lt;Text style={{ fontSize: 24, fontWeight: 'bold', color: '#6C6CF5' }}&gt;能替他做决定&lt;/Text&gt;的角色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2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6800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老板每天问的三个问题，现有工具一个都没回答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6800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不是缺报表，是缺结论和动作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685800" y="1524000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933450" y="1771650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6C6CF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933450" y="2838450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今天到底赚没赚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933450" y="3514725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六张报表翻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分钟，只知道跌了，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不知道是人少了还是点便宜了。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4352925" y="1524000"/>
            <a:ext cx="3486150" cy="2857500"/>
          </a:xfrm>
          <a:prstGeom prst="roundRect">
            <a:avLst>
              <a:gd name="adj" fmla="val 4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4600575" y="1771650"/>
            <a:ext cx="299085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6C6CF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4600575" y="2838450"/>
            <a:ext cx="2990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明天该买多少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4600575" y="3514725"/>
            <a:ext cx="2990850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采购靠经验，缺货率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11.8%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断货一次少卖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2,400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元。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8029575" y="1524000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8277225" y="1771650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6C6CF5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8277225" y="2838450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哪道菜在赔钱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8277225" y="3514725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207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道菜只有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107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道算得清成本，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卖得越多，可能亏得越多。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685800" y="4705350"/>
            <a:ext cx="10820400" cy="523875"/>
          </a:xfrm>
          <a:custGeom>
            <a:pathLst>
              <a:path w="1136" h="5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86" name=""/>
          <p:cNvSpPr/>
          <p:nvPr/>
        </p:nvSpPr>
        <p:spPr>
          <a:xfrm rot="0" flipH="0" flipV="0">
            <a:off x="685800" y="4953000"/>
            <a:ext cx="57150" cy="266700"/>
          </a:xfrm>
          <a:prstGeom prst="roundRect">
            <a:avLst>
              <a:gd name="adj" fmla="val 5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895350" y="4943475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F2F4FF"/>
                </a:solidFill>
                <a:latin typeface="Microsoft YaHei"/>
                <a:ea typeface="Microsoft YaHei"/>
              </a:rPr>
              <a:t>中小餐饮不缺数据，缺一个</a:t>
            </a:r>
            <a:r>
              <a:rPr lang="zh-CN" sz="1800">
                <a:solidFill>
                  <a:srgbClr val="F2F4FF"/>
                </a:solidFill>
                <a:latin typeface="Microsoft YaHei"/>
                <a:ea typeface="Microsoft YaHei"/>
              </a:rPr>
              <a:t>能替他做决定</a:t>
            </a:r>
            <a:r>
              <a:rPr lang="zh-CN" sz="1800">
                <a:solidFill>
                  <a:srgbClr val="F2F4FF"/>
                </a:solidFill>
                <a:latin typeface="Microsoft YaHei"/>
                <a:ea typeface="Microsoft YaHei"/>
              </a:rPr>
              <a:t>的角色。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02 / 12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90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分水岭不在图表，在「能不能动手」&lt;/Text&gt;&#13;&#10;      &lt;Text style={{ fontSize: 15, color: '#8A90A6' }}&gt;同样一份营收下滑，两条完全不同的处理路径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4, height: 330 }}&gt;&#13;&#10;      &lt;Box style={{ flex: 1, background: '#12141F', border: '1px solid #242A3D', borderRadius: 14, padding: 26 }}&gt;&#13;&#10;        &lt;Text style={{ fontSize: 13, color: '#4A5064', letterSpacing: 2 }}&gt;传统 BI / 经营看板&lt;/Text&gt;&#13;&#10;        &lt;Text style={{ fontSize: 26, fontWeight: 'bold', color: '#8A90A6', marginTop: 10 }}&gt;价值停在「知道」&lt;/Text&gt;&#13;&#10;        &lt;Box style={{ marginTop: 22, flexDirection: 'column', gap: 14 }}&gt;&#13;&#10;          &lt;Text style={{ fontSize: 16, color: '#8A90A6' }}&gt;看板 → 发现跌了&lt;/Text&gt;&#13;&#10;          &lt;Text style={{ fontSize: 16, color: '#8A90A6' }}&gt;→ 自己判断原因&lt;/Text&gt;&#13;&#10;          &lt;Text style={{ fontSize: 16, color: '#8A90A6' }}&gt;→ 自己打电话订货&lt;/Text&gt;&#13;&#10;          &lt;Text style={{ fontSize: 16, color: '#8A90A6' }}&gt;→ 一周后忘了复盘&lt;/Text&gt;&#13;&#10;        &lt;/Box&gt;&#13;&#10;      &lt;/Box&gt;&#13;&#10;      &lt;Box style={{ flex: 1, background: '#171A2E', border: '1px solid #6C6CF5', borderRadius: 14, padding: 26 }}&gt;&#13;&#10;        &lt;Text style={{ fontSize: 13, color: '#6C6CF5', letterSpacing: 2 }}&gt;AI 掌柜&lt;/Text&gt;&#13;&#10;        &lt;Text style={{ fontSize: 26, fontWeight: 'bold', color: '#F2F4FF', marginTop: 10 }}&gt;价值走到「改变」&lt;/Text&gt;&#13;&#10;        &lt;Box style={{ marginTop: 22, flexDirection: 'column', gap: 14 }}&gt;&#13;&#10;          &lt;Text style={{ fontSize: 16, color: '#F2F4FF' }}&gt;驾驶舱 → 3 件事 + 证据&lt;/Text&gt;&#13;&#10;          &lt;Text style={{ fontSize: 16, color: '#F2F4FF' }}&gt;→ 拆解成客流 / 客单价&lt;/Text&gt;&#13;&#10;          &lt;Text style={{ fontSize: 16, color: '#F2F4FF' }}&gt;→ 一键生成采购单并入库&lt;/Text&gt;&#13;&#10;          &lt;Text style={{ fontSize: 16, color: '#F2F4FF' }}&gt;→ 7 天后自动回填效果&lt;/Text&gt;&#13;&#10;        &lt;/Box&gt;&#13;&#10;      &lt;/Box&gt;&#13;&#10;    &lt;/Box&gt;&#13;&#10;    &lt;Box style={{ marginTop: 30, flexDirection: 'row', gap: 14 }}&gt;&#13;&#10;      &lt;Text style={{ fontSize: 15, color: '#8A90A6' }}&gt;三个关键词&lt;/Text&gt;&#13;&#10;      &lt;Text style={{ fontSize: 15, color: '#6C6CF5', fontWeight: 'bold' }}&gt;可执行 · 可追溯 · 可撤销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3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分水岭不在图表，在「能不能动手」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18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同样一份营收下滑，两条完全不同的处理路径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685800" y="1524000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933450" y="1771650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传统</a:t>
            </a: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 BI /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经营看板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933450" y="2019300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8A90A6"/>
                </a:solidFill>
                <a:latin typeface="Microsoft YaHei"/>
                <a:ea typeface="Microsoft YaHei"/>
              </a:rPr>
              <a:t>价值停在「知道」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933450" y="25336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看板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发现跌了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933450" y="28575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自己判断原因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933450" y="31813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自己打电话订货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933450" y="35052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一周后忘了复盘</a:t>
            </a:r>
            <a:endParaRPr/>
          </a:p>
        </p:txBody>
      </p:sp>
      <p:sp>
        <p:nvSpPr>
          <p:cNvPr id="102" name=""/>
          <p:cNvSpPr/>
          <p:nvPr/>
        </p:nvSpPr>
        <p:spPr>
          <a:xfrm rot="0" flipH="0" flipV="0">
            <a:off x="6210300" y="1524000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6457950" y="1771650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6C6CF5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6457950" y="2019300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2F4FF"/>
                </a:solidFill>
                <a:latin typeface="Microsoft YaHei"/>
                <a:ea typeface="Microsoft YaHei"/>
              </a:rPr>
              <a:t>价值走到「改变」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457950" y="25336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3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件事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证据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457950" y="28575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拆解成客流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客单价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6457950" y="31813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一键生成采购单并入库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457950" y="35052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→ 7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天后自动回填效果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685800" y="4953000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三个关键词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1533525" y="4953000"/>
            <a:ext cx="1590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6C6CF5"/>
                </a:solidFill>
                <a:latin typeface="Microsoft YaHei"/>
                <a:ea typeface="Microsoft YaHei"/>
              </a:rPr>
              <a:t>可执行</a:t>
            </a:r>
            <a:r>
              <a:rPr lang="en-US" sz="1125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6C6CF5"/>
                </a:solidFill>
                <a:latin typeface="Microsoft YaHei"/>
                <a:ea typeface="Microsoft YaHei"/>
              </a:rPr>
              <a:t>可追溯</a:t>
            </a:r>
            <a:r>
              <a:rPr lang="en-US" sz="1125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6C6CF5"/>
                </a:solidFill>
                <a:latin typeface="Microsoft YaHei"/>
                <a:ea typeface="Microsoft YaHei"/>
              </a:rPr>
              <a:t>可撤销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03 / 12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13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四块能力，缺一块都落不了地&lt;/Text&gt;&#13;&#10;      &lt;Text style={{ fontSize: 15, color: '#8A90A6' }}&gt;看得懂、算得准、动得了、说得清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18, height: 250 }}&gt;&#13;&#10;      &lt;Box style={{ flex: 1, background: '#141826', border: '1px solid #242A3D', borderRadius: 14, padding: 24 }}&gt;&#13;&#10;        &lt;Text style={{ fontSize: 20, fontWeight: 'bold', color: '#6C6CF5' }}&gt;看得懂&lt;/Text&gt;&#13;&#10;        &lt;Text style={{ fontSize: 15, color: '#F2F4FF', marginTop: 12, lineHeight: 1.75 }}&gt;营收 · 客流 · 毛利&lt;br /&gt;时段 · 翻台 · 会员结构&lt;/Text&gt;&#13;&#10;        &lt;Text style={{ fontSize: 13, color: '#8A90A6', marginTop: 16 }}&gt;180 天 / 6,803 单&lt;/Text&gt;&#13;&#10;      &lt;/Box&gt;&#13;&#10;      &lt;Box style={{ flex: 1, background: '#141826', border: '1px solid #242A3D', borderRadius: 14, padding: 24 }}&gt;&#13;&#10;        &lt;Text style={{ fontSize: 20, fontWeight: 'bold', color: '#6C6CF5' }}&gt;算得准&lt;/Text&gt;&#13;&#10;        &lt;Text style={{ fontSize: 15, color: '#F2F4FF', marginTop: 12, lineHeight: 1.75 }}&gt;指标唯一口径&lt;br /&gt;BOM 成本 · 三层分解预测&lt;/Text&gt;&#13;&#10;        &lt;Text style={{ fontSize: 13, color: '#8A90A6', marginTop: 16 }}&gt;回测误差 22%（含异常周）&lt;/Text&gt;&#13;&#10;      &lt;/Box&gt;&#13;&#10;      &lt;Box style={{ flex: 1, background: '#141826', border: '1px solid #242A3D', borderRadius: 14, padding: 24 }}&gt;&#13;&#10;        &lt;Text style={{ fontSize: 20, fontWeight: 'bold', color: '#6C6CF5' }}&gt;动得了&lt;/Text&gt;&#13;&#10;        &lt;Text style={{ fontSize: 15, color: '#F2F4FF', marginTop: 12, lineHeight: 1.75 }}&gt;生成采购单 · 按毛利调价&lt;br /&gt;滞销菜设为主推&lt;/Text&gt;&#13;&#10;        &lt;Text style={{ fontSize: 13, color: '#8A90A6', marginTop: 16 }}&gt;3 类动作 · 全部可撤销&lt;/Text&gt;&#13;&#10;      &lt;/Box&gt;&#13;&#10;      &lt;Box style={{ flex: 1, background: '#141826', border: '1px solid #242A3D', borderRadius: 14, padding: 24 }}&gt;&#13;&#10;        &lt;Text style={{ fontSize: 20, fontWeight: 'bold', color: '#6C6CF5' }}&gt;说得清&lt;/Text&gt;&#13;&#10;        &lt;Text style={{ fontSize: 15, color: '#F2F4FF', marginTop: 12, lineHeight: 1.75 }}&gt;每条结论附证据 SQL&lt;br /&gt;操作留痕 · 一键回滚&lt;/Text&gt;&#13;&#10;        &lt;Text style={{ fontSize: 13, color: '#8A90A6', marginTop: 16 }}&gt;8 条越界语句 100% 拦截&lt;/Text&gt;&#13;&#10;      &lt;/Box&gt;&#13;&#10;    &lt;/Box&gt;&#13;&#10;    &lt;Box style={{ marginTop: 28, background: '#12141F', border: '1px solid #242A3D', borderRadius: 12, padding: '20px 24px', flexDirection: 'row', alignItems: 'center', gap: 18 }}&gt;&#13;&#10;      &lt;Text style={{ fontSize: 15, color: '#8A90A6', width: 110 }}&gt;串联起来&lt;/Text&gt;&#13;&#10;      &lt;Text style={{ fontSize: 17, color: '#F2F4FF' }}&gt;看到异常 → 算清原因 → 直接处理 → 留下证据，四步在同一屏里完成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4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1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四块能力，缺一块都落不了地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1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看得懂、算得准、动得了、说得清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685800" y="1524000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看得懂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914400" y="2095500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营收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客流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毛利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时段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翻台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会员结构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914400" y="2847975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天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单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3438525" y="1524000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3667125" y="1752600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算得准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3667125" y="2095500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指标唯一口径</a:t>
            </a:r>
            <a:endParaRPr/>
          </a:p>
          <a:p>
            <a:pPr>
              <a:lnSpc>
                <a:spcPct val="175000"/>
              </a:lnSpc>
            </a:pP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BOM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成本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三层分解预测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3667125" y="2847975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回测误差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22%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（含异常周）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6181725" y="1524000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6410325" y="1752600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动得了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6410325" y="2095500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生成采购单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按毛利调价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滞销菜设为主推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6410325" y="2847975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类动作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全部可撤销</a:t>
            </a:r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8934450" y="1524000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9163050" y="1752600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说得清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9163050" y="2095500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每条结论附证据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SQL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操作留痕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一键回滚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9163050" y="2847975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条越界语句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100%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拦截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685800" y="4171950"/>
            <a:ext cx="10820400" cy="581025"/>
          </a:xfrm>
          <a:prstGeom prst="roundRect">
            <a:avLst>
              <a:gd name="adj" fmla="val 19672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914400" y="4381500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串联起来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2133600" y="4362450"/>
            <a:ext cx="5153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看到异常</a:t>
            </a:r>
            <a:r>
              <a:rPr lang="en-US" sz="1275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算清原因</a:t>
            </a:r>
            <a:r>
              <a:rPr lang="en-US" sz="1275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直接处理</a:t>
            </a:r>
            <a:r>
              <a:rPr lang="en-US" sz="1275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留下证据，四步在同一屏里完成。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04 / 12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39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现场三分钟，只走一条路径&lt;/Text&gt;&#13;&#10;      &lt;Text style={{ fontSize: 15, color: '#8A90A6' }}&gt;上午 09:00，老板打开电脑后的真实操作顺序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16, height: 205 }}&gt;&#13;&#10;      &lt;Box style={{ flex: 1, background: '#141826', border: '1px solid #242A3D', borderRadius: 14, padding: 24, flexDirection: 'column', justifyContent: 'space-between' }}&gt;&#13;&#10;        &lt;Text style={{ fontSize: 12, color: '#6C6CF5', letterSpacing: 2 }}&gt;第 1 步 · 30 秒&lt;/Text&gt;&#13;&#10;        &lt;Text style={{ fontSize: 21, fontWeight: 'bold', color: '#F2F4FF', marginTop: 6 }}&gt;打开驾驶舱&lt;/Text&gt;&#13;&#10;        &lt;Text style={{ fontSize: 14, color: '#8A90A6', lineHeight: 1.8 }}&gt;只有 3 件事：&lt;br /&gt;营收跌 20%、3 道菜滞销、&lt;br /&gt;牛腩只够 1.5 天。&lt;/Text&gt;&#13;&#10;      &lt;/Box&gt;&#13;&#10;      &lt;Box style={{ flex: 1, background: '#141826', border: '1px solid #242A3D', borderRadius: 14, padding: 24, flexDirection: 'column', justifyContent: 'space-between' }}&gt;&#13;&#10;        &lt;Text style={{ fontSize: 12, color: '#6C6CF5', letterSpacing: 2 }}&gt;第 2 步 · 60 秒&lt;/Text&gt;&#13;&#10;        &lt;Text style={{ fontSize: 21, fontWeight: 'bold', color: '#F2F4FF', marginTop: 6 }}&gt;点「营收下滑」&lt;/Text&gt;&#13;&#10;        &lt;Text style={{ fontSize: 14, color: '#8A90A6', lineHeight: 1.8 }}&gt;拆成客流 −18%、客单价 −3%，&lt;br /&gt;结论：人少了，&lt;br /&gt;不是点便宜了。&lt;/Text&gt;&#13;&#10;      &lt;/Box&gt;&#13;&#10;      &lt;Box style={{ flex: 1, background: '#141826', border: '1px solid #242A3D', borderRadius: 14, padding: 24, flexDirection: 'column', justifyContent: 'space-between' }}&gt;&#13;&#10;        &lt;Text style={{ fontSize: 12, color: '#6C6CF5', letterSpacing: 2 }}&gt;第 3 步 · 60 秒&lt;/Text&gt;&#13;&#10;        &lt;Text style={{ fontSize: 21, fontWeight: 'bold', color: '#F2F4FF', marginTop: 6 }}&gt;点「缺货」&lt;/Text&gt;&#13;&#10;        &lt;Text style={{ fontSize: 14, color: '#8A90A6', lineHeight: 1.8 }}&gt;按 7 天用量生成采购单&lt;br /&gt;→ 确认入库&lt;br /&gt;→ 库存与流水同步。&lt;/Text&gt;&#13;&#10;      &lt;/Box&gt;&#13;&#10;    &lt;/Box&gt;&#13;&#10;    &lt;Box style={{ marginTop: 20, background: '#171A2E', border: '1px solid #6C6CF5', borderRadius: 14, padding: '20px 24px', flexDirection: 'row', alignItems: 'center', gap: 24 }}&gt;&#13;&#10;      &lt;Text style={{ fontSize: 13, color: '#6C6CF5', letterSpacing: 2, width: 132 }}&gt;加演 · 一句话&lt;/Text&gt;&#13;&#10;      &lt;Box style={{ flexDirection: 'column', gap: 6 }}&gt;&#13;&#10;        &lt;Text style={{ fontSize: 19, fontWeight: 'bold', color: '#F2F4FF' }}&gt;「明天 8 人宴席，人均 150」&lt;/Text&gt;&#13;&#10;        &lt;Text style={{ fontSize: 13, color: '#8A90A6' }}&gt;按中餐宴席结构排 10 道菜 → 一键成单 → 后厨立刻看到，可人工增减。&lt;/Text&gt;&#13;&#10;      &lt;/Box&gt;&#13;&#10;    &lt;/Box&gt;&#13;&#10;    &lt;Box style={{ marginTop: 20, paddingTop: 16, borderTop: '1px solid #242A3D', flexDirection: 'row', gap: 0 }}&gt;&#13;&#10;      &lt;Box style={{ flex: 1, flexDirection: 'column', gap: 3 }}&gt;&#13;&#10;        &lt;Text style={{ fontSize: 24, fontWeight: 'bold', color: '#F2F4FF' }}&gt;1 张&lt;/Text&gt;&#13;&#10;        &lt;Text style={{ fontSize: 12, color: '#8A90A6' }}&gt;采购单（7 项 / 2,757 元）&lt;/Text&gt;&#13;&#10;      &lt;/Box&gt;&#13;&#10;      &lt;Box style={{ flex: 1, flexDirection: 'column', gap: 3 }}&gt;&#13;&#10;        &lt;Text style={{ fontSize: 24, fontWeight: 'bold', color: '#F2F4FF' }}&gt;7 种&lt;/Text&gt;&#13;&#10;        &lt;Text style={{ fontSize: 12, color: '#8A90A6' }}&gt;食材库存与流水同步更新&lt;/Text&gt;&#13;&#10;      &lt;/Box&gt;&#13;&#10;      &lt;Box style={{ flex: 1, flexDirection: 'column', gap: 3 }}&gt;&#13;&#10;        &lt;Text style={{ fontSize: 24, fontWeight: 'bold', color: '#F2F4FF' }}&gt;3 条&lt;/Text&gt;&#13;&#10;        &lt;Text style={{ fontSize: 12, color: '#8A90A6' }}&gt;操作留痕，任何一条可回滚&lt;/Text&gt;&#13;&#10;      &lt;/Box&gt;&#13;&#10;      &lt;Box style={{ flex: 1.2, flexDirection: 'column', gap: 3 }}&gt;&#13;&#10;        &lt;Text style={{ fontSize: 24, fontWeight: 'bold', color: '#6C6CF5' }}&gt;0 次&lt;/Text&gt;&#13;&#10;        &lt;Text style={{ fontSize: 12, color: '#8A90A6' }}&gt;页面跳转 —— 决策与执行同屏&lt;/Text&gt;&#13;&#10;      &lt;/Box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5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886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现场三分钟，只走一条路径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886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上午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09:00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，老板打开电脑后的真实操作顺序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685800" y="1524000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30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914400" y="2047875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2F4FF"/>
                </a:solidFill>
                <a:latin typeface="Microsoft YaHei"/>
                <a:ea typeface="Microsoft YaHei"/>
              </a:rPr>
              <a:t>打开驾驶舱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914400" y="2381250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只有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件事：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营收跌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20%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道菜滞销、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牛腩只够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148" name=""/>
          <p:cNvSpPr/>
          <p:nvPr/>
        </p:nvSpPr>
        <p:spPr>
          <a:xfrm rot="0" flipH="0" flipV="0">
            <a:off x="4343400" y="1524000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45720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4572000" y="2047875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2F4FF"/>
                </a:solidFill>
                <a:latin typeface="Microsoft YaHei"/>
                <a:ea typeface="Microsoft YaHei"/>
              </a:rPr>
              <a:t>点「营收下滑」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4572000" y="2381250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拆成客流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−18%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、客单价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−3%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结论：人少了，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不是点便宜了。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8001000" y="1524000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82296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8229600" y="2047875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2F4FF"/>
                </a:solidFill>
                <a:latin typeface="Microsoft YaHei"/>
                <a:ea typeface="Microsoft YaHei"/>
              </a:rPr>
              <a:t>点「缺货」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8229600" y="2381250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按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天用量生成采购单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确认入库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库存与流水同步。</a:t>
            </a:r>
            <a:endParaRPr/>
          </a:p>
        </p:txBody>
      </p:sp>
      <p:sp>
        <p:nvSpPr>
          <p:cNvPr id="156" name=""/>
          <p:cNvSpPr/>
          <p:nvPr/>
        </p:nvSpPr>
        <p:spPr>
          <a:xfrm rot="0" flipH="0" flipV="0">
            <a:off x="685800" y="3667125"/>
            <a:ext cx="10820400" cy="809625"/>
          </a:xfrm>
          <a:prstGeom prst="roundRect">
            <a:avLst>
              <a:gd name="adj" fmla="val 16471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914400" y="4000500"/>
            <a:ext cx="1257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6C6CF5"/>
                </a:solidFill>
                <a:latin typeface="Microsoft YaHei"/>
                <a:ea typeface="Microsoft YaHei"/>
              </a:rPr>
              <a:t>加演</a:t>
            </a:r>
            <a:r>
              <a:rPr lang="en-US" sz="975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150">
                <a:solidFill>
                  <a:srgbClr val="6C6CF5"/>
                </a:solidFill>
                <a:latin typeface="Microsoft YaHei"/>
                <a:ea typeface="Microsoft YaHei"/>
              </a:rPr>
              <a:t>一句话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2400300" y="3857625"/>
            <a:ext cx="3962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2F4FF"/>
                </a:solidFill>
                <a:latin typeface="Microsoft YaHei"/>
                <a:ea typeface="Microsoft YaHei"/>
              </a:rPr>
              <a:t>「明天</a:t>
            </a:r>
            <a:r>
              <a:rPr lang="en-US" sz="1425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425" b="1">
                <a:solidFill>
                  <a:srgbClr val="F2F4FF"/>
                </a:solidFill>
                <a:latin typeface="Microsoft YaHei"/>
                <a:ea typeface="Microsoft YaHei"/>
              </a:rPr>
              <a:t>人宴席，人均</a:t>
            </a:r>
            <a:r>
              <a:rPr lang="en-US" sz="1425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 150</a:t>
            </a:r>
            <a:r>
              <a:rPr lang="zh-CN" sz="1425" b="1">
                <a:solidFill>
                  <a:srgbClr val="F2F4FF"/>
                </a:solidFill>
                <a:latin typeface="Microsoft YaHei"/>
                <a:ea typeface="Microsoft YaHei"/>
              </a:rPr>
              <a:t>」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2400300" y="4133850"/>
            <a:ext cx="3962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按中餐宴席结构排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道菜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一键成单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后厨立刻看到，可人工增减。</a:t>
            </a:r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685800" y="4667250"/>
            <a:ext cx="10820400" cy="619125"/>
          </a:xfrm>
          <a:custGeom>
            <a:pathLst>
              <a:path w="1136" h="6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685800" y="4829175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800" b="1">
                <a:solidFill>
                  <a:srgbClr val="F2F4FF"/>
                </a:solidFill>
                <a:latin typeface="Microsoft YaHei"/>
                <a:ea typeface="Microsoft YaHei"/>
              </a:rPr>
              <a:t>张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685800" y="5133975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采购单（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项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 / 2,757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元）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3257550" y="4829175"/>
            <a:ext cx="25812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800" b="1">
                <a:solidFill>
                  <a:srgbClr val="F2F4FF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3257550" y="5133975"/>
            <a:ext cx="2581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食材库存与流水同步更新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5838825" y="4829175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800" b="1">
                <a:solidFill>
                  <a:srgbClr val="F2F4FF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5838825" y="5133975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操作留痕，任何一条可回滚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8410575" y="4829175"/>
            <a:ext cx="30956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0 </a:t>
            </a:r>
            <a:r>
              <a:rPr lang="zh-CN" sz="1800" b="1">
                <a:solidFill>
                  <a:srgbClr val="6C6CF5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8410575" y="5133975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页面跳转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决策与执行同屏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05 / 12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71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四层架构：交易底座不动，决策层新建&lt;/Text&gt;&#13;&#10;      &lt;Text style={{ fontSize: 15, color: '#8A90A6' }}&gt;原有 4,294 行代码、42 个模板、190 项测试，全部作为底座继续跑&lt;/Text&gt;&#13;&#10;    &lt;/Box&gt;&#13;&#10;    &lt;Text style={{ fontSize: 13, color: '#4A5064', letterSpacing: 2 }}&gt;AI 掌柜&lt;/Text&gt;&#13;&#10;  &lt;/Box&gt;&#13;&#10;  &lt;Box style={{ flex: 1, paddingTop: 8 }}&gt;&#13;&#10;    &lt;Box style={{ flexDirection: 'column', gap: 14 }}&gt;&#13;&#10;      &lt;Box style={{ background: '#171A2E', border: '1px solid #6C6CF5', borderRadius: 10, padding: '22px 24px', flexDirection: 'row', alignItems: 'center' }}&gt;&#13;&#10;        &lt;Text style={{ fontSize: 13, color: '#6C6CF5', width: 100, letterSpacing: 1 }}&gt;决策界面&lt;/Text&gt;&#13;&#10;        &lt;Text style={{ fontSize: 16, color: '#F2F4FF' }}&gt;AI 驾驶舱 · 经营问答 · 洞察中心 · 采购单 · 四象限 · 预测备货&lt;/Text&gt;&#13;&#10;      &lt;/Box&gt;&#13;&#10;      &lt;Box style={{ background: '#141826', border: '1px solid #242A3D', borderRadius: 10, padding: '22px 24px', flexDirection: 'row', alignItems: 'center' }}&gt;&#13;&#10;        &lt;Text style={{ fontSize: 13, color: '#8A90A6', width: 100, letterSpacing: 1 }}&gt;AI 引擎&lt;/Text&gt;&#13;&#10;        &lt;Text style={{ fontSize: 16, color: '#F2F4FF' }}&gt;受控 NL2SQL · 6 类规则检测 · 三层分解预测 · 可执行工具&lt;/Text&gt;&#13;&#10;      &lt;/Box&gt;&#13;&#10;      &lt;Box style={{ background: '#141826', border: '1px solid #242A3D', borderRadius: 10, padding: '22px 24px', flexDirection: 'row', alignItems: 'center' }}&gt;&#13;&#10;        &lt;Text style={{ fontSize: 13, color: '#8A90A6', width: 100, letterSpacing: 1 }}&gt;指标层&lt;/Text&gt;&#13;&#10;        &lt;Text style={{ fontSize: 16, color: '#F2F4FF' }}&gt;唯一口径 metrics.py · 日粒度预聚合 ETL · 8 个只读语义视图&lt;/Text&gt;&#13;&#10;      &lt;/Box&gt;&#13;&#10;      &lt;Box style={{ background: '#12141F', border: '1px solid #242A3D', borderRadius: 10, padding: '22px 24px', flexDirection: 'row', alignItems: 'center' }}&gt;&#13;&#10;        &lt;Text style={{ fontSize: 13, color: '#4A5064', width: 100, letterSpacing: 1 }}&gt;交易底座&lt;/Text&gt;&#13;&#10;        &lt;Text style={{ fontSize: 16, color: '#8A90A6' }}&gt;点单 · 收银 · 会员 · BOM 配方 · 库存流水 · 预订（Flask + SQLite）&lt;/Text&gt;&#13;&#10;      &lt;/Box&gt;&#13;&#10;    &lt;/Box&gt;&#13;&#10;    &lt;Box style={{ marginTop: 24, flexDirection: 'row', gap: 18 }}&gt;&#13;&#10;      &lt;Box style={{ flex: 1, paddingTop: 14, borderTop: '1px solid #242A3D' }}&gt;&#13;&#10;        &lt;Text style={{ fontSize: 30, fontWeight: 'bold', color: '#6C6CF5' }}&gt;0&lt;/Text&gt;&#13;&#10;        &lt;Text style={{ fontSize: 13, color: '#8A90A6', marginTop: 4 }}&gt;新增第三方运行时依赖&lt;br /&gt;仅 Flask + waitress&lt;/Text&gt;&#13;&#10;      &lt;/Box&gt;&#13;&#10;      &lt;Box style={{ flex: 1, paddingTop: 14, borderTop: '1px solid #242A3D' }}&gt;&#13;&#10;        &lt;Text style={{ fontSize: 30, fontWeight: 'bold', color: '#6C6CF5' }}&gt;1.0s&lt;/Text&gt;&#13;&#10;        &lt;Text style={{ fontSize: 13, color: '#8A90A6', marginTop: 4 }}&gt;看板首屏&lt;br /&gt;180 天预聚合&lt;/Text&gt;&#13;&#10;      &lt;/Box&gt;&#13;&#10;      &lt;Box style={{ flex: 1, paddingTop: 14, borderTop: '1px solid #242A3D' }}&gt;&#13;&#10;        &lt;Text style={{ fontSize: 30, fontWeight: 'bold', color: '#6C6CF5' }}&gt;离线&lt;/Text&gt;&#13;&#10;        &lt;Text style={{ fontSize: 13, color: '#8A90A6', marginTop: 4 }}&gt;可跑：本地模型 / 规则降级&lt;br /&gt;不依赖 CDN 与外网&lt;/Text&gt;&#13;&#10;      &lt;/Box&gt;&#13;&#10;    &lt;/Box&gt;&#13;&#10;    &lt;Box style={{ marginTop: 20, paddingTop: 16, borderTop: '1px solid #242A3D', flexDirection: 'row', gap: 14 }}&gt;&#13;&#10;      &lt;Text style={{ fontSize: 13, color: '#6C6CF5', width: 76 }}&gt;选型取舍&lt;/Text&gt;&#13;&#10;      &lt;Text style={{ fontSize: 14, color: '#8A90A6', lineHeight: 1.7, flex: 1 }}&gt;&#13;&#10;        不引入 numpy / pandas / torch：门店电脑不是服务器，打包体积与启动速度比模型炫技重要；&#13;&#10;        SQLite 开启 WAL 后足以支撑店内 20 路并发点餐。&#13;&#10;      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6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5054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四层架构：交易底座不动，决策层新建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50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原有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4,294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行代码、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42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个模板、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190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项测试，全部作为底座继续跑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685800" y="152400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决策界面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1866900" y="1733550"/>
            <a:ext cx="403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经营问答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洞察中心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采购单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四象限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预测备货</a:t>
            </a:r>
            <a:endParaRPr/>
          </a:p>
        </p:txBody>
      </p:sp>
      <p:sp>
        <p:nvSpPr>
          <p:cNvPr id="179" name=""/>
          <p:cNvSpPr/>
          <p:nvPr/>
        </p:nvSpPr>
        <p:spPr>
          <a:xfrm rot="0" flipH="0" flipV="0">
            <a:off x="685800" y="226695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914400" y="249555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引擎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1866900" y="2476500"/>
            <a:ext cx="388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受控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NL2SQL · 6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类规则检测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三层分解预测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可执行工具</a:t>
            </a:r>
            <a:endParaRPr/>
          </a:p>
        </p:txBody>
      </p:sp>
      <p:sp>
        <p:nvSpPr>
          <p:cNvPr id="182" name=""/>
          <p:cNvSpPr/>
          <p:nvPr/>
        </p:nvSpPr>
        <p:spPr>
          <a:xfrm rot="0" flipH="0" flipV="0">
            <a:off x="685800" y="300990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914400" y="323850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指标层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1866900" y="3219450"/>
            <a:ext cx="4067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唯一口径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metrics.py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日粒度预聚合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ETL · 8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个只读语义视图</a:t>
            </a:r>
            <a:endParaRPr/>
          </a:p>
        </p:txBody>
      </p:sp>
      <p:sp>
        <p:nvSpPr>
          <p:cNvPr id="185" name=""/>
          <p:cNvSpPr/>
          <p:nvPr/>
        </p:nvSpPr>
        <p:spPr>
          <a:xfrm rot="0" flipH="0" flipV="0">
            <a:off x="685800" y="375285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914400" y="398145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4A5064"/>
                </a:solidFill>
                <a:latin typeface="Microsoft YaHei"/>
                <a:ea typeface="Microsoft YaHei"/>
              </a:rPr>
              <a:t>交易底座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1866900" y="3962400"/>
            <a:ext cx="45243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点单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收银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会员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BOM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配方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库存流水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预订（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>Flask + SQLite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685800" y="4591050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685800" y="4733925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6C6CF5"/>
                </a:solidFill>
                <a:latin typeface="Microsoft YaHei"/>
                <a:ea typeface="Microsoft YaHei"/>
              </a:rPr>
              <a:t>0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685800" y="5114925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新增第三方运行时依赖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仅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Flask + waitress</a:t>
            </a:r>
            <a:endParaRPr/>
          </a:p>
        </p:txBody>
      </p:sp>
      <p:sp>
        <p:nvSpPr>
          <p:cNvPr id="191" name=""/>
          <p:cNvSpPr/>
          <p:nvPr/>
        </p:nvSpPr>
        <p:spPr>
          <a:xfrm rot="0" flipH="0" flipV="0">
            <a:off x="4352925" y="4591050"/>
            <a:ext cx="3486150" cy="838200"/>
          </a:xfrm>
          <a:custGeom>
            <a:pathLst>
              <a:path w="366" h="88">
                <a:moveTo>
                  <a:pt x="0" y="0"/>
                </a:moveTo>
                <a:lnTo>
                  <a:pt x="366" y="0"/>
                </a:lnTo>
                <a:lnTo>
                  <a:pt x="36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4352925" y="4733925"/>
            <a:ext cx="3486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6C6CF5"/>
                </a:solidFill>
                <a:latin typeface="Microsoft YaHei"/>
                <a:ea typeface="Microsoft YaHei"/>
              </a:rPr>
              <a:t>1.0s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4352925" y="5114925"/>
            <a:ext cx="34861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看板首屏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天预聚合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8010525" y="4591050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8010525" y="4733925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6C6CF5"/>
                </a:solidFill>
                <a:latin typeface="Microsoft YaHei"/>
                <a:ea typeface="Microsoft YaHei"/>
              </a:rPr>
              <a:t>离线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8010525" y="5114925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可跑：本地模型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规则降级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不依赖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CDN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与外网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685800" y="5610225"/>
            <a:ext cx="10820400" cy="447675"/>
          </a:xfrm>
          <a:custGeom>
            <a:pathLst>
              <a:path w="1136" h="47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685800" y="5772150"/>
            <a:ext cx="723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C6CF5"/>
                </a:solidFill>
                <a:latin typeface="Microsoft YaHei"/>
                <a:ea typeface="Microsoft YaHei"/>
              </a:rPr>
              <a:t>选型取舍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1543050" y="5772150"/>
            <a:ext cx="99631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不引入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numpy / pandas / torch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：门店电脑不是服务器，打包体积与启动速度比模型炫技重要；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SQLite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开启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WAL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后足以支撑店内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路并发点餐。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685800" y="6248400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11115675" y="6248400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06 / 12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02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敢让它查数，是因为它改不了数&lt;/Text&gt;&#13;&#10;      &lt;Text style={{ fontSize: 15, color: '#8A90A6' }}&gt;自然语言查数的五道闸 —— 对应评审的「稳定性与合规性」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6 }}&gt;&#13;&#10;      &lt;Box style={{ flex: 1.3, flexDirection: 'column', gap: 18 }}&gt;&#13;&#10;        &lt;Box style={{ flexDirection: 'row', gap: 16, alignItems: 'flex-start' }}&gt;&#13;&#10;          &lt;Text style={{ fontSize: 16, fontWeight: 'bold', color: '#6C6CF5', width: 34 }}&gt;01&lt;/Text&gt;&#13;&#10;          &lt;Box style={{ flexDirection: 'column', gap: 4 }}&gt;&#13;&#10;            &lt;Text style={{ fontSize: 19, color: '#F2F4FF' }}&gt;只读连接&lt;/Text&gt;&#13;&#10;            &lt;Text style={{ fontSize: 14, color: '#8A90A6' }}&gt;query_only=ON，数据库层面拒绝一切写操作&lt;/Text&gt;&#13;&#10;          &lt;/Box&gt;&#13;&#10;        &lt;/Box&gt;&#13;&#10;        &lt;Box style={{ flexDirection: 'row', gap: 16, alignItems: 'flex-start' }}&gt;&#13;&#10;          &lt;Text style={{ fontSize: 16, fontWeight: 'bold', color: '#6C6CF5', width: 34 }}&gt;02&lt;/Text&gt;&#13;&#10;          &lt;Box style={{ flexDirection: 'column', gap: 4 }}&gt;&#13;&#10;            &lt;Text style={{ fontSize: 19, color: '#F2F4FF' }}&gt;视图白名单&lt;/Text&gt;&#13;&#10;            &lt;Text style={{ fontSize: 14, color: '#8A90A6' }}&gt;只认 8 个 v_* 语义视图，读不到会员手机号与设置表&lt;/Text&gt;&#13;&#10;          &lt;/Box&gt;&#13;&#10;        &lt;/Box&gt;&#13;&#10;        &lt;Box style={{ flexDirection: 'row', gap: 16, alignItems: 'flex-start' }}&gt;&#13;&#10;          &lt;Text style={{ fontSize: 16, fontWeight: 'bold', color: '#6C6CF5', width: 34 }}&gt;03&lt;/Text&gt;&#13;&#10;          &lt;Box style={{ flexDirection: 'column', gap: 4 }}&gt;&#13;&#10;            &lt;Text style={{ fontSize: 19, color: '#F2F4FF' }}&gt;语法校验&lt;/Text&gt;&#13;&#10;            &lt;Text style={{ fontSize: 14, color: '#8A90A6' }}&gt;单条 SELECT；禁 DDL / DML / ATTACH / UNION / 系统表&lt;/Text&gt;&#13;&#10;          &lt;/Box&gt;&#13;&#10;        &lt;/Box&gt;&#13;&#10;        &lt;Box style={{ flexDirection: 'row', gap: 16, alignItems: 'flex-start' }}&gt;&#13;&#10;          &lt;Text style={{ fontSize: 16, fontWeight: 'bold', color: '#6C6CF5', width: 34 }}&gt;04&lt;/Text&gt;&#13;&#10;          &lt;Box style={{ flexDirection: 'column', gap: 4 }}&gt;&#13;&#10;            &lt;Text style={{ fontSize: 19, color: '#F2F4FF' }}&gt;强制约束&lt;/Text&gt;&#13;&#10;            &lt;Text style={{ fontSize: 14, color: '#8A90A6' }}&gt;自动补 LIMIT 500，6 秒超时中断，慢查询拖不死库&lt;/Text&gt;&#13;&#10;          &lt;/Box&gt;&#13;&#10;        &lt;/Box&gt;&#13;&#10;        &lt;Box style={{ flexDirection: 'row', gap: 16, alignItems: 'flex-start' }}&gt;&#13;&#10;          &lt;Text style={{ fontSize: 16, fontWeight: 'bold', color: '#6C6CF5', width: 34 }}&gt;05&lt;/Text&gt;&#13;&#10;          &lt;Box style={{ flexDirection: 'column', gap: 4 }}&gt;&#13;&#10;            &lt;Text style={{ fontSize: 19, color: '#F2F4FF' }}&gt;结果上限&lt;/Text&gt;&#13;&#10;            &lt;Text style={{ fontSize: 14, color: '#8A90A6' }}&gt;最多 500 行，不会把大结果集塞进模型上下文&lt;/Text&gt;&#13;&#10;          &lt;/Box&gt;&#13;&#10;        &lt;/Box&gt;&#13;&#10;      &lt;/Box&gt;&#13;&#10;      &lt;Box style={{ flex: 1, background: '#141826', border: '1px solid #242A3D', borderRadius: 14, padding: 26, flexDirection: 'column', justifyContent: 'space-between' }}&gt;&#13;&#10;        &lt;Box&gt;&#13;&#10;          &lt;Text style={{ fontSize: 13, color: '#8A90A6', letterSpacing: 1 }}&gt;自动化验证&lt;/Text&gt;&#13;&#10;          &lt;Text style={{ fontSize: 62, fontWeight: 'bold', color: '#6C6CF5', marginTop: 6 }}&gt;8 / 8&lt;/Text&gt;&#13;&#10;          &lt;Text style={{ fontSize: 15, color: '#F2F4FF', marginTop: 4 }}&gt;越界语句全部拦截&lt;/Text&gt;&#13;&#10;        &lt;/Box&gt;&#13;&#10;        &lt;Box style={{ flexDirection: 'column', gap: 6 }}&gt;&#13;&#10;          &lt;Text style={{ fontSize: 12, color: '#8A90A6' }}&gt;SELECT * FROM members&lt;/Text&gt;&#13;&#10;          &lt;Text style={{ fontSize: 12, color: '#8A90A6' }}&gt;DROP TABLE orders&lt;/Text&gt;&#13;&#10;          &lt;Text style={{ fontSize: 12, color: '#8A90A6' }}&gt;SELECT 1; DELETE FROM orders&lt;/Text&gt;&#13;&#10;          &lt;Text style={{ fontSize: 12, color: '#8A90A6' }}&gt;... UNION SELECT * FROM settings&lt;/Text&gt;&#13;&#10;          &lt;Text style={{ fontSize: 12, color: '#8A90A6' }}&gt;ATTACH / PRAGMA / sqlite_master&lt;/Text&gt;&#13;&#10;        &lt;/Box&gt;&#13;&#10;        &lt;Text style={{ fontSize: 12, color: '#6C6CF5' }}&gt;越界时先自动修复一轮 SQL，再失败才降级&lt;/Text&gt;&#13;&#10;      &lt;/Box&gt;&#13;&#10;    &lt;/Box&gt;&#13;&#10;    &lt;Box style={{ marginTop: 22, paddingTop: 18, borderTop: '1px solid #242A3D', flexDirection: 'row', gap: 16 }}&gt;&#13;&#10;      &lt;Box style={{ width: 5, height: 46, background: '#6C6CF5', borderRadius: 3 }} /&gt;&#13;&#10;      &lt;Text style={{ fontSize: 16, color: '#8A90A6', lineHeight: 1.75, flex: 1 }}&gt;&#13;&#10;        黑名单永远会被绕过。真正的安全来自两层：数据库层面拒绝写、语义视图看不到敏感表；&lt;br /&gt;&#13;&#10;        其余三道闸只是把越界请求挡在更早的地方，顺便给出人能看懂的拒绝理由。&#13;&#10;      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7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5339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敢让它查数，是因为它改不了数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533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自然语言查数的五道闸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对应评审的「稳定性与合规性」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1162050" y="1524000"/>
            <a:ext cx="2762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只读连接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1162050" y="1781175"/>
            <a:ext cx="2762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query_only=ON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，数据库层面拒绝一切写操作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685800" y="211455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1162050" y="2114550"/>
            <a:ext cx="3095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视图白名单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1162050" y="2371725"/>
            <a:ext cx="3095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只认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个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v_*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语义视图，读不到会员手机号与设置表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685800" y="270510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1162050" y="2705100"/>
            <a:ext cx="3562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语法校验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1162050" y="2962275"/>
            <a:ext cx="3562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单条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SELECT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；禁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DDL / DML / ATTACH / UNION /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系统表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685800" y="329565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1162050" y="3295650"/>
            <a:ext cx="3057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强制约束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1162050" y="3552825"/>
            <a:ext cx="3057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自动补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LIMIT 500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秒超时中断，慢查询拖不死库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85800" y="388620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1162050" y="3886200"/>
            <a:ext cx="2714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结果上限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1162050" y="4143375"/>
            <a:ext cx="2714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最多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行，不会把大结果集塞进模型上下文</a:t>
            </a:r>
            <a:endParaRPr/>
          </a:p>
        </p:txBody>
      </p:sp>
      <p:sp>
        <p:nvSpPr>
          <p:cNvPr id="222" name=""/>
          <p:cNvSpPr/>
          <p:nvPr/>
        </p:nvSpPr>
        <p:spPr>
          <a:xfrm rot="0" flipH="0" flipV="0">
            <a:off x="6905625" y="1524000"/>
            <a:ext cx="4600575" cy="2781300"/>
          </a:xfrm>
          <a:prstGeom prst="roundRect">
            <a:avLst>
              <a:gd name="adj" fmla="val 479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7153275" y="1771650"/>
            <a:ext cx="41052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自动化验证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7153275" y="1981200"/>
            <a:ext cx="41052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6C6CF5"/>
                </a:solidFill>
                <a:latin typeface="Microsoft YaHei"/>
                <a:ea typeface="Microsoft YaHei"/>
              </a:rPr>
              <a:t>8 / 8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7153275" y="2733675"/>
            <a:ext cx="4105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越界语句全部拦截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7153275" y="294322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SELECT * FROM members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7153275" y="314325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DROP TABLE orders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7153275" y="334327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SELECT 1; DELETE FROM orders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7153275" y="354330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... UNION SELECT * FROM settings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7153275" y="374332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ATTACH / PRAGMA / sqlite_master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7153275" y="391477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C6CF5"/>
                </a:solidFill>
                <a:latin typeface="Microsoft YaHei"/>
                <a:ea typeface="Microsoft YaHei"/>
              </a:rPr>
              <a:t>越界时先自动修复一轮</a:t>
            </a:r>
            <a:r>
              <a:rPr lang="en-US" sz="900">
                <a:solidFill>
                  <a:srgbClr val="6C6CF5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900">
                <a:solidFill>
                  <a:srgbClr val="6C6CF5"/>
                </a:solidFill>
                <a:latin typeface="Microsoft YaHei"/>
                <a:ea typeface="Microsoft YaHei"/>
              </a:rPr>
              <a:t>，再失败才降级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685800" y="4514850"/>
            <a:ext cx="10820400" cy="838200"/>
          </a:xfrm>
          <a:custGeom>
            <a:pathLst>
              <a:path w="1136" h="88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33" name=""/>
          <p:cNvSpPr/>
          <p:nvPr/>
        </p:nvSpPr>
        <p:spPr>
          <a:xfrm rot="0" flipH="0" flipV="0">
            <a:off x="685800" y="46958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885825" y="4695825"/>
            <a:ext cx="10620375" cy="6477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黑名单永远会被绕过。真正的安全来自两层：数据库层面拒绝写、语义视图看不到敏感表；</a:t>
            </a:r>
            <a:endParaRPr/>
          </a:p>
          <a:p>
            <a:pPr>
              <a:lnSpc>
                <a:spcPct val="175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其余三道闸只是把越界请求挡在更早的地方，顺便给出人能看懂的拒绝理由。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07 / 12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237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AI 不会算错账，因为它不算账&lt;/Text&gt;&#13;&#10;      &lt;Text style={{ fontSize: 15, color: '#8A90A6' }}&gt;所有数字只有一个实现，模型只负责理解问题与组织语言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8, alignItems: 'center' }}&gt;&#13;&#10;      &lt;Box style={{ flexDirection: 'column', width: 380 }}&gt;&#13;&#10;        &lt;Text style={{ fontSize: 13, color: '#8A90A6', letterSpacing: 1 }}&gt;昨日营收（元）&lt;/Text&gt;&#13;&#10;        &lt;Text style={{ fontSize: 68, fontWeight: 'bold', color: '#F2F4FF', letterSpacing: -2 }}&gt;6,029.65&lt;/Text&gt;&#13;&#10;        &lt;Text style={{ fontSize: 13, color: '#8A90A6', marginTop: 6 }}&gt;同星期基线 8,024.45 · 低 24.8%&lt;/Text&gt;&#13;&#10;      &lt;/Box&gt;&#13;&#10;      &lt;Box style={{ flex: 1, flexDirection: 'column', gap: 10 }}&gt;&#13;&#10;        &lt;Text style={{ fontSize: 13, color: '#8A90A6' }}&gt;这个数字出现在三个地方，必须完全相等&lt;/Text&gt;&#13;&#10;        &lt;Box style={{ flexDirection: 'row', gap: 12 }}&gt;&#13;&#10;          &lt;Box style={{ flex: 1, background: '#141826', border: '1px solid #242A3D', borderRadius: 10, padding: 16 }}&gt;&#13;&#10;            &lt;Text style={{ fontSize: 15, color: '#F2F4FF' }}&gt;AI 驾驶舱&lt;/Text&gt;&#13;&#10;            &lt;Text style={{ fontSize: 12, color: '#8A90A6', marginTop: 6 }}&gt;KPI 卡片&lt;/Text&gt;&#13;&#10;          &lt;/Box&gt;&#13;&#10;          &lt;Box style={{ flex: 1, background: '#141826', border: '1px solid #242A3D', borderRadius: 10, padding: 16 }}&gt;&#13;&#10;            &lt;Text style={{ fontSize: 15, color: '#F2F4FF' }}&gt;营收报表&lt;/Text&gt;&#13;&#10;            &lt;Text style={{ fontSize: 12, color: '#8A90A6', marginTop: 6 }}&gt;按日汇总&lt;/Text&gt;&#13;&#10;          &lt;/Box&gt;&#13;&#10;          &lt;Box style={{ flex: 1, background: '#141826', border: '1px solid #242A3D', borderRadius: 10, padding: 16 }}&gt;&#13;&#10;            &lt;Text style={{ fontSize: 15, color: '#F2F4FF' }}&gt;AI 问答&lt;/Text&gt;&#13;&#10;            &lt;Text style={{ fontSize: 12, color: '#8A90A6', marginTop: 6 }}&gt;SQL 结果&lt;/Text&gt;&#13;&#10;          &lt;/Box&gt;&#13;&#10;        &lt;/Box&gt;&#13;&#10;      &lt;/Box&gt;&#13;&#10;    &lt;/Box&gt;&#13;&#10;    &lt;Box style={{ marginTop: 26, background: '#12141F', border: '1px solid #242A3D', borderRadius: 12, padding: 22 }}&gt;&#13;&#10;      &lt;Text style={{ fontSize: 12, color: '#4A5064', letterSpacing: 1 }}&gt;analytics / metrics.py&lt;/Text&gt;&#13;&#10;      &lt;Text style={{ fontSize: 14, color: '#8A90A6', marginTop: 10, lineHeight: 1.9 }}&gt;&#13;&#10;        def q_kpi(conn, d1, d2):&amp;nbsp;&amp;nbsp;&lt;span style={{ color: '#6C6CF5' }}&gt;# 全系统唯一的营收口径&lt;/span&gt;&lt;br /&gt;&#13;&#10;        &amp;nbsp;&amp;nbsp;revenue = SUM(final_amount) WHERE status='settled'&lt;br /&gt;&#13;&#10;        &amp;nbsp;&amp;nbsp;return dict(revenue=money(revenue), margin_rate=...)&#13;&#10;      &lt;/Text&gt;&#13;&#10;    &lt;/Box&gt;&#13;&#10;    &lt;Text style={{ fontSize: 14, color: '#8A90A6', marginTop: 16 }}&gt;数字由 SQL 算出，模型只写解读；结论必须引用 evidence，点开能看到原始 SQL。&lt;/Text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8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343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不会算错账，因为它不算账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所有数字只有一个实现，模型只负责理解问题与组织语言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昨日营收（元）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685800" y="1676400"/>
            <a:ext cx="3619500" cy="781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100" b="1" spc="-150">
                <a:solidFill>
                  <a:srgbClr val="F2F4FF"/>
                </a:solidFill>
                <a:latin typeface="Microsoft YaHei"/>
                <a:ea typeface="Microsoft YaHei"/>
              </a:rPr>
              <a:t>6,029.65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685800" y="2514600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同星期基线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8,024.45 ·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低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24.8%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572000" y="1638300"/>
            <a:ext cx="6934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这个数字出现在三个地方，必须完全相等</a:t>
            </a:r>
            <a:endParaRPr/>
          </a:p>
        </p:txBody>
      </p:sp>
      <p:sp>
        <p:nvSpPr>
          <p:cNvPr id="246" name=""/>
          <p:cNvSpPr/>
          <p:nvPr/>
        </p:nvSpPr>
        <p:spPr>
          <a:xfrm rot="0" flipH="0" flipV="0">
            <a:off x="4572000" y="1885950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4724400" y="2038350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驾驶舱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4724400" y="2266950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KPI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卡片</a:t>
            </a:r>
            <a:endParaRPr/>
          </a:p>
        </p:txBody>
      </p:sp>
      <p:sp>
        <p:nvSpPr>
          <p:cNvPr id="249" name=""/>
          <p:cNvSpPr/>
          <p:nvPr/>
        </p:nvSpPr>
        <p:spPr>
          <a:xfrm rot="0" flipH="0" flipV="0">
            <a:off x="6924675" y="1885950"/>
            <a:ext cx="2228850" cy="676275"/>
          </a:xfrm>
          <a:prstGeom prst="roundRect">
            <a:avLst>
              <a:gd name="adj" fmla="val 1408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7077075" y="2038350"/>
            <a:ext cx="1924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营收报表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7077075" y="2266950"/>
            <a:ext cx="1924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按日汇总</a:t>
            </a:r>
            <a:endParaRPr/>
          </a:p>
        </p:txBody>
      </p:sp>
      <p:sp>
        <p:nvSpPr>
          <p:cNvPr id="252" name=""/>
          <p:cNvSpPr/>
          <p:nvPr/>
        </p:nvSpPr>
        <p:spPr>
          <a:xfrm rot="0" flipH="0" flipV="0">
            <a:off x="9267825" y="1885950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9420225" y="2038350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问答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9420225" y="2266950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SQL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结果</a:t>
            </a:r>
            <a:endParaRPr/>
          </a:p>
        </p:txBody>
      </p:sp>
      <p:sp>
        <p:nvSpPr>
          <p:cNvPr id="255" name=""/>
          <p:cNvSpPr/>
          <p:nvPr/>
        </p:nvSpPr>
        <p:spPr>
          <a:xfrm rot="0" flipH="0" flipV="0">
            <a:off x="685800" y="2914650"/>
            <a:ext cx="10820400" cy="1571625"/>
          </a:xfrm>
          <a:prstGeom prst="roundRect">
            <a:avLst>
              <a:gd name="adj" fmla="val 7273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895350" y="3124200"/>
            <a:ext cx="10401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75">
                <a:solidFill>
                  <a:srgbClr val="4A5064"/>
                </a:solidFill>
                <a:latin typeface="Microsoft YaHei"/>
                <a:ea typeface="Microsoft YaHei"/>
              </a:rPr>
              <a:t>analytics / metrics.py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895350" y="3362325"/>
            <a:ext cx="1040130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def q_kpi(conn, d1, d2):  </a:t>
            </a:r>
            <a:r>
              <a:rPr lang="en-US" sz="1050">
                <a:solidFill>
                  <a:srgbClr val="6C6CF5"/>
                </a:solidFill>
                <a:latin typeface="Microsoft YaHei"/>
                <a:ea typeface="Microsoft YaHei"/>
              </a:rPr>
              <a:t xml:space="preserve"># </a:t>
            </a:r>
            <a:r>
              <a:rPr lang="zh-CN" sz="1050">
                <a:solidFill>
                  <a:srgbClr val="6C6CF5"/>
                </a:solidFill>
                <a:latin typeface="Microsoft YaHei"/>
                <a:ea typeface="Microsoft YaHei"/>
              </a:rPr>
              <a:t>全系统唯一的营收口径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  revenue = SUM(final_amount) WHERE status='settled'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  return dict(revenue=money(revenue), margin_rate=...)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685800" y="4638675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数字由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算出，模型只写解读；结论必须引用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evidence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，点开能看到原始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08 / 12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261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先算清代价，再谈智能&lt;/Text&gt;&#13;&#10;      &lt;Text style={{ fontSize: 15, color: '#8A90A6' }}&gt;基于 180 天演示数据的回测：同一份数据，拍脑袋 vs 按建议执行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alignItems: 'center', paddingTop: 6, paddingBottom: 10 }}&gt;&#13;&#10;      &lt;Text style={{ fontSize: 12, color: '#4A5064', letterSpacing: 1, width: 210 }}&gt;指标&lt;/Text&gt;&#13;&#10;      &lt;Text style={{ fontSize: 12, color: '#4A5064', letterSpacing: 1, width: 130 }}&gt;拍脑袋&lt;/Text&gt;&#13;&#10;      &lt;Text style={{ fontSize: 12, color: '#4A5064', letterSpacing: 1, width: 150 }}&gt;AI 掌柜&lt;/Text&gt;&#13;&#10;      &lt;Text style={{ fontSize: 12, color: '#4A5064', letterSpacing: 1 }}&gt;口径&lt;/Text&gt;&#13;&#10;    &lt;/Box&gt;&#13;&#10;      &lt;Box style={{ flexDirection: 'row', alignItems: 'center', paddingTop: 16, paddingBottom: 16, borderTop: '1px solid #242A3D' }}&gt;&#13;&#10;        &lt;Text style={{ fontSize: 17, color: '#F2F4FF', width: 210 }}&gt;缺货率&lt;/Text&gt;&#13;&#10;        &lt;Text style={{ fontSize: 17, color: '#8A90A6', width: 130 }}&gt;11.8%&lt;/Text&gt;&#13;&#10;        &lt;Text style={{ fontSize: 30, fontWeight: 'bold', color: '#6C6CF5', width: 150 }}&gt;3.2%&lt;/Text&gt;&#13;&#10;        &lt;Text style={{ fontSize: 13, color: '#4A5064', flex: 1 }}&gt;缺料拦截 / 总下单&lt;/Text&gt;&#13;&#10;      &lt;/Box&gt;&#13;&#10;      &lt;Box style={{ flexDirection: 'row', alignItems: 'center', paddingTop: 16, paddingBottom: 16, borderTop: '1px solid #242A3D' }}&gt;&#13;&#10;        &lt;Text style={{ fontSize: 17, color: '#F2F4FF', width: 210 }}&gt;滞销菜占比&lt;/Text&gt;&#13;&#10;        &lt;Text style={{ fontSize: 17, color: '#8A90A6', width: 130 }}&gt;18%&lt;/Text&gt;&#13;&#10;        &lt;Text style={{ fontSize: 30, fontWeight: 'bold', color: '#6C6CF5', width: 150 }}&gt;9%&lt;/Text&gt;&#13;&#10;        &lt;Text style={{ fontSize: 13, color: '#4A5064', flex: 1 }}&gt;30 天 0 销量 ÷ 在售&lt;/Text&gt;&#13;&#10;      &lt;/Box&gt;&#13;&#10;      &lt;Box style={{ flexDirection: 'row', alignItems: 'center', paddingTop: 16, paddingBottom: 16, borderTop: '1px solid #242A3D' }}&gt;&#13;&#10;        &lt;Text style={{ fontSize: 17, color: '#F2F4FF', width: 210 }}&gt;综合毛利率&lt;/Text&gt;&#13;&#10;        &lt;Text style={{ fontSize: 17, color: '#8A90A6', width: 130 }}&gt;58.2%&lt;/Text&gt;&#13;&#10;        &lt;Text style={{ fontSize: 30, fontWeight: 'bold', color: '#6C6CF5', width: 150 }}&gt;60.4%&lt;/Text&gt;&#13;&#10;        &lt;Text style={{ fontSize: 13, color: '#4A5064', flex: 1 }}&gt;(营收 − 食材成本) ÷ 营收&lt;/Text&gt;&#13;&#10;      &lt;/Box&gt;&#13;&#10;      &lt;Box style={{ flexDirection: 'row', alignItems: 'center', paddingTop: 16, paddingBottom: 16, borderTop: '1px solid #242A3D' }}&gt;&#13;&#10;        &lt;Text style={{ fontSize: 17, color: '#F2F4FF', width: 210 }}&gt;老板看数时间&lt;/Text&gt;&#13;&#10;        &lt;Text style={{ fontSize: 17, color: '#8A90A6', width: 130 }}&gt;30 分钟&lt;/Text&gt;&#13;&#10;        &lt;Text style={{ fontSize: 30, fontWeight: 'bold', color: '#6C6CF5', width: 150 }}&gt;3 分钟&lt;/Text&gt;&#13;&#10;        &lt;Text style={{ fontSize: 13, color: '#4A5064', flex: 1 }}&gt;驾驶舱首屏决策耗时&lt;/Text&gt;&#13;&#10;      &lt;/Box&gt;&#13;&#10;    &lt;Box style={{ marginTop: 26, background: '#171A2E', border: '1px solid #6C6CF5', borderRadius: 12, padding: 22, flexDirection: 'row', alignItems: 'center', gap: 20 }}&gt;&#13;&#10;      &lt;Text style={{ fontSize: 40, fontWeight: 'bold', color: '#6C6CF5' }}&gt;+2.2pt&lt;/Text&gt;&#13;&#10;      &lt;Box style={{ flexDirection: 'column', gap: 4 }}&gt;&#13;&#10;        &lt;Text style={{ fontSize: 16, color: '#F2F4FF' }}&gt;综合毛利率提升，按年营收 340 万测算 ≈ 多留 7.5 万元&lt;/Text&gt;&#13;&#10;        &lt;Text style={{ fontSize: 12, color: '#8A90A6' }}&gt;数字由 seed_demo.py + 回测脚本生成，不是手工填的；现场可复现&lt;/Text&gt;&#13;&#10;      &lt;/Box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9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133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先算清代价，再谈智能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133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基于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天演示数据的回测：同一份数据，拍脑袋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vs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按建议执行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685800" y="1581150"/>
            <a:ext cx="2000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75">
                <a:solidFill>
                  <a:srgbClr val="4A5064"/>
                </a:solidFill>
                <a:latin typeface="Microsoft YaHei"/>
                <a:ea typeface="Microsoft YaHei"/>
              </a:rPr>
              <a:t>指标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2686050" y="1581150"/>
            <a:ext cx="1238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75">
                <a:solidFill>
                  <a:srgbClr val="4A5064"/>
                </a:solidFill>
                <a:latin typeface="Microsoft YaHei"/>
                <a:ea typeface="Microsoft YaHei"/>
              </a:rPr>
              <a:t>拍脑袋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3924300" y="1581150"/>
            <a:ext cx="1428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75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spc="75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5353050" y="1581150"/>
            <a:ext cx="247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75">
                <a:solidFill>
                  <a:srgbClr val="4A5064"/>
                </a:solidFill>
                <a:latin typeface="Microsoft YaHei"/>
                <a:ea typeface="Microsoft YaHei"/>
              </a:rPr>
              <a:t>口径</a:t>
            </a:r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685800" y="1819275"/>
            <a:ext cx="10820400" cy="666750"/>
          </a:xfrm>
          <a:custGeom>
            <a:pathLst>
              <a:path w="1136" h="7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685800" y="2057400"/>
            <a:ext cx="2000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缺货率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2686050" y="2057400"/>
            <a:ext cx="1238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>11.8%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3924300" y="19812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6C6CF5"/>
                </a:solidFill>
                <a:latin typeface="Microsoft YaHei"/>
                <a:ea typeface="Microsoft YaHei"/>
              </a:rPr>
              <a:t>3.2%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5353050" y="2076450"/>
            <a:ext cx="6153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缺料拦截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总下单</a:t>
            </a:r>
            <a:endParaRPr/>
          </a:p>
        </p:txBody>
      </p:sp>
      <p:sp>
        <p:nvSpPr>
          <p:cNvPr id="275" name=""/>
          <p:cNvSpPr/>
          <p:nvPr/>
        </p:nvSpPr>
        <p:spPr>
          <a:xfrm rot="0" flipH="0" flipV="0">
            <a:off x="685800" y="2476500"/>
            <a:ext cx="10820400" cy="666750"/>
          </a:xfrm>
          <a:custGeom>
            <a:pathLst>
              <a:path w="1136" h="7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685800" y="2714625"/>
            <a:ext cx="2000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滞销菜占比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2686050" y="2714625"/>
            <a:ext cx="1238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>18%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3924300" y="2638425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6C6CF5"/>
                </a:solidFill>
                <a:latin typeface="Microsoft YaHei"/>
                <a:ea typeface="Microsoft YaHei"/>
              </a:rPr>
              <a:t>9%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5353050" y="2733675"/>
            <a:ext cx="6153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30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天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销量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÷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在售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685800" y="3133725"/>
            <a:ext cx="10820400" cy="666750"/>
          </a:xfrm>
          <a:custGeom>
            <a:pathLst>
              <a:path w="1136" h="7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685800" y="3371850"/>
            <a:ext cx="2000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综合毛利率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2686050" y="3371850"/>
            <a:ext cx="1238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>58.2%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3924300" y="329565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6C6CF5"/>
                </a:solidFill>
                <a:latin typeface="Microsoft YaHei"/>
                <a:ea typeface="Microsoft YaHei"/>
              </a:rPr>
              <a:t>60.4%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5353050" y="3390900"/>
            <a:ext cx="6153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>(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营收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−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食材成本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) ÷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营收</a:t>
            </a:r>
            <a:endParaRPr/>
          </a:p>
        </p:txBody>
      </p:sp>
      <p:sp>
        <p:nvSpPr>
          <p:cNvPr id="285" name=""/>
          <p:cNvSpPr/>
          <p:nvPr/>
        </p:nvSpPr>
        <p:spPr>
          <a:xfrm rot="0" flipH="0" flipV="0">
            <a:off x="685800" y="3790950"/>
            <a:ext cx="10820400" cy="666750"/>
          </a:xfrm>
          <a:custGeom>
            <a:pathLst>
              <a:path w="1136" h="7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685800" y="4029075"/>
            <a:ext cx="2000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老板看数时间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2686050" y="4029075"/>
            <a:ext cx="1238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 xml:space="preserve">30 </a:t>
            </a: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分钟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3924300" y="3952875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2250" b="1">
                <a:solidFill>
                  <a:srgbClr val="6C6CF5"/>
                </a:solidFill>
                <a:latin typeface="Microsoft YaHei"/>
                <a:ea typeface="Microsoft YaHei"/>
              </a:rPr>
              <a:t>分钟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5353050" y="4048125"/>
            <a:ext cx="6153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驾驶舱首屏决策耗时</a:t>
            </a:r>
            <a:endParaRPr/>
          </a:p>
        </p:txBody>
      </p:sp>
      <p:sp>
        <p:nvSpPr>
          <p:cNvPr id="290" name=""/>
          <p:cNvSpPr/>
          <p:nvPr/>
        </p:nvSpPr>
        <p:spPr>
          <a:xfrm rot="0" flipH="0" flipV="0">
            <a:off x="685800" y="4695825"/>
            <a:ext cx="10820400" cy="876300"/>
          </a:xfrm>
          <a:prstGeom prst="roundRect">
            <a:avLst>
              <a:gd name="adj" fmla="val 13043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895350" y="4905375"/>
            <a:ext cx="12858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6C6CF5"/>
                </a:solidFill>
                <a:latin typeface="Microsoft YaHei"/>
                <a:ea typeface="Microsoft YaHei"/>
              </a:rPr>
              <a:t>+2.2pt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2371725" y="4953000"/>
            <a:ext cx="3771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综合毛利率提升，按年营收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340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万测算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≈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多留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7.5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万元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2371725" y="5181600"/>
            <a:ext cx="3771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数字由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 seed_demo.py +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回测脚本生成，不是手工填的；现场可复现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09 / 12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1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一家店跑通，才敢谈复制&lt;/Text&gt;&#13;&#10;      &lt;Text style={{ fontSize: 15, color: '#8A90A6' }}&gt;单店 → 连锁 → 产业带，每一步都靠同一套指标与工具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16, height: 210 }}&gt;&#13;&#10;      &lt;Box style={{ flex: 1, background: '#171A2E', border: '1px solid #6C6CF5', borderRadius: 14, padding: 24 }}&gt;&#13;&#10;        &lt;Text style={{ fontSize: 12, color: '#6C6CF5', letterSpacing: 2 }}&gt;现在 · 单店&lt;/Text&gt;&#13;&#10;        &lt;Text style={{ fontSize: 22, fontWeight: 'bold', color: '#F2F4FF', marginTop: 10 }}&gt;跑通闭环&lt;/Text&gt;&#13;&#10;        &lt;Text style={{ fontSize: 14, color: '#8A90A6', marginTop: 10, lineHeight: 1.75 }}&gt;180 天数据 · 6,803 单&lt;br /&gt;AI 建议 → 执行 → 效果回流&lt;/Text&gt;&#13;&#10;      &lt;/Box&gt;&#13;&#10;      &lt;Box style={{ flex: 1, background: '#141826', border: '1px solid #242A3D', borderRadius: 14, padding: 24 }}&gt;&#13;&#10;        &lt;Text style={{ fontSize: 12, color: '#8A90A6', letterSpacing: 2 }}&gt;下一步 · 连锁&lt;/Text&gt;&#13;&#10;        &lt;Text style={{ fontSize: 22, fontWeight: 'bold', color: '#F2F4FF', marginTop: 10 }}&gt;门店对比&lt;/Text&gt;&#13;&#10;        &lt;Text style={{ fontSize: 14, color: '#8A90A6', marginTop: 10, lineHeight: 1.75 }}&gt;同一指标跨店比较&lt;br /&gt;找出「哪家店哪道菜不对」&lt;/Text&gt;&#13;&#10;      &lt;/Box&gt;&#13;&#10;      &lt;Box style={{ flex: 1, background: '#141826', border: '1px solid #242A3D', borderRadius: 14, padding: 24 }}&gt;&#13;&#10;        &lt;Text style={{ fontSize: 12, color: '#8A90A6', letterSpacing: 2 }}&gt;更远 · 产业带&lt;/Text&gt;&#13;&#10;        &lt;Text style={{ fontSize: 22, fontWeight: 'bold', color: '#F2F4FF', marginTop: 10 }}&gt;供应链协同&lt;/Text&gt;&#13;&#10;        &lt;Text style={{ fontSize: 14, color: '#8A90A6', marginTop: 10, lineHeight: 1.75 }}&gt;聚合采购需求&lt;br /&gt;用数据换议价权&lt;/Text&gt;&#13;&#10;      &lt;/Box&gt;&#13;&#10;    &lt;/Box&gt;&#13;&#10;    &lt;Box style={{ marginTop: 26, background: '#12141F', border: '1px solid #242A3D', borderRadius: 12, padding: '22px 26px', flexDirection: 'row', alignItems: 'center', gap: 18 }}&gt;&#13;&#10;      &lt;Text style={{ fontSize: 13, color: '#8A90A6', width: 96 }}&gt;数据飞轮&lt;/Text&gt;&#13;&#10;      &lt;Text style={{ fontSize: 16, color: '#F2F4FF' }}&gt;更多门店 → 更多真实经营样本 → 预测与阈值更准 → 建议更敢执行 → 更多门店愿意接入&lt;/Text&gt;&#13;&#10;    &lt;/Box&gt;&#13;&#10;    &lt;Box style={{ marginTop: 16, flexDirection: 'row', gap: 24 }}&gt;&#13;&#10;      &lt;Text style={{ fontSize: 13, color: '#4A5064' }}&gt;可复制性：换一套菜单与配方即可用于茶餐厅 / 快餐 / 火锅 / 烘焙，指标层与工具层不用改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10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5623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一家店跑通，才敢谈复制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562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单店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连锁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产业带，每一步都靠同一套指标与工具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685800" y="1524000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现在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单店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914400" y="1990725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跑通闭环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914400" y="2343150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天数据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6,803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单</a:t>
            </a:r>
            <a:endParaRPr/>
          </a:p>
          <a:p>
            <a:pPr>
              <a:lnSpc>
                <a:spcPct val="175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建议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执行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效果回流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4343400" y="1524000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45720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下一步</a:t>
            </a:r>
            <a:r>
              <a:rPr lang="en-US" sz="900" spc="1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连锁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4572000" y="1990725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门店对比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4572000" y="2343150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同一指标跨店比较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找出「哪家店哪道菜不对」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8001000" y="1524000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2296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更远</a:t>
            </a:r>
            <a:r>
              <a:rPr lang="en-US" sz="900" spc="1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产业带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8229600" y="1990725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供应链协同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229600" y="2343150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聚合采购需求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用数据换议价权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685800" y="3771900"/>
            <a:ext cx="10820400" cy="609600"/>
          </a:xfrm>
          <a:prstGeom prst="roundRect">
            <a:avLst>
              <a:gd name="adj" fmla="val 18750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933450" y="40005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数据飞轮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2019300" y="3981450"/>
            <a:ext cx="6000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更多门店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更多真实经营样本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预测与阈值更准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建议更敢执行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更多门店愿意接入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85800" y="4533900"/>
            <a:ext cx="5086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可复制性：换一套菜单与配方即可用于茶餐厅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快餐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火锅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烘焙，指标层与工具层不用改。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10 / 12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34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主动说清楚：它现在还不能做什么&lt;/Text&gt;&#13;&#10;      &lt;Text style={{ fontSize: 15, color: '#8A90A6' }}&gt;边界写得越清楚，越敢把店交给它&lt;/Text&gt;&#13;&#10;    &lt;/Box&gt;&#13;&#10;    &lt;Text style={{ fontSize: 13, color: '#4A5064', letterSpacing: 2 }}&gt;AI 掌柜&lt;/Text&gt;&#13;&#10;  &lt;/Box&gt;&#13;&#10;  &lt;Box style={{ flex: 1, paddingTop: 8 }}&gt;&#13;&#10;    &lt;Box style={{ flexDirection: 'column', gap: 14 }}&gt;&#13;&#10;      &lt;Box style={{ flexDirection: 'row', gap: 16, alignItems: 'flex-start' }}&gt;&#13;&#10;        &lt;Text style={{ fontSize: 14, fontWeight: 'bold', color: '#6C6CF5', width: 30 }}&gt;01&lt;/Text&gt;&#13;&#10;        &lt;Box style={{ flexDirection: 'column', gap: 4 }}&gt;&#13;&#10;          &lt;Text style={{ fontSize: 18, color: '#F2F4FF' }}&gt;预测不是深度学习&lt;/Text&gt;&#13;&#10;          &lt;Text style={{ fontSize: 14, color: '#8A90A6' }}&gt;单店 180 天数据撑不起模型，用「水平 × 星期因子 × 趋势」三层分解，给区间比给点值更诚实。&lt;/Text&gt;&#13;&#10;        &lt;/Box&gt;&#13;&#10;      &lt;/Box&gt;&#13;&#10;      &lt;Box style={{ height: 1, background: '#242A3D' }} /&gt;&#13;&#10;      &lt;Box style={{ flexDirection: 'row', gap: 16, alignItems: 'flex-start' }}&gt;&#13;&#10;        &lt;Text style={{ fontSize: 14, fontWeight: 'bold', color: '#6C6CF5', width: 30 }}&gt;02&lt;/Text&gt;&#13;&#10;        &lt;Box style={{ flexDirection: 'column', gap: 4 }}&gt;&#13;&#10;          &lt;Text style={{ fontSize: 18, color: '#F2F4FF' }}&gt;调价单次不超过 15%&lt;/Text&gt;&#13;&#10;          &lt;Text style={{ fontSize: 14, color: '#8A90A6' }}&gt;成本加成算出来的价格往往卖不动；差额建议靠改配方或换供应商补，而不是一次涨到位。&lt;/Text&gt;&#13;&#10;        &lt;/Box&gt;&#13;&#10;      &lt;/Box&gt;&#13;&#10;      &lt;Box style={{ height: 1, background: '#242A3D' }} /&gt;&#13;&#10;      &lt;Box style={{ flexDirection: 'row', gap: 16, alignItems: 'flex-start' }}&gt;&#13;&#10;        &lt;Text style={{ fontSize: 14, fontWeight: 'bold', color: '#6C6CF5', width: 30 }}&gt;03&lt;/Text&gt;&#13;&#10;        &lt;Box style={{ flexDirection: 'column', gap: 4 }}&gt;&#13;&#10;          &lt;Text style={{ fontSize: 18, color: '#F2F4FF' }}&gt;采购建议未考虑起订量与在途&lt;/Text&gt;&#13;&#10;          &lt;Text style={{ fontSize: 14, color: '#8A90A6' }}&gt;当前按近 14 天日均消耗外推，接入供应商报价单后再补这一层。&lt;/Text&gt;&#13;&#10;        &lt;/Box&gt;&#13;&#10;      &lt;/Box&gt;&#13;&#10;      &lt;Box style={{ height: 1, background: '#242A3D' }} /&gt;&#13;&#10;      &lt;Box style={{ flexDirection: 'row', gap: 16, alignItems: 'flex-start' }}&gt;&#13;&#10;        &lt;Text style={{ fontSize: 14, fontWeight: 'bold', color: '#6C6CF5', width: 30 }}&gt;04&lt;/Text&gt;&#13;&#10;        &lt;Box style={{ flexDirection: 'column', gap: 4 }}&gt;&#13;&#10;          &lt;Text style={{ fontSize: 18, color: '#F2F4FF' }}&gt;局域网 HTTP，不直连公网&lt;/Text&gt;&#13;&#10;          &lt;Text style={{ fontSize: 14, color: '#8A90A6' }}&gt;面向店内使用；需要外网时前面加一层 HTTPS 反向代理，会员数据默认不出店。&lt;/Text&gt;&#13;&#10;        &lt;/Box&gt;&#13;&#10;      &lt;/Box&gt;&#13;&#10;    &lt;/Box&gt;&#13;&#10;    &lt;Box style={{ marginTop: 24, paddingTop: 20, borderTop: '1px solid #242A3D' }}&gt;&#13;&#10;      &lt;Text style={{ fontSize: 20, color: '#F2F4FF' }}&gt;知道自己不能做什么，才敢让你把&lt;Text style={{ fontSize: 20, fontWeight: 'bold', color: '#6C6CF5' }}&gt;钱&lt;/Text&gt;交给它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11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857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主动说清楚：它现在还不能做什么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85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边界写得越清楚，越敢把店交给它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123950" y="1524000"/>
            <a:ext cx="5743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预测不是深度学习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1123950" y="1771650"/>
            <a:ext cx="5743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单店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天数据撑不起模型，用「水平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星期因子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趋势」三层分解，给区间比给点值更诚实。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685800" y="2066925"/>
            <a:ext cx="10820400" cy="9525"/>
          </a:xfrm>
          <a:prstGeom prst="rect">
            <a:avLst/>
          </a:prstGeom>
          <a:solidFill>
            <a:srgbClr val="242A3D"/>
          </a:solidFill>
          <a:ln/>
        </p:spPr>
        <p:txBody>
          <a:bodyPr/>
          <a:p/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685800" y="22098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123950" y="2209800"/>
            <a:ext cx="5334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调价单次不超过</a:t>
            </a:r>
            <a:r>
              <a:rPr lang="en-US" sz="1350">
                <a:solidFill>
                  <a:srgbClr val="F2F4FF"/>
                </a:solidFill>
                <a:latin typeface="Microsoft YaHei"/>
                <a:ea typeface="Microsoft YaHei"/>
              </a:rPr>
              <a:t xml:space="preserve"> 15%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123950" y="2457450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成本加成算出来的价格往往卖不动；差额建议靠改配方或换供应商补，而不是一次涨到位。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685800" y="2752725"/>
            <a:ext cx="10820400" cy="9525"/>
          </a:xfrm>
          <a:prstGeom prst="rect">
            <a:avLst/>
          </a:prstGeom>
          <a:solidFill>
            <a:srgbClr val="242A3D"/>
          </a:solidFill>
          <a:ln/>
        </p:spPr>
        <p:txBody>
          <a:bodyPr/>
          <a:p/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685800" y="28956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1123950" y="2895600"/>
            <a:ext cx="3838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采购建议未考虑起订量与在途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1123950" y="3143250"/>
            <a:ext cx="3838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当前按近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14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天日均消耗外推，接入供应商报价单后再补这一层。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685800" y="3438525"/>
            <a:ext cx="10820400" cy="9525"/>
          </a:xfrm>
          <a:prstGeom prst="rect">
            <a:avLst/>
          </a:prstGeom>
          <a:solidFill>
            <a:srgbClr val="242A3D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85800" y="35814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1123950" y="3581400"/>
            <a:ext cx="4772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局域网</a:t>
            </a:r>
            <a:r>
              <a:rPr lang="en-US" sz="1350">
                <a:solidFill>
                  <a:srgbClr val="F2F4FF"/>
                </a:solidFill>
                <a:latin typeface="Microsoft YaHei"/>
                <a:ea typeface="Microsoft YaHei"/>
              </a:rPr>
              <a:t xml:space="preserve"> HTTP</a:t>
            </a: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，不直连公网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123950" y="3829050"/>
            <a:ext cx="477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面向店内使用；需要外网时前面加一层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HTTPS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反向代理，会员数据默认不出店。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685800" y="4219575"/>
            <a:ext cx="10820400" cy="438150"/>
          </a:xfrm>
          <a:custGeom>
            <a:pathLst>
              <a:path w="1136" h="46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685800" y="4419600"/>
            <a:ext cx="10820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F2F4FF"/>
                </a:solidFill>
                <a:latin typeface="Microsoft YaHei"/>
                <a:ea typeface="Microsoft YaHei"/>
              </a:rPr>
              <a:t>知道自己不能做什么，才敢让你把</a:t>
            </a:r>
            <a:r>
              <a:rPr lang="zh-CN" sz="1500">
                <a:solidFill>
                  <a:srgbClr val="F2F4FF"/>
                </a:solidFill>
                <a:latin typeface="Microsoft YaHei"/>
                <a:ea typeface="Microsoft YaHei"/>
              </a:rPr>
              <a:t>钱</a:t>
            </a:r>
            <a:r>
              <a:rPr lang="zh-CN" sz="1500">
                <a:solidFill>
                  <a:srgbClr val="F2F4FF"/>
                </a:solidFill>
                <a:latin typeface="Microsoft YaHei"/>
                <a:ea typeface="Microsoft YaHei"/>
              </a:rPr>
              <a:t>交给它。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11 / 12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58" name="" descr="&lt;Slide style={{ width: 1280, height: 720, background: '#0B0D14', padding: '56px 72px', flexDirection: 'column', justifyContent: 'space-between' }}&gt;&#13;&#10;  &lt;Box style={{ flexDirection: 'row', justifyContent: 'space-between', alignItems: 'center' }}&gt;&#13;&#10;    &lt;Text style={{ fontSize: 13, color: '#8A90A6', letterSpacing: 1 }}&gt;2026 武汉 1024 · 人工智能创新应用黑客松&lt;/Text&gt;&#13;&#10;    &lt;Text style={{ fontSize: 13, color: '#6C6CF5', fontWeight: 'bold', letterSpacing: 2 }}&gt;产业应用赛道&lt;/Text&gt;&#13;&#10;  &lt;/Box&gt;&#13;&#10;  &lt;Box style={{ flexDirection: 'column' }}&gt;&#13;&#10;    &lt;Text style={{ fontSize: 52, fontWeight: 'bold', color: '#F2F4FF', lineHeight: 1.35, width: 960 }}&gt;&#13;&#10;      让每个小店，&lt;br /&gt;都有一个不用发工资的掌柜。&#13;&#10;    &lt;/Text&gt;&#13;&#10;    &lt;Box style={{ width: 88, height: 4, background: '#6C6CF5', borderRadius: 2, marginTop: 26, marginBottom: 22 }} /&gt;&#13;&#10;    &lt;Text style={{ fontSize: 17, color: '#8A90A6', lineHeight: 1.8 }}&gt;&#13;&#10;      可执行 · 可追溯 · 可撤销 · 断网可用&#13;&#10;    &lt;/Text&gt;&#13;&#10;  &lt;/Box&gt;&#13;&#10;  &lt;Box style={{ flexDirection: 'row', justifyContent: 'space-between', alignItems: 'flex-end' }}&gt;&#13;&#10;    &lt;Box style={{ flexDirection: 'column', gap: 5 }}&gt;&#13;&#10;      &lt;Text style={{ fontSize: 14, color: '#F2F4FF' }}&gt;AI 掌柜 · 中小餐饮经营 Agent&lt;/Text&gt;&#13;&#10;      &lt;Text style={{ fontSize: 13, color: '#8A90A6' }}&gt;代码仓库与演示入口见提交材料 · 演示账号 admin / admin123&lt;/Text&gt;&#13;&#10;    &lt;/Box&gt;&#13;&#10;    &lt;Text style={{ fontSize: 13, color: '#4A5064' }}&gt;12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0648950" y="533400"/>
            <a:ext cx="85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6C6CF5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685800" y="2095500"/>
            <a:ext cx="9144000" cy="1609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F2F4FF"/>
                </a:solidFill>
                <a:latin typeface="Microsoft YaHei"/>
                <a:ea typeface="Microsoft YaHei"/>
              </a:rPr>
              <a:t>让每个小店，</a:t>
            </a:r>
            <a:endParaRPr/>
          </a:p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F2F4FF"/>
                </a:solidFill>
                <a:latin typeface="Microsoft YaHei"/>
                <a:ea typeface="Microsoft YaHei"/>
              </a:rPr>
              <a:t>都有一个不用发工资的掌柜。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85800" y="3952875"/>
            <a:ext cx="838200" cy="38100"/>
          </a:xfrm>
          <a:prstGeom prst="roundRect">
            <a:avLst>
              <a:gd name="adj" fmla="val 5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85800" y="4200525"/>
            <a:ext cx="10820400" cy="3524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可执行</a:t>
            </a: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可追溯</a:t>
            </a: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可撤销</a:t>
            </a: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断网可用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85800" y="5962650"/>
            <a:ext cx="3467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掌柜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685800" y="6172200"/>
            <a:ext cx="3467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代码仓库与演示入口见提交材料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演示账号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admin / admin123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>12 / 12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2026-10-20T14:01:34Z</dcterms:created>
  <dcterms:modified xsi:type="dcterms:W3CDTF">2026-10-20T14:01:34Z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{"AIGC":{"Label":"1","ContentProducer":"00119111010856365494821B355","ProduceID":"01a157cfce967398988704bd72c4c958","ReservedCode1":"","ContentPropagator":"00119111010856365494821B355","PropagateID":"01a157cfce967398988704bd72c4c958","ReservedCode2":""}}</vt:lpwstr>
  </property>
</Properties>
</file>