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2" Type="http://schemas.openxmlformats.org/officeDocument/2006/relationships/slide" Target="slides/slide12.xml" /><Relationship Id="rId1" Type="http://schemas.openxmlformats.org/officeDocument/2006/relationships/slide" Target="slides/slide1.xml" /><Relationship Id="rId13" Type="http://schemas.openxmlformats.org/officeDocument/2006/relationships/slide" Target="slides/slide13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4" Type="http://schemas.openxmlformats.org/officeDocument/2006/relationships/notesMaster" Target="notesMasters/notesMaster1.xml" 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85800" y="581025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4" name=""/>
          <p:cNvSpPr/>
          <p:nvPr/>
        </p:nvSpPr>
        <p:spPr>
          <a:xfrm rot="0" flipH="0" flipV="0">
            <a:off x="10420350" y="533400"/>
            <a:ext cx="10858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105346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10648950" y="581025"/>
            <a:ext cx="742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2343150"/>
            <a:ext cx="7010400" cy="10572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900" b="1" spc="-2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6900" b="1" spc="-225">
                <a:solidFill>
                  <a:srgbClr val="0C1222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85800" y="3457575"/>
            <a:ext cx="7010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3A4360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2100">
                <a:solidFill>
                  <a:srgbClr val="3A4360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685800" y="39719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4200525"/>
            <a:ext cx="5905500" cy="4000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00">
                <a:solidFill>
                  <a:srgbClr val="5C6780"/>
                </a:solidFill>
                <a:latin typeface="Microsoft YaHei"/>
                <a:ea typeface="Microsoft YaHei"/>
              </a:rPr>
              <a:t>不只告诉你哪里亏，还替你把账算平、把货备好、把菜单改对。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77200" y="2305050"/>
            <a:ext cx="3429000" cy="2324100"/>
          </a:xfrm>
          <a:prstGeom prst="roundRect">
            <a:avLst>
              <a:gd name="adj" fmla="val 7377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8324850" y="2552700"/>
            <a:ext cx="2933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150">
                <a:solidFill>
                  <a:srgbClr val="4C4DDC"/>
                </a:solidFill>
                <a:latin typeface="Microsoft YaHei"/>
                <a:ea typeface="Microsoft YaHei"/>
              </a:rPr>
              <a:t>DAILY LOOP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8324850" y="28384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8410575" y="289560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686800" y="28765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发现异常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3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件事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8324850" y="323850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8410575" y="329565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8686800" y="3276600"/>
            <a:ext cx="1552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算清原因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324850" y="36385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410575" y="369570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686800" y="3676650"/>
            <a:ext cx="112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动手执行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8324850" y="4076700"/>
            <a:ext cx="2933700" cy="9525"/>
          </a:xfrm>
          <a:prstGeom prst="rect">
            <a:avLst/>
          </a:prstGeom>
          <a:solidFill>
            <a:srgbClr val="D8DEF2"/>
          </a:solidFill>
          <a:ln/>
        </p:spPr>
        <p:txBody>
          <a:bodyPr/>
          <a:p>
            <a:pPr/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8324850" y="4238625"/>
            <a:ext cx="2933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断网可跑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85800" y="616267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演示门店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春归燕茶餐厅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>01 / 12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09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老板每天问的三个问题，现有工具一个都没回答&lt;/Text&gt;&#13;&#10;      &lt;Text style={{ fontSize: 15, color: '#5C6780' }}&gt;不是缺报表，是缺结论和动作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20, height: 300 }}&gt;&#13;&#10;      &lt;Box style={{ flex: 1, background: '#FFFFFF', border: '1px solid #E3E8F5', borderRadius: 14, padding: 26, flexDirection: 'column', justifyContent: 'space-between' }}&gt;&#13;&#10;        &lt;Text style={{ fontSize: 56, fontWeight: 'bold', color: '#4C4DDC' }}&gt;01&lt;/Text&gt;&#13;&#10;        &lt;Text style={{ fontSize: 22, fontWeight: 'bold', color: '#0C1222' }}&gt;今天到底赚没赚&lt;/Text&gt;&#13;&#10;        &lt;Text style={{ fontSize: 15, color: '#5C6780', lineHeight: 1.8 }}&gt;六张报表翻半小时，只知道跌了，&lt;br /&gt;不知道是人少了还是点便宜了。&lt;/Text&gt;&#13;&#10;      &lt;/Box&gt;&#13;&#10;      &lt;Box style={{ flex: 1, background: '#FFFFFF', border: '1px solid #E3E8F5', borderRadius: 14, padding: 26, flexDirection: 'column', justifyContent: 'space-between' }}&gt;&#13;&#10;        &lt;Text style={{ fontSize: 56, fontWeight: 'bold', color: '#4C4DDC' }}&gt;02&lt;/Text&gt;&#13;&#10;        &lt;Text style={{ fontSize: 22, fontWeight: 'bold', color: '#0C1222' }}&gt;明天该买多少&lt;/Text&gt;&#13;&#10;        &lt;Text style={{ fontSize: 15, color: '#5C6780', lineHeight: 1.8 }}&gt;采购靠经验：缺货和压货同时发生，&lt;br /&gt;这套数据里最紧的食材只够 1.5 天。&lt;/Text&gt;&#13;&#10;      &lt;/Box&gt;&#13;&#10;      &lt;Box style={{ flex: 1, background: '#FFFFFF', border: '1px solid #E3E8F5', borderRadius: 14, padding: 26, flexDirection: 'column', justifyContent: 'space-between' }}&gt;&#13;&#10;        &lt;Text style={{ fontSize: 56, fontWeight: 'bold', color: '#4C4DDC' }}&gt;03&lt;/Text&gt;&#13;&#10;        &lt;Text style={{ fontSize: 22, fontWeight: 'bold', color: '#0C1222' }}&gt;哪道菜在赔钱&lt;/Text&gt;&#13;&#10;        &lt;Text style={{ fontSize: 15, color: '#5C6780', lineHeight: 1.8 }}&gt;207 道菜只有 107 道算得清成本，&lt;br /&gt;卖得越多，可能亏得越多。&lt;/Text&gt;&#13;&#10;      &lt;/Box&gt;&#13;&#10;    &lt;/Box&gt;&#13;&#10;    &lt;Box style={{ marginTop: 34, paddingTop: 24, borderTop: '1px solid #E3E8F5', flexDirection: 'row', alignItems: 'center', gap: 16 }}&gt;&#13;&#10;      &lt;Box style={{ width: 6, height: 28, background: '#4C4DDC', borderRadius: 3 }} /&gt;&#13;&#10;      &lt;Text style={{ fontSize: 24, color: '#0C1222' }}&gt;中小餐饮不缺数据，缺一个&lt;Text style={{ fontSize: 24, fontWeight: 'bold', color: '#4C4DDC' }}&gt;能替他做决定&lt;/Text&gt;的角色。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6800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老板每天问的三个问题，现有工具一个都没回答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6800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不是缺报表，是缺结论和动作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14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17" name=""/>
          <p:cNvSpPr/>
          <p:nvPr/>
        </p:nvSpPr>
        <p:spPr>
          <a:xfrm rot="0" flipH="0" flipV="0">
            <a:off x="685800" y="1685925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933450" y="1933575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933450" y="3000375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今天到底赚没赚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933450" y="3676650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六张报表翻半小时，只知道跌了，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不知道是人少了还是点便宜了。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4352925" y="1685925"/>
            <a:ext cx="3486150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4600575" y="1933575"/>
            <a:ext cx="2990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4600575" y="3000375"/>
            <a:ext cx="299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明天该买多少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4600575" y="3676650"/>
            <a:ext cx="2990850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采购靠经验：缺货和压货同时发生，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这套数据里最紧的食材只够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8029575" y="1685925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8277225" y="1933575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8277225" y="3000375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哪道菜在赔钱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277225" y="3676650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207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道菜只有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107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道算得清成本，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卖得越多，可能亏得越多。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685800" y="4867275"/>
            <a:ext cx="10820400" cy="523875"/>
          </a:xfrm>
          <a:custGeom>
            <a:pathLst>
              <a:path w="1136" h="5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685800" y="5114925"/>
            <a:ext cx="57150" cy="2667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895350" y="5105400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中小餐饮不缺数据，缺一个</a:t>
            </a: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能替他做决定</a:t>
            </a: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的角色。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分水岭不在图表，在「能不能动手」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18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同样一份营收下滑，两条完全不同的处理路径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685800" y="1685925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933450" y="1933575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8A93A8"/>
                </a:solidFill>
                <a:latin typeface="Microsoft YaHei"/>
                <a:ea typeface="Microsoft YaHei"/>
              </a:rPr>
              <a:t>传统</a:t>
            </a:r>
            <a:r>
              <a:rPr lang="en-US" sz="975" spc="150">
                <a:solidFill>
                  <a:srgbClr val="8A93A8"/>
                </a:solidFill>
                <a:latin typeface="Microsoft YaHei"/>
                <a:ea typeface="Microsoft YaHei"/>
              </a:rPr>
              <a:t xml:space="preserve"> BI / </a:t>
            </a:r>
            <a:r>
              <a:rPr lang="zh-CN" sz="975" spc="150">
                <a:solidFill>
                  <a:srgbClr val="8A93A8"/>
                </a:solidFill>
                <a:latin typeface="Microsoft YaHei"/>
                <a:ea typeface="Microsoft YaHei"/>
              </a:rPr>
              <a:t>经营看板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933450" y="2181225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5C6780"/>
                </a:solidFill>
                <a:latin typeface="Microsoft YaHei"/>
                <a:ea typeface="Microsoft YaHei"/>
              </a:rPr>
              <a:t>价值停在「知道」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933450" y="26955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看板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发现跌了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933450" y="30194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自己判断原因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33450" y="33432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自己打电话订货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933450" y="36671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一周后忘了复盘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6210300" y="1685925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6457950" y="1933575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6457950" y="2181225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0C1222"/>
                </a:solidFill>
                <a:latin typeface="Microsoft YaHei"/>
                <a:ea typeface="Microsoft YaHei"/>
              </a:rPr>
              <a:t>价值走到「改变」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457950" y="26955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3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件事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证据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457950" y="30194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拆解成客流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6457950" y="33432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一键生成采购单并入库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457950" y="36671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7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天后自动回填效果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85800" y="5114925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三个关键词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533525" y="5114925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可执行</a:t>
            </a:r>
            <a:r>
              <a:rPr lang="en-US" sz="1125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可追溯</a:t>
            </a:r>
            <a:r>
              <a:rPr lang="en-US" sz="1125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1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四块能力，缺一块都落不了地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1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看得懂、算得准、动得了、说得清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685800" y="1685925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看得懂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914400" y="2257425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营收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毛利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时段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翻台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会员结构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914400" y="3009900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3438525" y="1685925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667125" y="1914525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算得准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3667125" y="2257425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指标唯一口径</a:t>
            </a:r>
            <a:endParaRPr/>
          </a:p>
          <a:p>
            <a:pPr>
              <a:lnSpc>
                <a:spcPct val="175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BOM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成本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三层预测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经营推演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667125" y="3009900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回测误差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22%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（含异常周）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6181725" y="1685925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6410325" y="1914525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动得了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410325" y="2257425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生成采购单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按毛利调价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滞销菜设为主推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410325" y="3009900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类动作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全部可撤销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8934450" y="1685925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9163050" y="1914525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说得清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9163050" y="2257425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每条结论附证据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SQL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操作留痕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一键回滚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9163050" y="3009900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条越界语句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100%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685800" y="4333875"/>
            <a:ext cx="10820400" cy="581025"/>
          </a:xfrm>
          <a:prstGeom prst="roundRect">
            <a:avLst>
              <a:gd name="adj" fmla="val 19672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914400" y="454342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串联起来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2133600" y="4524375"/>
            <a:ext cx="5153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看到异常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算清原因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直接处理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留下证据，四步在同一屏里完成。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886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现场三分钟，只走一条路径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886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上午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09:00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，老板打开电脑后的真实操作顺序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6858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30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9144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打开驾驶舱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9144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只有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件事：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营收跌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20%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道菜滞销、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牛腩只够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43434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45720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45720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点「营收下滑」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45720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拆成客流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−18%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、客单价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−3%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结论：人少了，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不是点便宜了。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80010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82296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82296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点「缺货」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82296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按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天用量生成采购单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确认入库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库存与流水同步。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685800" y="3829050"/>
            <a:ext cx="10820400" cy="809625"/>
          </a:xfrm>
          <a:prstGeom prst="roundRect">
            <a:avLst>
              <a:gd name="adj" fmla="val 16471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14400" y="4162425"/>
            <a:ext cx="1257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加演</a:t>
            </a:r>
            <a:r>
              <a:rPr lang="en-US" sz="975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宴席排菜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2400300" y="4019550"/>
            <a:ext cx="4114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「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人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人均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150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」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2400300" y="4295775"/>
            <a:ext cx="4114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按中餐宴席结构自动配一桌菜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一键成单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后厨立刻看到，可人工增减。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685800" y="4829175"/>
            <a:ext cx="10820400" cy="619125"/>
          </a:xfrm>
          <a:custGeom>
            <a:pathLst>
              <a:path w="1136" h="6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85800" y="4991100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张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685800" y="5295900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采购单，人工确认后才入库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3257550" y="4991100"/>
            <a:ext cx="25812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3257550" y="5295900"/>
            <a:ext cx="2581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食材库存与流水同步更新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5838825" y="4991100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5838825" y="5295900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操作留痕，调价与主推可回滚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8410575" y="4991100"/>
            <a:ext cx="3095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0 </a:t>
            </a:r>
            <a:r>
              <a:rPr lang="zh-CN" sz="1800" b="1">
                <a:solidFill>
                  <a:srgbClr val="4C4DDC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8410575" y="5295900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页面跳转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决策与执行同屏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05 / 12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2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5054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四层架构：交易底座不动，决策层新建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50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原有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4,294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行代码、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42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个模板、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190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项测试，全部作为底座继续跑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685800" y="168592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决策界面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1866900" y="1895475"/>
            <a:ext cx="403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经营问答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洞察中心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采购单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四象限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预测备货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685800" y="242887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914400" y="26574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引擎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866900" y="2638425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受控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NL2SQL · 6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类规则检测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三层分解预测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可执行工具</a:t>
            </a:r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685800" y="317182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914400" y="340042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指标层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1866900" y="3381375"/>
            <a:ext cx="4067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唯一口径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metrics.py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日粒度预聚合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ETL · 8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个只读语义视图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685800" y="391477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914400" y="41433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3A8"/>
                </a:solidFill>
                <a:latin typeface="Microsoft YaHei"/>
                <a:ea typeface="Microsoft YaHei"/>
              </a:rPr>
              <a:t>交易底座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866900" y="4124325"/>
            <a:ext cx="4524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点单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收银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会员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BOM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配方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库存流水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预订（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>Flask + SQLite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685800" y="4752975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685800" y="4895850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C4DDC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85800" y="5276850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新增第三方运行时依赖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仅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Flask + waitress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4352925" y="4752975"/>
            <a:ext cx="3486150" cy="838200"/>
          </a:xfrm>
          <a:custGeom>
            <a:pathLst>
              <a:path w="366" h="88">
                <a:moveTo>
                  <a:pt x="0" y="0"/>
                </a:moveTo>
                <a:lnTo>
                  <a:pt x="366" y="0"/>
                </a:lnTo>
                <a:lnTo>
                  <a:pt x="36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4352925" y="4895850"/>
            <a:ext cx="3486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C4DDC"/>
                </a:solidFill>
                <a:latin typeface="Microsoft YaHei"/>
                <a:ea typeface="Microsoft YaHei"/>
              </a:rPr>
              <a:t>1.0s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4352925" y="5276850"/>
            <a:ext cx="3486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看板首屏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天预聚合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8010525" y="4752975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8010525" y="4895850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C4DDC"/>
                </a:solidFill>
                <a:latin typeface="Microsoft YaHei"/>
                <a:ea typeface="Microsoft YaHei"/>
              </a:rPr>
              <a:t>离线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8010525" y="5276850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可跑：本地模型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规则降级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不依赖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CDN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与外网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685800" y="5772150"/>
            <a:ext cx="10820400" cy="447675"/>
          </a:xfrm>
          <a:custGeom>
            <a:pathLst>
              <a:path w="1136" h="47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685800" y="5934075"/>
            <a:ext cx="723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C4DDC"/>
                </a:solidFill>
                <a:latin typeface="Microsoft YaHei"/>
                <a:ea typeface="Microsoft YaHei"/>
              </a:rPr>
              <a:t>选型取舍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543050" y="5934075"/>
            <a:ext cx="99631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不引入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numpy / pandas / torch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：门店电脑不是服务器，打包体积与启动速度比模型炫技重要；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SQLite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开启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WAL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后足以支撑店内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路并发点餐。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85800" y="64103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11156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06 / 12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敢让它查数，是因为它改不了数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533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自然语言查数的五道闸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对应评审的「稳定性与合规性」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162050" y="1685925"/>
            <a:ext cx="2762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只读连接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162050" y="1943100"/>
            <a:ext cx="2762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query_only=ON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，数据库层面拒绝一切写操作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685800" y="227647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162050" y="2276475"/>
            <a:ext cx="3095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视图白名单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162050" y="2533650"/>
            <a:ext cx="3095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只认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个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v_*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语义视图，读不到会员手机号与设置表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685800" y="28670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162050" y="2867025"/>
            <a:ext cx="3562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语法校验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162050" y="3124200"/>
            <a:ext cx="3562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单条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SELECT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；禁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DDL / DML / ATTACH / UNION /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系统表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685800" y="345757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162050" y="3457575"/>
            <a:ext cx="3057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强制约束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62050" y="3714750"/>
            <a:ext cx="3057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自动补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LIMIT 500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秒超时中断，慢查询拖不死库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685800" y="40481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1162050" y="4048125"/>
            <a:ext cx="2714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结果上限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1162050" y="4305300"/>
            <a:ext cx="2714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最多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行，不会把大结果集塞进模型上下文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6905625" y="1685925"/>
            <a:ext cx="4600575" cy="2781300"/>
          </a:xfrm>
          <a:prstGeom prst="roundRect">
            <a:avLst>
              <a:gd name="adj" fmla="val 479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7153275" y="1933575"/>
            <a:ext cx="4105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自动化验证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7153275" y="2143125"/>
            <a:ext cx="41052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4C4DDC"/>
                </a:solidFill>
                <a:latin typeface="Microsoft YaHei"/>
                <a:ea typeface="Microsoft YaHei"/>
              </a:rPr>
              <a:t>8 / 8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7153275" y="2895600"/>
            <a:ext cx="410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越界语句全部拦截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7153275" y="31051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SELECT * FROM members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153275" y="33051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DROP TABLE orders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7153275" y="35052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SELECT 1; DELETE FROM orders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7153275" y="37052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... UNION SELECT * FROM settings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7153275" y="39052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ATTACH / PRAGMA / sqlite_master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7153275" y="40767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C4DDC"/>
                </a:solidFill>
                <a:latin typeface="Microsoft YaHei"/>
                <a:ea typeface="Microsoft YaHei"/>
              </a:rPr>
              <a:t>越界时先自动修复一轮</a:t>
            </a:r>
            <a:r>
              <a:rPr lang="en-US" sz="900">
                <a:solidFill>
                  <a:srgbClr val="4C4DDC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900">
                <a:solidFill>
                  <a:srgbClr val="4C4DDC"/>
                </a:solidFill>
                <a:latin typeface="Microsoft YaHei"/>
                <a:ea typeface="Microsoft YaHei"/>
              </a:rPr>
              <a:t>，再失败才降级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685800" y="4676775"/>
            <a:ext cx="10820400" cy="838200"/>
          </a:xfrm>
          <a:custGeom>
            <a:pathLst>
              <a:path w="1136" h="8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685800" y="4857750"/>
            <a:ext cx="47625" cy="438150"/>
          </a:xfrm>
          <a:prstGeom prst="roundRect">
            <a:avLst>
              <a:gd name="adj" fmla="val 6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885825" y="4857750"/>
            <a:ext cx="10620375" cy="6477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黑名单永远会被绕过。真正的安全来自两层：数据库层面拒绝写、语义视图看不到敏感表；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其余三道闸只是把越界请求挡在更早的地方，顺便给出人能看懂的拒绝理由。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07 / 12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9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343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不会算错账，因为它不算账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所有数字只有一个实现，模型只负责理解问题与组织语言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昨日营收（元）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85800" y="1838325"/>
            <a:ext cx="3619500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 spc="-150">
                <a:solidFill>
                  <a:srgbClr val="0C1222"/>
                </a:solidFill>
                <a:latin typeface="Microsoft YaHei"/>
                <a:ea typeface="Microsoft YaHei"/>
              </a:rPr>
              <a:t>6,029.65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85800" y="2676525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同星期基线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8,024.45 ·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低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24.8%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4572000" y="1800225"/>
            <a:ext cx="6934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这个数字出现在三个地方，必须完全相等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4572000" y="2047875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724400" y="2200275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4724400" y="2428875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KPI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卡片</a:t>
            </a:r>
            <a:endParaRPr/>
          </a:p>
        </p:txBody>
      </p:sp>
      <p:sp>
        <p:nvSpPr>
          <p:cNvPr id="311" name=""/>
          <p:cNvSpPr/>
          <p:nvPr/>
        </p:nvSpPr>
        <p:spPr>
          <a:xfrm rot="0" flipH="0" flipV="0">
            <a:off x="6924675" y="2047875"/>
            <a:ext cx="2228850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7077075" y="2200275"/>
            <a:ext cx="1924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营收报表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7077075" y="2428875"/>
            <a:ext cx="1924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按日汇总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9267825" y="2047875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9420225" y="2200275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问答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9420225" y="2428875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SQL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685800" y="3076575"/>
            <a:ext cx="10820400" cy="1571625"/>
          </a:xfrm>
          <a:prstGeom prst="roundRect">
            <a:avLst>
              <a:gd name="adj" fmla="val 7273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895350" y="3286125"/>
            <a:ext cx="10401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8A93A8"/>
                </a:solidFill>
                <a:latin typeface="Microsoft YaHei"/>
                <a:ea typeface="Microsoft YaHei"/>
              </a:rPr>
              <a:t>analytics / metrics.py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895350" y="3524250"/>
            <a:ext cx="1040130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def q_kpi(conn, d1, d2):  </a:t>
            </a:r>
            <a:r>
              <a:rPr lang="en-US" sz="1050">
                <a:solidFill>
                  <a:srgbClr val="4C4DDC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050">
                <a:solidFill>
                  <a:srgbClr val="4C4DDC"/>
                </a:solidFill>
                <a:latin typeface="Microsoft YaHei"/>
                <a:ea typeface="Microsoft YaHei"/>
              </a:rPr>
              <a:t>全系统唯一的营收口径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  revenue = SUM(final_amount) WHERE status='settled'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  return dict(revenue=money(revenue), margin_rate=...)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685800" y="48006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数字由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算出，模型只写解读；结论必须引用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evidence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，点开能看到原始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08 / 12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323" name="" descr="&lt;Slide style={{ width: 1280, height: 720, background: '#F6F8FD', padding: '56px 72px', flexDirection: 'column' }}&gt;&#10;  &lt;Box style={{ height: 96, flexDirection: 'row', justifyContent: 'space-between', alignItems: 'flex-start' }}&gt;&#10;    &lt;Box style={{ flexDirection: 'column', gap: 8 }}&gt;&#10;      &lt;Text style={{ fontSize: 34, fontWeight: 'bold', color: '#0C1222' }}&gt;先算清代价，再谈智能&lt;/Text&gt;&#10;      &lt;Text style={{ fontSize: 15, color: '#5C6780' }}&gt;左边是它在这套 180 天数据里真找出来的，右边是按建议执行后的测算&lt;/Text&gt;&#10;    &lt;/Box&gt;&#10;    &lt;Box style={{ flexDirection: 'row', alignItems: 'center', gap: 6, padding: '5px 12px', background: '#EEF1FE', border: '1px solid #DDE2F5', borderRadius: 999 }}&gt;&#10;      &lt;Box style={{ width: 6, height: 6, borderRadius: 3, background: '#4C4DDC' }} /&gt;&#10;      &lt;Text style={{ fontSize: 12, color: '#4C4DDC', fontWeight: 'bold', letterSpacing: 1 }}&gt;AI 掌柜&lt;/Text&gt;&#10;    &lt;/Box&gt;&#10;  &lt;/Box&gt;&#10;  &lt;Box style={{ width: 72, height: 3, background: '#4C4DDC', borderRadius: 2, marginTop: 2, marginBottom: 12 }} /&gt;&#10;  &lt;Box style={{ flex: 1, paddingTop: 8 }}&gt;&#10;    &lt;Box style={{ flexDirection: 'row', gap: 24 }}&gt;&#10;      &lt;Box style={{ flex: 1.15, flexDirection: 'column' }}&gt;&#10;        &lt;Text style={{ fontSize: 13, color: '#5C6780', letterSpacing: 1 }}&gt;实测 · 系统自己发现的五件事&lt;/Text&gt;&#10;        &lt;Box style={{ marginTop: 14, flexDirection: 'column', gap: 0 }}&gt;&#10;          &lt;Box style={{ paddingTop: 12, paddingBottom: 12, borderTop: '1px solid #E3E8F5', flexDirection: 'row', alignItems: 'baseline' }}&gt;&#10;            &lt;Text style={{ fontSize: 26, fontWeight: 'bold', color: '#4C4DDC', width: 96 }}&gt;10.6%&lt;/Text&gt;&#10;            &lt;Text style={{ fontSize: 14, color: '#0C1222' }}&gt;近 7 天折扣率，比前 30 天的 8.4% 高 2.2 个点&lt;/Text&gt;&#10;          &lt;/Box&gt;&#10;          &lt;Box style={{ paddingTop: 12, paddingBottom: 12, borderTop: '1px solid #E3E8F5', flexDirection: 'row', alignItems: 'baseline' }}&gt;&#10;            &lt;Text style={{ fontSize: 26, fontWeight: 'bold', color: '#4C4DDC', width: 96 }}&gt;1,476&lt;/Text&gt;&#10;            &lt;Text style={{ fontSize: 14, color: '#0C1222' }}&gt;元 · 按原折扣水平本可少让的金额&lt;/Text&gt;&#10;          &lt;/Box&gt;&#10;          &lt;Box style={{ paddingTop: 12, paddingBottom: 12, borderTop: '1px solid #E3E8F5', flexDirection: 'row', alignItems: 'baseline' }}&gt;&#10;            &lt;Text style={{ fontSize: 26, fontWeight: 'bold', color: '#4C4DDC', width: 96 }}&gt;20 道&lt;/Text&gt;&#10;            &lt;Text style={{ fontSize: 14, color: '#0C1222' }}&gt;菜连续 3 天 0 销量，占在售 9.7%&lt;/Text&gt;&#10;          &lt;/Box&gt;&#10;          &lt;Box style={{ paddingTop: 12, paddingBottom: 12, borderTop: '1px solid #E3E8F5', flexDirection: 'row', alignItems: 'baseline' }}&gt;&#10;            &lt;Text style={{ fontSize: 26, fontWeight: 'bold', color: '#4C4DDC', width: 96 }}&gt;1 种&lt;/Text&gt;&#10;            &lt;Text style={{ fontSize: 14, color: '#0C1222' }}&gt;食材可支撑不足 2 天（基围虾只剩 1.5 天）&lt;/Text&gt;&#10;          &lt;/Box&gt;&#10;          &lt;Box style={{ paddingTop: 12, paddingBottom: 12, borderTop: '1px solid #E3E8F5', borderBottom: '1px solid #E3E8F5', flexDirection: 'row', alignItems: 'baseline' }}&gt;&#10;            &lt;Text style={{ fontSize: 26, fontWeight: 'bold', color: '#4C4DDC', width: 96 }}&gt;57.8%&lt;/Text&gt;&#10;            &lt;Text style={{ fontSize: 14, color: '#0C1222' }}&gt;近 30 天毛利率，比目标低 2.2 个点&lt;/Text&gt;&#10;          &lt;/Box&gt;&#10;        &lt;/Box&gt;&#10;      &lt;/Box&gt;&#10;      &lt;Box style={{ flex: 1, background: '#EEF1FE', border: '1px solid #C9CDF6', borderRadius: 14, padding: 30, flexDirection: 'column', gap: 18, justifyContent: 'flex-start' }}&gt;&#10;        &lt;Box style={{ flexDirection: 'column', gap: 6 }}&gt;&#10;          &lt;Text style={{ fontSize: 13, color: '#4C4DDC', letterSpacing: 1 }}&gt;测算 · 补齐这 2.2 个点&lt;/Text&gt;&#10;          &lt;Text style={{ fontSize: 56, fontWeight: 'bold', color: '#0C1222', letterSpacing: -1 }}&gt;+9.0&lt;span style={{ fontSize: 22 }}&gt; 万/年&lt;/span&gt;&lt;/Text&gt;&#10;          &lt;Text style={{ fontSize: 13, color: '#5C6780' }}&gt;近 30 天营收 33.1 万 × 2.2pt × 12 个月&lt;/Text&gt;&#10;        &lt;/Box&gt;&#10;        &lt;Box style={{ flexDirection: 'column', gap: 8, marginTop: 6, paddingTop: 16, borderTop: '1px solid #3A3F63' }}&gt;&#10;          &lt;Text style={{ fontSize: 13, color: '#0C1222' }}&gt;怎么补：&lt;/Text&gt;&#10;          &lt;Text style={{ fontSize: 13, color: '#5C6780', lineHeight: 1.8 }}&gt;① 3 道瘦狗菜调价 5%~15%&lt;br /&gt;② 20 道滞销菜组套餐或下架&lt;br /&gt;③ 折扣收回 2 个点&lt;/Text&gt;&#10;        &lt;/Box&gt;&#10;        &lt;Text style={{ fontSize: 11, color: '#6B7490', lineHeight: 1.6, marginTop: 4 }}&gt;&#10;          左列全部由 SQL 从 180 天数据算出，脚本可复现；右侧为按当前规模的线性测算，不是承诺值。&#10;        &lt;/Text&gt;&#10;      &lt;/Box&gt;&#10;    &lt;/Box&gt;&#10;  &lt;/Box&gt;&#10;  &lt;Box style={{ height: 36, flexDirection: 'row', justifyContent: 'space-between', alignItems: 'flex-end' }}&gt;&#10;    &lt;Text style={{ fontSize: 12, color: '#8A93A8' }}&gt;2026 武汉 1024 · 产业应用赛道&lt;/Text&gt;&#10;    &lt;Text style={{ fontSize: 12, color: '#8A93A8' }}&gt;09 / 1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4862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先算清代价，再谈智能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48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左边是它在这套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天数据里真找出来的，右边是按建议执行后的测算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5667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实测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系统自己发现的五件事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685800" y="197167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685800" y="20955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10.6%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600200" y="2095500"/>
            <a:ext cx="27813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天折扣率，比前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天的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8.4%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高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2.2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35" name=""/>
          <p:cNvSpPr/>
          <p:nvPr/>
        </p:nvSpPr>
        <p:spPr>
          <a:xfrm rot="0" flipH="0" flipV="0">
            <a:off x="685800" y="251460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685800" y="263842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1,476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1600200" y="26384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元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按原折扣水平本可少让的金额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685800" y="305752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685800" y="318135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950" b="1">
                <a:solidFill>
                  <a:srgbClr val="4C4DDC"/>
                </a:solidFill>
                <a:latin typeface="Microsoft YaHei"/>
                <a:ea typeface="Microsoft YaHei"/>
              </a:rPr>
              <a:t>道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1600200" y="3181350"/>
            <a:ext cx="2000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菜连续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销量，占在售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9.7%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685800" y="360045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685800" y="37242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950" b="1">
                <a:solidFill>
                  <a:srgbClr val="4C4DDC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1600200" y="3724275"/>
            <a:ext cx="2562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食材可支撑不足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天（基围虾只剩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天）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685800" y="4143375"/>
            <a:ext cx="5667375" cy="571500"/>
          </a:xfrm>
          <a:custGeom>
            <a:pathLst>
              <a:path w="595" h="60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45" name=""/>
          <p:cNvSpPr/>
          <p:nvPr/>
        </p:nvSpPr>
        <p:spPr>
          <a:xfrm rot="0" flipH="0" flipV="0">
            <a:off x="685800" y="4143375"/>
            <a:ext cx="5667375" cy="571500"/>
          </a:xfrm>
          <a:custGeom>
            <a:pathLst>
              <a:path w="595" h="60">
                <a:moveTo>
                  <a:pt x="0" y="59"/>
                </a:moveTo>
                <a:lnTo>
                  <a:pt x="595" y="59"/>
                </a:lnTo>
                <a:lnTo>
                  <a:pt x="595" y="60"/>
                </a:lnTo>
                <a:lnTo>
                  <a:pt x="0" y="60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685800" y="42672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57.8%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1600200" y="4267200"/>
            <a:ext cx="210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天毛利率，比目标低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2.2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6581775" y="1685925"/>
            <a:ext cx="4924425" cy="3686175"/>
          </a:xfrm>
          <a:prstGeom prst="roundRect">
            <a:avLst>
              <a:gd name="adj" fmla="val 3618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6867525" y="19716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测算</a:t>
            </a: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补齐这</a:t>
            </a: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 2.2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867525" y="2181225"/>
            <a:ext cx="43529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 spc="-75">
                <a:solidFill>
                  <a:srgbClr val="0C1222"/>
                </a:solidFill>
                <a:latin typeface="Microsoft YaHei"/>
                <a:ea typeface="Microsoft YaHei"/>
              </a:rPr>
              <a:t>+9.0</a:t>
            </a:r>
            <a:r>
              <a:rPr lang="en-US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万</a:t>
            </a:r>
            <a:r>
              <a:rPr lang="en-US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/</a:t>
            </a:r>
            <a:r>
              <a:rPr lang="zh-CN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年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6867525" y="28860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近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天营收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33.1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万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2.2pt × 12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个月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6867525" y="3267075"/>
            <a:ext cx="4352925" cy="1209675"/>
          </a:xfrm>
          <a:custGeom>
            <a:pathLst>
              <a:path w="457" h="127">
                <a:moveTo>
                  <a:pt x="0" y="0"/>
                </a:moveTo>
                <a:lnTo>
                  <a:pt x="457" y="0"/>
                </a:lnTo>
                <a:lnTo>
                  <a:pt x="457" y="1"/>
                </a:lnTo>
                <a:lnTo>
                  <a:pt x="0" y="1"/>
                </a:lnTo>
                <a:close/>
              </a:path>
            </a:pathLst>
          </a:custGeom>
          <a:solidFill>
            <a:srgbClr val="3A3F63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6867525" y="342900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0C1222"/>
                </a:solidFill>
                <a:latin typeface="Microsoft YaHei"/>
                <a:ea typeface="Microsoft YaHei"/>
              </a:rPr>
              <a:t>怎么补：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6867525" y="3657600"/>
            <a:ext cx="4352925" cy="8096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① 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道瘦狗菜调价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5%~15%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② 20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道滞销菜组套餐或下架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折扣收回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6867525" y="4676775"/>
            <a:ext cx="4352925" cy="409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左列全部由</a:t>
            </a:r>
            <a:r>
              <a:rPr lang="en-US" sz="825">
                <a:solidFill>
                  <a:srgbClr val="6B7490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从</a:t>
            </a:r>
            <a:r>
              <a:rPr lang="en-US" sz="825">
                <a:solidFill>
                  <a:srgbClr val="6B749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天数据算出，脚本可复现；右侧为按当前规模的线性测算，不是承诺值。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09 / 12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562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一家店跑通，才敢谈复制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562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单店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连锁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产业带，每一步都靠同一套指标与工具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6858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现在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单店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9144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跑通闭环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9144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天数据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endParaRPr/>
          </a:p>
          <a:p>
            <a:pPr>
              <a:lnSpc>
                <a:spcPct val="175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建议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执行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效果回流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43434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45720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下一步</a:t>
            </a:r>
            <a:r>
              <a:rPr lang="en-US" sz="900" spc="1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连锁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45720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门店对比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45720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同一指标跨店比较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找出「哪家店哪道菜不对」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80010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2296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更远</a:t>
            </a:r>
            <a:r>
              <a:rPr lang="en-US" sz="900" spc="1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产业带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82296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供应链协同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82296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聚合采购需求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用数据换议价权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85800" y="3933825"/>
            <a:ext cx="10820400" cy="609600"/>
          </a:xfrm>
          <a:prstGeom prst="roundRect">
            <a:avLst>
              <a:gd name="adj" fmla="val 18750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933450" y="41624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数据飞轮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2019300" y="4143375"/>
            <a:ext cx="6000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更多门店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更多真实经营样本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预测与阈值更准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建议更敢执行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更多门店愿意接入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85800" y="4695825"/>
            <a:ext cx="508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可复制性：换一套菜单与配方即可用于茶餐厅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快餐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火锅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烘焙，指标层与工具层不用改。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10 / 12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主动说清楚：它现在还不能做什么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85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边界写得越清楚，越敢把店交给它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123950" y="1685925"/>
            <a:ext cx="5743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预测不是深度学习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23950" y="1933575"/>
            <a:ext cx="574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单店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天数据撑不起模型，用「水平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星期因子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趋势」三层分解，给区间比给点值更诚实。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" y="22288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23717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123950" y="2371725"/>
            <a:ext cx="5334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调价单次不超过</a:t>
            </a:r>
            <a:r>
              <a:rPr lang="en-US" sz="1350">
                <a:solidFill>
                  <a:srgbClr val="0C1222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123950" y="261937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成本加成算出来的价格往往卖不动；差额建议靠改配方或换供应商补，而不是一次涨到位。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685800" y="29146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85800" y="30575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123950" y="3057525"/>
            <a:ext cx="3838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采购建议未考虑起订量与在途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123950" y="3305175"/>
            <a:ext cx="3838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当前按近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天日均消耗外推，接入供应商报价单后再补这一层。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85800" y="36004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85800" y="37433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23950" y="3743325"/>
            <a:ext cx="4772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局域网</a:t>
            </a:r>
            <a:r>
              <a:rPr lang="en-US" sz="1350">
                <a:solidFill>
                  <a:srgbClr val="0C1222"/>
                </a:solidFill>
                <a:latin typeface="Microsoft YaHei"/>
                <a:ea typeface="Microsoft YaHei"/>
              </a:rPr>
              <a:t xml:space="preserve"> HTTP</a:t>
            </a: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，不直连公网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123950" y="3990975"/>
            <a:ext cx="477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面向店内使用；需要外网时前面加一层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HTTPS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反向代理，会员数据默认不出店。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685800" y="4381500"/>
            <a:ext cx="10820400" cy="438150"/>
          </a:xfrm>
          <a:custGeom>
            <a:pathLst>
              <a:path w="1136" h="46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85800" y="4581525"/>
            <a:ext cx="10820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知道自己不能做什么，才敢让你把</a:t>
            </a: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钱</a:t>
            </a: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交给它。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11 / 12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7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4C4DDC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85800" y="2000250"/>
            <a:ext cx="9144000" cy="1609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0C1222"/>
                </a:solidFill>
                <a:latin typeface="Microsoft YaHei"/>
                <a:ea typeface="Microsoft YaHei"/>
              </a:rPr>
              <a:t>让每个小店，</a:t>
            </a:r>
            <a:endParaRPr/>
          </a:p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0C1222"/>
                </a:solidFill>
                <a:latin typeface="Microsoft YaHei"/>
                <a:ea typeface="Microsoft YaHei"/>
              </a:rPr>
              <a:t>都有一个不用发工资的掌柜。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685800" y="38576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685800" y="4105275"/>
            <a:ext cx="10820400" cy="3524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可执行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可追溯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可撤销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断网可用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2876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掌柜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685800" y="5981700"/>
            <a:ext cx="2876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4C4DDC"/>
                </a:solidFill>
                <a:latin typeface="Microsoft YaHei"/>
                <a:ea typeface="Microsoft YaHei"/>
              </a:rPr>
              <a:t>github.com/wsj20011001/ai-zhanggui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876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管理端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admin / admin123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点餐端工号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1001 / 123456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386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附录</a:t>
            </a: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A ·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界面实拍（无美化）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3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这是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1920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宽屏下直接截的图，不是设计稿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685800" y="1524000"/>
            <a:ext cx="6724650" cy="44577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98" name=""/>
          <p:cNvPicPr>
            <a:picLocks noChangeAspect="1"/>
          </p:cNvPicPr>
          <p:nvPr/>
        </p:nvPicPr>
        <p:blipFill>
          <a:blip r:embed="rId1"/>
          <a:srcRect l="0" t="2979" r="0" b="2979"/>
          <a:stretch>
            <a:fillRect/>
          </a:stretch>
        </p:blipFill>
        <p:spPr>
          <a:xfrm rot="0" flipH="0" flipV="0">
            <a:off x="781050" y="1619250"/>
            <a:ext cx="6534150" cy="4267200"/>
          </a:xfrm>
          <a:prstGeom prst="roundRect">
            <a:avLst>
              <a:gd name="adj" fmla="val 1786"/>
            </a:avLst>
          </a:prstGeom>
          <a:ln/>
        </p:spPr>
      </p:pic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7658100" y="1562100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01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首屏只有三件事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7658100" y="1771650"/>
            <a:ext cx="38481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按影响金额排序，不是按模块罗列。老板看完就知道先干哪件。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7658100" y="22193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02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每条都带证据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658100" y="24288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灰底那行是指标、当前值、基线、阈值，机器可读，人也看得懂。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7658100" y="315277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03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右边是实时状态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658100" y="336232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模型通道（本地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云端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规则）、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天预测与回测误差、待处理动作。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7658100" y="40862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04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按钮就是动作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658100" y="42957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「生成采购单」「执行调价」都不是跳转，点完当场改数据，可撤销。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762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演示数据：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单（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seed_demo.py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生成）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11163300" y="61817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附录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A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2026-10-22T13:40:03Z</dcterms:created>
  <dcterms:modified xsi:type="dcterms:W3CDTF">2026-10-22T13:40:03Z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{"AIGC":{"Label":"1","ContentProducer":"00119111010856365494821B355","ProduceID":"01a157cfce967398988704bd72c4c958","ReservedCode1":"","ContentPropagator":"00119111010856365494821B355","PropagateID":"01a157cfce967398988704bd72c4c958","ReservedCode2":""}}</vt:lpwstr>
  </property>
</Properties>
</file>